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34D8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rgbClr val="343D4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34D8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343D4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121" y="882083"/>
            <a:ext cx="141577" cy="96074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5778" y="1055331"/>
            <a:ext cx="409002" cy="59849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9514" y="1055331"/>
            <a:ext cx="534849" cy="5827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51789" y="1008087"/>
            <a:ext cx="1321393" cy="83474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7682" y="1008087"/>
            <a:ext cx="4152949" cy="83474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22837" y="6063820"/>
            <a:ext cx="235963" cy="62999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79036" y="4740824"/>
            <a:ext cx="2752902" cy="233099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935373" y="4740824"/>
            <a:ext cx="2800094" cy="2362493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11137450" y="4425822"/>
            <a:ext cx="0" cy="3528060"/>
          </a:xfrm>
          <a:custGeom>
            <a:avLst/>
            <a:gdLst/>
            <a:ahLst/>
            <a:cxnLst/>
            <a:rect l="l" t="t" r="r" b="b"/>
            <a:pathLst>
              <a:path h="3528059">
                <a:moveTo>
                  <a:pt x="0" y="3527991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9191651" y="4709321"/>
            <a:ext cx="0" cy="3717290"/>
          </a:xfrm>
          <a:custGeom>
            <a:avLst/>
            <a:gdLst/>
            <a:ahLst/>
            <a:cxnLst/>
            <a:rect l="l" t="t" r="r" b="b"/>
            <a:pathLst>
              <a:path h="3717290">
                <a:moveTo>
                  <a:pt x="0" y="3716990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4031929" y="6851316"/>
            <a:ext cx="1919605" cy="0"/>
          </a:xfrm>
          <a:custGeom>
            <a:avLst/>
            <a:gdLst/>
            <a:ahLst/>
            <a:cxnLst/>
            <a:rect l="l" t="t" r="r" b="b"/>
            <a:pathLst>
              <a:path w="1919605">
                <a:moveTo>
                  <a:pt x="0" y="0"/>
                </a:moveTo>
                <a:lnTo>
                  <a:pt x="1919165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121719" y="7930188"/>
            <a:ext cx="7519670" cy="0"/>
          </a:xfrm>
          <a:custGeom>
            <a:avLst/>
            <a:gdLst/>
            <a:ahLst/>
            <a:cxnLst/>
            <a:rect l="l" t="t" r="r" b="b"/>
            <a:pathLst>
              <a:path w="7519669">
                <a:moveTo>
                  <a:pt x="0" y="0"/>
                </a:moveTo>
                <a:lnTo>
                  <a:pt x="7519352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5290398" y="8646812"/>
            <a:ext cx="3681095" cy="0"/>
          </a:xfrm>
          <a:custGeom>
            <a:avLst/>
            <a:gdLst/>
            <a:ahLst/>
            <a:cxnLst/>
            <a:rect l="l" t="t" r="r" b="b"/>
            <a:pathLst>
              <a:path w="3681094">
                <a:moveTo>
                  <a:pt x="0" y="0"/>
                </a:moveTo>
                <a:lnTo>
                  <a:pt x="3681021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34D8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34D8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8121" y="882083"/>
            <a:ext cx="141577" cy="9607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44586" y="1058385"/>
            <a:ext cx="12614926" cy="706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34D8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82288" y="5005296"/>
            <a:ext cx="8433435" cy="3202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rgbClr val="343D4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13" Type="http://schemas.openxmlformats.org/officeDocument/2006/relationships/image" Target="../media/image21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12" Type="http://schemas.openxmlformats.org/officeDocument/2006/relationships/image" Target="../media/image20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11" Type="http://schemas.openxmlformats.org/officeDocument/2006/relationships/image" Target="../media/image19.jpg"/><Relationship Id="rId5" Type="http://schemas.openxmlformats.org/officeDocument/2006/relationships/image" Target="../media/image13.jpg"/><Relationship Id="rId15" Type="http://schemas.openxmlformats.org/officeDocument/2006/relationships/image" Target="../media/image9.png"/><Relationship Id="rId10" Type="http://schemas.openxmlformats.org/officeDocument/2006/relationships/image" Target="../media/image18.jpg"/><Relationship Id="rId4" Type="http://schemas.openxmlformats.org/officeDocument/2006/relationships/image" Target="../media/image12.jpg"/><Relationship Id="rId9" Type="http://schemas.openxmlformats.org/officeDocument/2006/relationships/image" Target="../media/image17.jpg"/><Relationship Id="rId14" Type="http://schemas.openxmlformats.org/officeDocument/2006/relationships/image" Target="../media/image2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11" Type="http://schemas.openxmlformats.org/officeDocument/2006/relationships/image" Target="../media/image32.png"/><Relationship Id="rId5" Type="http://schemas.openxmlformats.org/officeDocument/2006/relationships/image" Target="../media/image26.jpg"/><Relationship Id="rId10" Type="http://schemas.openxmlformats.org/officeDocument/2006/relationships/image" Target="../media/image31.png"/><Relationship Id="rId4" Type="http://schemas.openxmlformats.org/officeDocument/2006/relationships/image" Target="../media/image25.jpg"/><Relationship Id="rId9" Type="http://schemas.openxmlformats.org/officeDocument/2006/relationships/image" Target="../media/image30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g"/><Relationship Id="rId7" Type="http://schemas.openxmlformats.org/officeDocument/2006/relationships/image" Target="../media/image3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jpg"/><Relationship Id="rId11" Type="http://schemas.openxmlformats.org/officeDocument/2006/relationships/image" Target="../media/image41.png"/><Relationship Id="rId5" Type="http://schemas.openxmlformats.org/officeDocument/2006/relationships/image" Target="../media/image35.jpg"/><Relationship Id="rId10" Type="http://schemas.openxmlformats.org/officeDocument/2006/relationships/image" Target="../media/image40.jpg"/><Relationship Id="rId4" Type="http://schemas.openxmlformats.org/officeDocument/2006/relationships/image" Target="../media/image34.jpg"/><Relationship Id="rId9" Type="http://schemas.openxmlformats.org/officeDocument/2006/relationships/image" Target="../media/image3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g"/><Relationship Id="rId13" Type="http://schemas.openxmlformats.org/officeDocument/2006/relationships/image" Target="../media/image58.png"/><Relationship Id="rId3" Type="http://schemas.openxmlformats.org/officeDocument/2006/relationships/image" Target="../media/image48.jpg"/><Relationship Id="rId7" Type="http://schemas.openxmlformats.org/officeDocument/2006/relationships/image" Target="../media/image52.png"/><Relationship Id="rId12" Type="http://schemas.openxmlformats.org/officeDocument/2006/relationships/image" Target="../media/image57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11" Type="http://schemas.openxmlformats.org/officeDocument/2006/relationships/image" Target="../media/image56.png"/><Relationship Id="rId5" Type="http://schemas.openxmlformats.org/officeDocument/2006/relationships/image" Target="../media/image50.jpg"/><Relationship Id="rId10" Type="http://schemas.openxmlformats.org/officeDocument/2006/relationships/image" Target="../media/image55.jpg"/><Relationship Id="rId4" Type="http://schemas.openxmlformats.org/officeDocument/2006/relationships/image" Target="../media/image49.jpg"/><Relationship Id="rId9" Type="http://schemas.openxmlformats.org/officeDocument/2006/relationships/image" Target="../media/image54.jpg"/><Relationship Id="rId14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g"/><Relationship Id="rId13" Type="http://schemas.openxmlformats.org/officeDocument/2006/relationships/image" Target="../media/image70.jpg"/><Relationship Id="rId3" Type="http://schemas.openxmlformats.org/officeDocument/2006/relationships/image" Target="../media/image61.jpg"/><Relationship Id="rId7" Type="http://schemas.openxmlformats.org/officeDocument/2006/relationships/image" Target="../media/image64.jpg"/><Relationship Id="rId12" Type="http://schemas.openxmlformats.org/officeDocument/2006/relationships/image" Target="../media/image69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jpg"/><Relationship Id="rId11" Type="http://schemas.openxmlformats.org/officeDocument/2006/relationships/image" Target="../media/image68.jpg"/><Relationship Id="rId5" Type="http://schemas.openxmlformats.org/officeDocument/2006/relationships/image" Target="../media/image5.jpg"/><Relationship Id="rId15" Type="http://schemas.openxmlformats.org/officeDocument/2006/relationships/image" Target="../media/image72.png"/><Relationship Id="rId10" Type="http://schemas.openxmlformats.org/officeDocument/2006/relationships/image" Target="../media/image67.jpg"/><Relationship Id="rId4" Type="http://schemas.openxmlformats.org/officeDocument/2006/relationships/image" Target="../media/image62.jpg"/><Relationship Id="rId9" Type="http://schemas.openxmlformats.org/officeDocument/2006/relationships/image" Target="../media/image66.jpg"/><Relationship Id="rId14" Type="http://schemas.openxmlformats.org/officeDocument/2006/relationships/image" Target="../media/image7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7" Type="http://schemas.openxmlformats.org/officeDocument/2006/relationships/image" Target="../media/image32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jpg"/><Relationship Id="rId5" Type="http://schemas.openxmlformats.org/officeDocument/2006/relationships/image" Target="../media/image76.jpg"/><Relationship Id="rId4" Type="http://schemas.openxmlformats.org/officeDocument/2006/relationships/image" Target="../media/image75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jpg"/><Relationship Id="rId3" Type="http://schemas.openxmlformats.org/officeDocument/2006/relationships/image" Target="../media/image79.jpg"/><Relationship Id="rId7" Type="http://schemas.openxmlformats.org/officeDocument/2006/relationships/image" Target="../media/image83.jp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jpg"/><Relationship Id="rId11" Type="http://schemas.openxmlformats.org/officeDocument/2006/relationships/image" Target="../media/image87.png"/><Relationship Id="rId5" Type="http://schemas.openxmlformats.org/officeDocument/2006/relationships/image" Target="../media/image81.jpg"/><Relationship Id="rId10" Type="http://schemas.openxmlformats.org/officeDocument/2006/relationships/image" Target="../media/image86.jpg"/><Relationship Id="rId4" Type="http://schemas.openxmlformats.org/officeDocument/2006/relationships/image" Target="../media/image80.jpg"/><Relationship Id="rId9" Type="http://schemas.openxmlformats.org/officeDocument/2006/relationships/image" Target="../media/image8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jpg"/><Relationship Id="rId13" Type="http://schemas.openxmlformats.org/officeDocument/2006/relationships/hyperlink" Target="https://towardsdatascience.com/wp-content/uploads/2023/0l/1D_mNRM5RfQUqBXZTMrgjEA.png" TargetMode="External"/><Relationship Id="rId3" Type="http://schemas.openxmlformats.org/officeDocument/2006/relationships/image" Target="../media/image94.jpg"/><Relationship Id="rId7" Type="http://schemas.openxmlformats.org/officeDocument/2006/relationships/image" Target="../media/image98.jpg"/><Relationship Id="rId12" Type="http://schemas.openxmlformats.org/officeDocument/2006/relationships/image" Target="../media/image103.png"/><Relationship Id="rId17" Type="http://schemas.openxmlformats.org/officeDocument/2006/relationships/hyperlink" Target="http://www.geeksforgeeks.org/" TargetMode="External"/><Relationship Id="rId2" Type="http://schemas.openxmlformats.org/officeDocument/2006/relationships/image" Target="../media/image93.jpg"/><Relationship Id="rId16" Type="http://schemas.openxmlformats.org/officeDocument/2006/relationships/hyperlink" Target="https://media.geeksforgeeks.org/wp-content/uploads/20251209150317698595/model_complexity.web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jpg"/><Relationship Id="rId11" Type="http://schemas.openxmlformats.org/officeDocument/2006/relationships/image" Target="../media/image102.jpg"/><Relationship Id="rId5" Type="http://schemas.openxmlformats.org/officeDocument/2006/relationships/image" Target="../media/image96.png"/><Relationship Id="rId15" Type="http://schemas.openxmlformats.org/officeDocument/2006/relationships/hyperlink" Target="https://miro.medium.com/1" TargetMode="External"/><Relationship Id="rId10" Type="http://schemas.openxmlformats.org/officeDocument/2006/relationships/image" Target="../media/image101.jpg"/><Relationship Id="rId4" Type="http://schemas.openxmlformats.org/officeDocument/2006/relationships/image" Target="../media/image95.jpg"/><Relationship Id="rId9" Type="http://schemas.openxmlformats.org/officeDocument/2006/relationships/image" Target="../media/image100.jpg"/><Relationship Id="rId14" Type="http://schemas.openxmlformats.org/officeDocument/2006/relationships/hyperlink" Target="https://funnel.io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2390" y="2961082"/>
            <a:ext cx="3083250" cy="10552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8564" y="3276081"/>
            <a:ext cx="1415778" cy="7402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2996" y="3276081"/>
            <a:ext cx="613503" cy="7402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2390" y="4347074"/>
            <a:ext cx="5143994" cy="13544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45154" y="2961082"/>
            <a:ext cx="723619" cy="10552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50769" y="4662074"/>
            <a:ext cx="566311" cy="7402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30584" y="3055579"/>
            <a:ext cx="755081" cy="94499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48592" y="3276081"/>
            <a:ext cx="1179815" cy="7402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94621" y="4425824"/>
            <a:ext cx="2280975" cy="127574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07061" y="2961082"/>
            <a:ext cx="1761857" cy="105524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85710" y="4662074"/>
            <a:ext cx="692158" cy="74024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231838" y="3102832"/>
            <a:ext cx="2265245" cy="91349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240792" y="4488824"/>
            <a:ext cx="1038237" cy="91349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943851" y="6268568"/>
            <a:ext cx="18247995" cy="0"/>
          </a:xfrm>
          <a:custGeom>
            <a:avLst/>
            <a:gdLst/>
            <a:ahLst/>
            <a:cxnLst/>
            <a:rect l="l" t="t" r="r" b="b"/>
            <a:pathLst>
              <a:path w="18247995">
                <a:moveTo>
                  <a:pt x="0" y="0"/>
                </a:moveTo>
                <a:lnTo>
                  <a:pt x="18247800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15189" y="2015196"/>
            <a:ext cx="6223635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365885" algn="l"/>
                <a:tab pos="4377690" algn="l"/>
              </a:tabLst>
            </a:pPr>
            <a:r>
              <a:rPr sz="2550" b="1" spc="345" dirty="0">
                <a:solidFill>
                  <a:srgbClr val="11C69A"/>
                </a:solidFill>
                <a:latin typeface="Arial"/>
                <a:cs typeface="Arial"/>
              </a:rPr>
              <a:t>FINAL</a:t>
            </a:r>
            <a:r>
              <a:rPr sz="2550" b="1" dirty="0">
                <a:solidFill>
                  <a:srgbClr val="11C69A"/>
                </a:solidFill>
                <a:latin typeface="Arial"/>
                <a:cs typeface="Arial"/>
              </a:rPr>
              <a:t>	</a:t>
            </a:r>
            <a:r>
              <a:rPr sz="2550" b="1" spc="285" dirty="0">
                <a:solidFill>
                  <a:srgbClr val="11C69A"/>
                </a:solidFill>
                <a:latin typeface="Arial"/>
                <a:cs typeface="Arial"/>
              </a:rPr>
              <a:t>COURSEWORK</a:t>
            </a:r>
            <a:r>
              <a:rPr sz="2550" b="1" dirty="0">
                <a:solidFill>
                  <a:srgbClr val="11C69A"/>
                </a:solidFill>
                <a:latin typeface="Arial"/>
                <a:cs typeface="Arial"/>
              </a:rPr>
              <a:t>	</a:t>
            </a:r>
            <a:r>
              <a:rPr sz="2550" b="1" spc="325" dirty="0">
                <a:solidFill>
                  <a:srgbClr val="11C69A"/>
                </a:solidFill>
                <a:latin typeface="Arial"/>
                <a:cs typeface="Arial"/>
              </a:rPr>
              <a:t>PROJECT</a:t>
            </a:r>
            <a:endParaRPr sz="25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93414" y="4113876"/>
            <a:ext cx="26162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229" dirty="0">
                <a:solidFill>
                  <a:srgbClr val="034F80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13816" y="2727881"/>
            <a:ext cx="1834514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585595" algn="l"/>
              </a:tabLst>
            </a:pPr>
            <a:r>
              <a:rPr sz="4450" spc="229" dirty="0">
                <a:solidFill>
                  <a:srgbClr val="11C69A"/>
                </a:solidFill>
                <a:latin typeface="Arial"/>
                <a:cs typeface="Arial"/>
              </a:rPr>
              <a:t>•</a:t>
            </a:r>
            <a:r>
              <a:rPr sz="4450" dirty="0">
                <a:solidFill>
                  <a:srgbClr val="11C69A"/>
                </a:solidFill>
                <a:latin typeface="Arial"/>
                <a:cs typeface="Arial"/>
              </a:rPr>
              <a:t>	</a:t>
            </a:r>
            <a:r>
              <a:rPr sz="4450" spc="229" dirty="0">
                <a:solidFill>
                  <a:srgbClr val="11C69A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0470" y="7015805"/>
            <a:ext cx="8293379" cy="24788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30"/>
              </a:spcBef>
            </a:pPr>
            <a:r>
              <a:rPr sz="2850" b="1" spc="120" dirty="0">
                <a:solidFill>
                  <a:srgbClr val="333F4F"/>
                </a:solidFill>
                <a:latin typeface="Arial"/>
                <a:cs typeface="Arial"/>
              </a:rPr>
              <a:t>Name:</a:t>
            </a:r>
            <a:r>
              <a:rPr sz="2850" b="1" spc="-135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lang="en-US" sz="2850" spc="-135" dirty="0">
                <a:solidFill>
                  <a:srgbClr val="333F4F"/>
                </a:solidFill>
                <a:latin typeface="Arial"/>
                <a:cs typeface="Arial"/>
              </a:rPr>
              <a:t>SRESHTHA CHATTERJEE</a:t>
            </a:r>
            <a:endParaRPr sz="28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850" dirty="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</a:pPr>
            <a:r>
              <a:rPr sz="2850" b="1" spc="145" dirty="0">
                <a:solidFill>
                  <a:srgbClr val="333F4F"/>
                </a:solidFill>
                <a:latin typeface="Arial"/>
                <a:cs typeface="Arial"/>
              </a:rPr>
              <a:t>Subject</a:t>
            </a:r>
            <a:r>
              <a:rPr sz="2850" b="1" spc="6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850" b="1" spc="95" dirty="0">
                <a:solidFill>
                  <a:srgbClr val="333F4F"/>
                </a:solidFill>
                <a:latin typeface="Arial"/>
                <a:cs typeface="Arial"/>
              </a:rPr>
              <a:t>Code:</a:t>
            </a:r>
            <a:r>
              <a:rPr sz="2850" b="1" spc="-13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lang="en-US" sz="2850" spc="150" dirty="0">
                <a:solidFill>
                  <a:srgbClr val="333F4F"/>
                </a:solidFill>
                <a:latin typeface="Arial"/>
                <a:cs typeface="Arial"/>
              </a:rPr>
              <a:t>MDTS4214</a:t>
            </a:r>
            <a:endParaRPr sz="28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8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50" b="1" spc="-35" dirty="0">
                <a:solidFill>
                  <a:srgbClr val="333F4F"/>
                </a:solidFill>
                <a:latin typeface="Arial"/>
                <a:cs typeface="Arial"/>
              </a:rPr>
              <a:t>Roll</a:t>
            </a:r>
            <a:r>
              <a:rPr sz="2850" b="1" spc="-12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850" b="1" spc="114" dirty="0">
                <a:solidFill>
                  <a:srgbClr val="333F4F"/>
                </a:solidFill>
                <a:latin typeface="Arial"/>
                <a:cs typeface="Arial"/>
              </a:rPr>
              <a:t>Number:</a:t>
            </a:r>
            <a:r>
              <a:rPr sz="2850" b="1" spc="-10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lang="en-US" sz="2850" spc="-25" dirty="0">
                <a:solidFill>
                  <a:srgbClr val="333F4F"/>
                </a:solidFill>
                <a:latin typeface="Arial"/>
                <a:cs typeface="Arial"/>
              </a:rPr>
              <a:t>724</a:t>
            </a:r>
            <a:endParaRPr sz="2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55331"/>
            <a:ext cx="1714664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3482" y="1008087"/>
            <a:ext cx="4687799" cy="645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95781" y="1055331"/>
            <a:ext cx="550580" cy="598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50863" y="1055331"/>
            <a:ext cx="1588817" cy="598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22837" y="4788074"/>
            <a:ext cx="3523714" cy="519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22837" y="7213566"/>
            <a:ext cx="3523714" cy="5512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391563" y="4599075"/>
            <a:ext cx="1510163" cy="519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249986" y="5937820"/>
            <a:ext cx="456195" cy="8347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067995" y="7024568"/>
            <a:ext cx="141577" cy="75599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854294" y="6126818"/>
            <a:ext cx="0" cy="283845"/>
          </a:xfrm>
          <a:custGeom>
            <a:avLst/>
            <a:gdLst/>
            <a:ahLst/>
            <a:cxnLst/>
            <a:rect l="l" t="t" r="r" b="b"/>
            <a:pathLst>
              <a:path h="283845">
                <a:moveTo>
                  <a:pt x="0" y="28349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136359" y="6000818"/>
            <a:ext cx="0" cy="535940"/>
          </a:xfrm>
          <a:custGeom>
            <a:avLst/>
            <a:gdLst/>
            <a:ahLst/>
            <a:cxnLst/>
            <a:rect l="l" t="t" r="r" b="b"/>
            <a:pathLst>
              <a:path h="535940">
                <a:moveTo>
                  <a:pt x="0" y="53549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576824" y="5985068"/>
            <a:ext cx="0" cy="551815"/>
          </a:xfrm>
          <a:custGeom>
            <a:avLst/>
            <a:gdLst/>
            <a:ahLst/>
            <a:cxnLst/>
            <a:rect l="l" t="t" r="r" b="b"/>
            <a:pathLst>
              <a:path h="551815">
                <a:moveTo>
                  <a:pt x="0" y="551248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25153" y="6000818"/>
            <a:ext cx="0" cy="535940"/>
          </a:xfrm>
          <a:custGeom>
            <a:avLst/>
            <a:gdLst/>
            <a:ahLst/>
            <a:cxnLst/>
            <a:rect l="l" t="t" r="r" b="b"/>
            <a:pathLst>
              <a:path h="535940">
                <a:moveTo>
                  <a:pt x="0" y="53549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307219" y="6126818"/>
            <a:ext cx="0" cy="283845"/>
          </a:xfrm>
          <a:custGeom>
            <a:avLst/>
            <a:gdLst/>
            <a:ahLst/>
            <a:cxnLst/>
            <a:rect l="l" t="t" r="r" b="b"/>
            <a:pathLst>
              <a:path h="283845">
                <a:moveTo>
                  <a:pt x="0" y="28349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84829" y="5811819"/>
            <a:ext cx="0" cy="960755"/>
          </a:xfrm>
          <a:custGeom>
            <a:avLst/>
            <a:gdLst/>
            <a:ahLst/>
            <a:cxnLst/>
            <a:rect l="l" t="t" r="r" b="b"/>
            <a:pathLst>
              <a:path h="960754">
                <a:moveTo>
                  <a:pt x="0" y="96074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500584" y="5811819"/>
            <a:ext cx="0" cy="960755"/>
          </a:xfrm>
          <a:custGeom>
            <a:avLst/>
            <a:gdLst/>
            <a:ahLst/>
            <a:cxnLst/>
            <a:rect l="l" t="t" r="r" b="b"/>
            <a:pathLst>
              <a:path h="960754">
                <a:moveTo>
                  <a:pt x="0" y="960747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602834" y="5811819"/>
            <a:ext cx="0" cy="819150"/>
          </a:xfrm>
          <a:custGeom>
            <a:avLst/>
            <a:gdLst/>
            <a:ahLst/>
            <a:cxnLst/>
            <a:rect l="l" t="t" r="r" b="b"/>
            <a:pathLst>
              <a:path h="819150">
                <a:moveTo>
                  <a:pt x="0" y="818997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191651" y="4898321"/>
            <a:ext cx="0" cy="3323590"/>
          </a:xfrm>
          <a:custGeom>
            <a:avLst/>
            <a:gdLst/>
            <a:ahLst/>
            <a:cxnLst/>
            <a:rect l="l" t="t" r="r" b="b"/>
            <a:pathLst>
              <a:path h="3323590">
                <a:moveTo>
                  <a:pt x="0" y="3323241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112763" y="6008693"/>
            <a:ext cx="944244" cy="0"/>
          </a:xfrm>
          <a:custGeom>
            <a:avLst/>
            <a:gdLst/>
            <a:ahLst/>
            <a:cxnLst/>
            <a:rect l="l" t="t" r="r" b="b"/>
            <a:pathLst>
              <a:path w="944244">
                <a:moveTo>
                  <a:pt x="0" y="0"/>
                </a:moveTo>
                <a:lnTo>
                  <a:pt x="943851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009422" y="6260693"/>
            <a:ext cx="1321435" cy="0"/>
          </a:xfrm>
          <a:custGeom>
            <a:avLst/>
            <a:gdLst/>
            <a:ahLst/>
            <a:cxnLst/>
            <a:rect l="l" t="t" r="r" b="b"/>
            <a:pathLst>
              <a:path w="1321434">
                <a:moveTo>
                  <a:pt x="0" y="0"/>
                </a:moveTo>
                <a:lnTo>
                  <a:pt x="1321392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838564" y="6260693"/>
            <a:ext cx="1321435" cy="0"/>
          </a:xfrm>
          <a:custGeom>
            <a:avLst/>
            <a:gdLst/>
            <a:ahLst/>
            <a:cxnLst/>
            <a:rect l="l" t="t" r="r" b="b"/>
            <a:pathLst>
              <a:path w="1321434">
                <a:moveTo>
                  <a:pt x="0" y="0"/>
                </a:moveTo>
                <a:lnTo>
                  <a:pt x="1321392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112763" y="6512692"/>
            <a:ext cx="928369" cy="0"/>
          </a:xfrm>
          <a:custGeom>
            <a:avLst/>
            <a:gdLst/>
            <a:ahLst/>
            <a:cxnLst/>
            <a:rect l="l" t="t" r="r" b="b"/>
            <a:pathLst>
              <a:path w="928369">
                <a:moveTo>
                  <a:pt x="0" y="0"/>
                </a:moveTo>
                <a:lnTo>
                  <a:pt x="928120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966825" y="6693816"/>
            <a:ext cx="283210" cy="0"/>
          </a:xfrm>
          <a:custGeom>
            <a:avLst/>
            <a:gdLst/>
            <a:ahLst/>
            <a:cxnLst/>
            <a:rect l="l" t="t" r="r" b="b"/>
            <a:pathLst>
              <a:path w="283209">
                <a:moveTo>
                  <a:pt x="0" y="0"/>
                </a:moveTo>
                <a:lnTo>
                  <a:pt x="283155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416245" y="8426312"/>
            <a:ext cx="3524250" cy="0"/>
          </a:xfrm>
          <a:custGeom>
            <a:avLst/>
            <a:gdLst/>
            <a:ahLst/>
            <a:cxnLst/>
            <a:rect l="l" t="t" r="r" b="b"/>
            <a:pathLst>
              <a:path w="3524250">
                <a:moveTo>
                  <a:pt x="0" y="0"/>
                </a:moveTo>
                <a:lnTo>
                  <a:pt x="352371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937255" y="3137378"/>
            <a:ext cx="491871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0" spc="75" dirty="0">
                <a:solidFill>
                  <a:srgbClr val="054D7E"/>
                </a:solidFill>
                <a:latin typeface="Times New Roman"/>
                <a:cs typeface="Times New Roman"/>
              </a:rPr>
              <a:t>Refining</a:t>
            </a:r>
            <a:r>
              <a:rPr b="0" spc="40" dirty="0">
                <a:solidFill>
                  <a:srgbClr val="054D7E"/>
                </a:solidFill>
                <a:latin typeface="Times New Roman"/>
                <a:cs typeface="Times New Roman"/>
              </a:rPr>
              <a:t> </a:t>
            </a:r>
            <a:r>
              <a:rPr b="0" spc="65" dirty="0">
                <a:solidFill>
                  <a:srgbClr val="054D7E"/>
                </a:solidFill>
                <a:latin typeface="Times New Roman"/>
                <a:cs typeface="Times New Roman"/>
              </a:rPr>
              <a:t>the</a:t>
            </a:r>
            <a:r>
              <a:rPr b="0" spc="530" dirty="0">
                <a:solidFill>
                  <a:srgbClr val="054D7E"/>
                </a:solidFill>
                <a:latin typeface="Times New Roman"/>
                <a:cs typeface="Times New Roman"/>
              </a:rPr>
              <a:t> </a:t>
            </a:r>
            <a:r>
              <a:rPr b="0" spc="60" dirty="0">
                <a:solidFill>
                  <a:srgbClr val="054D7E"/>
                </a:solidFill>
                <a:latin typeface="Times New Roman"/>
                <a:cs typeface="Times New Roman"/>
              </a:rPr>
              <a:t>Dataset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22480" y="4102064"/>
            <a:ext cx="8684895" cy="112839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600" spc="85" dirty="0">
                <a:solidFill>
                  <a:srgbClr val="343F49"/>
                </a:solidFill>
                <a:latin typeface="Arial"/>
                <a:cs typeface="Arial"/>
              </a:rPr>
              <a:t>Before</a:t>
            </a:r>
            <a:r>
              <a:rPr sz="2600" spc="130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05" dirty="0">
                <a:solidFill>
                  <a:srgbClr val="343F49"/>
                </a:solidFill>
                <a:latin typeface="Arial"/>
                <a:cs typeface="Arial"/>
              </a:rPr>
              <a:t>modeling,</a:t>
            </a:r>
            <a:r>
              <a:rPr sz="2600" spc="90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30" dirty="0">
                <a:solidFill>
                  <a:srgbClr val="343F49"/>
                </a:solidFill>
                <a:latin typeface="Arial"/>
                <a:cs typeface="Arial"/>
              </a:rPr>
              <a:t>we</a:t>
            </a:r>
            <a:r>
              <a:rPr sz="2600" spc="40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75" dirty="0">
                <a:solidFill>
                  <a:srgbClr val="343F49"/>
                </a:solidFill>
                <a:latin typeface="Arial"/>
                <a:cs typeface="Arial"/>
              </a:rPr>
              <a:t>prepared</a:t>
            </a:r>
            <a:r>
              <a:rPr sz="2600" spc="10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00" dirty="0">
                <a:solidFill>
                  <a:srgbClr val="343F49"/>
                </a:solidFill>
                <a:latin typeface="Arial"/>
                <a:cs typeface="Arial"/>
              </a:rPr>
              <a:t>our</a:t>
            </a:r>
            <a:r>
              <a:rPr sz="2600" spc="170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45" dirty="0">
                <a:solidFill>
                  <a:srgbClr val="343F49"/>
                </a:solidFill>
                <a:latin typeface="Arial"/>
                <a:cs typeface="Arial"/>
              </a:rPr>
              <a:t>data</a:t>
            </a:r>
            <a:r>
              <a:rPr sz="2600" spc="80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65" dirty="0">
                <a:solidFill>
                  <a:srgbClr val="343F49"/>
                </a:solidFill>
                <a:latin typeface="Arial"/>
                <a:cs typeface="Arial"/>
              </a:rPr>
              <a:t>by</a:t>
            </a:r>
            <a:r>
              <a:rPr sz="2600" spc="10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40" dirty="0">
                <a:solidFill>
                  <a:srgbClr val="343F49"/>
                </a:solidFill>
                <a:latin typeface="Arial"/>
                <a:cs typeface="Arial"/>
              </a:rPr>
              <a:t>converting</a:t>
            </a:r>
            <a:endParaRPr sz="26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1225"/>
              </a:spcBef>
              <a:tabLst>
                <a:tab pos="2877820" algn="l"/>
              </a:tabLst>
            </a:pPr>
            <a:r>
              <a:rPr sz="2600" b="1" spc="55" dirty="0">
                <a:solidFill>
                  <a:srgbClr val="13C699"/>
                </a:solidFill>
                <a:latin typeface="Arial"/>
                <a:cs typeface="Arial"/>
              </a:rPr>
              <a:t>Total</a:t>
            </a:r>
            <a:r>
              <a:rPr sz="2600" b="1" spc="-70" dirty="0">
                <a:solidFill>
                  <a:srgbClr val="13C699"/>
                </a:solidFill>
                <a:latin typeface="Arial"/>
                <a:cs typeface="Arial"/>
              </a:rPr>
              <a:t> </a:t>
            </a:r>
            <a:r>
              <a:rPr sz="2600" b="1" spc="85" dirty="0">
                <a:solidFill>
                  <a:srgbClr val="13C699"/>
                </a:solidFill>
                <a:latin typeface="Arial"/>
                <a:cs typeface="Arial"/>
              </a:rPr>
              <a:t>Charges</a:t>
            </a:r>
            <a:r>
              <a:rPr sz="2600" b="1" spc="140" dirty="0">
                <a:solidFill>
                  <a:srgbClr val="13C699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srgbClr val="343F49"/>
                </a:solidFill>
                <a:latin typeface="Arial"/>
                <a:cs typeface="Arial"/>
              </a:rPr>
              <a:t>to</a:t>
            </a:r>
            <a:r>
              <a:rPr sz="2600" dirty="0">
                <a:solidFill>
                  <a:srgbClr val="343F49"/>
                </a:solidFill>
                <a:latin typeface="Arial"/>
                <a:cs typeface="Arial"/>
              </a:rPr>
              <a:t>	</a:t>
            </a:r>
            <a:r>
              <a:rPr sz="2600" spc="145" dirty="0">
                <a:solidFill>
                  <a:srgbClr val="343F49"/>
                </a:solidFill>
                <a:latin typeface="Arial"/>
                <a:cs typeface="Arial"/>
              </a:rPr>
              <a:t>numeric</a:t>
            </a:r>
            <a:r>
              <a:rPr sz="2600" spc="27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55" dirty="0">
                <a:solidFill>
                  <a:srgbClr val="343F49"/>
                </a:solidFill>
                <a:latin typeface="Arial"/>
                <a:cs typeface="Arial"/>
              </a:rPr>
              <a:t>and</a:t>
            </a:r>
            <a:r>
              <a:rPr sz="2600" spc="1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40" dirty="0">
                <a:solidFill>
                  <a:srgbClr val="343F49"/>
                </a:solidFill>
                <a:latin typeface="Arial"/>
                <a:cs typeface="Arial"/>
              </a:rPr>
              <a:t>removing</a:t>
            </a:r>
            <a:r>
              <a:rPr sz="2600" spc="-10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245" dirty="0">
                <a:solidFill>
                  <a:srgbClr val="343F49"/>
                </a:solidFill>
                <a:latin typeface="Arial"/>
                <a:cs typeface="Arial"/>
              </a:rPr>
              <a:t>empty</a:t>
            </a:r>
            <a:endParaRPr sz="2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5154" y="5346310"/>
            <a:ext cx="3890010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160" dirty="0">
                <a:solidFill>
                  <a:srgbClr val="343F49"/>
                </a:solidFill>
                <a:latin typeface="Arial"/>
                <a:cs typeface="Arial"/>
              </a:rPr>
              <a:t>records</a:t>
            </a:r>
            <a:r>
              <a:rPr sz="2600" spc="114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20" dirty="0">
                <a:solidFill>
                  <a:srgbClr val="343F49"/>
                </a:solidFill>
                <a:latin typeface="Arial"/>
                <a:cs typeface="Arial"/>
              </a:rPr>
              <a:t>using</a:t>
            </a:r>
            <a:r>
              <a:rPr sz="2600" spc="-14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srgbClr val="343F49"/>
                </a:solidFill>
                <a:latin typeface="Arial"/>
                <a:cs typeface="Arial"/>
              </a:rPr>
              <a:t>na.</a:t>
            </a:r>
            <a:r>
              <a:rPr sz="2600" spc="-41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srgbClr val="343F49"/>
                </a:solidFill>
                <a:latin typeface="Arial"/>
                <a:cs typeface="Arial"/>
              </a:rPr>
              <a:t>omit</a:t>
            </a:r>
            <a:r>
              <a:rPr sz="2600" spc="-370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343F49"/>
                </a:solidFill>
                <a:latin typeface="Arial"/>
                <a:cs typeface="Arial"/>
              </a:rPr>
              <a:t>().</a:t>
            </a:r>
            <a:endParaRPr sz="2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30345" y="6259807"/>
            <a:ext cx="7451725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solidFill>
                  <a:srgbClr val="343F49"/>
                </a:solidFill>
                <a:latin typeface="Arial"/>
                <a:cs typeface="Arial"/>
              </a:rPr>
              <a:t>Key</a:t>
            </a:r>
            <a:r>
              <a:rPr sz="2600" spc="12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20" dirty="0">
                <a:solidFill>
                  <a:srgbClr val="343F49"/>
                </a:solidFill>
                <a:latin typeface="Arial"/>
                <a:cs typeface="Arial"/>
              </a:rPr>
              <a:t>observations</a:t>
            </a:r>
            <a:r>
              <a:rPr sz="2600" spc="18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80" dirty="0">
                <a:solidFill>
                  <a:srgbClr val="343F49"/>
                </a:solidFill>
                <a:latin typeface="Arial"/>
                <a:cs typeface="Arial"/>
              </a:rPr>
              <a:t>from</a:t>
            </a:r>
            <a:r>
              <a:rPr sz="2600" spc="9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00" dirty="0">
                <a:solidFill>
                  <a:srgbClr val="343F49"/>
                </a:solidFill>
                <a:latin typeface="Arial"/>
                <a:cs typeface="Arial"/>
              </a:rPr>
              <a:t>our</a:t>
            </a:r>
            <a:r>
              <a:rPr sz="2600" spc="90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05" dirty="0">
                <a:solidFill>
                  <a:srgbClr val="343F49"/>
                </a:solidFill>
                <a:latin typeface="Arial"/>
                <a:cs typeface="Arial"/>
              </a:rPr>
              <a:t>initial</a:t>
            </a:r>
            <a:r>
              <a:rPr sz="2600" spc="100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40" dirty="0">
                <a:solidFill>
                  <a:srgbClr val="343F49"/>
                </a:solidFill>
                <a:latin typeface="Arial"/>
                <a:cs typeface="Arial"/>
              </a:rPr>
              <a:t>distributions:</a:t>
            </a:r>
            <a:endParaRPr sz="2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04456" y="7181180"/>
            <a:ext cx="6452870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35"/>
              </a:spcBef>
              <a:buChar char="•"/>
              <a:tabLst>
                <a:tab pos="367030" algn="l"/>
              </a:tabLst>
            </a:pPr>
            <a:r>
              <a:rPr sz="2600" spc="165" dirty="0">
                <a:solidFill>
                  <a:srgbClr val="343F49"/>
                </a:solidFill>
                <a:latin typeface="Arial"/>
                <a:cs typeface="Arial"/>
              </a:rPr>
              <a:t>Monthly</a:t>
            </a:r>
            <a:r>
              <a:rPr sz="2600" spc="12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343F49"/>
                </a:solidFill>
                <a:latin typeface="Arial"/>
                <a:cs typeface="Arial"/>
              </a:rPr>
              <a:t>Charges</a:t>
            </a:r>
            <a:r>
              <a:rPr sz="2600" spc="21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14" dirty="0">
                <a:solidFill>
                  <a:srgbClr val="343F49"/>
                </a:solidFill>
                <a:latin typeface="Arial"/>
                <a:cs typeface="Arial"/>
              </a:rPr>
              <a:t>show</a:t>
            </a:r>
            <a:r>
              <a:rPr sz="2600" spc="204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43F49"/>
                </a:solidFill>
                <a:latin typeface="Arial"/>
                <a:cs typeface="Arial"/>
              </a:rPr>
              <a:t>a</a:t>
            </a:r>
            <a:r>
              <a:rPr sz="2600" spc="-3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70" dirty="0">
                <a:solidFill>
                  <a:srgbClr val="343F49"/>
                </a:solidFill>
                <a:latin typeface="Arial"/>
                <a:cs typeface="Arial"/>
              </a:rPr>
              <a:t>multi-</a:t>
            </a:r>
            <a:r>
              <a:rPr sz="2600" spc="225" dirty="0">
                <a:solidFill>
                  <a:srgbClr val="343F49"/>
                </a:solidFill>
                <a:latin typeface="Arial"/>
                <a:cs typeface="Arial"/>
              </a:rPr>
              <a:t>modal</a:t>
            </a:r>
            <a:endParaRPr sz="2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12322" y="7567053"/>
            <a:ext cx="7794625" cy="1695450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375"/>
              </a:spcBef>
            </a:pPr>
            <a:r>
              <a:rPr sz="2600" spc="125" dirty="0">
                <a:solidFill>
                  <a:srgbClr val="343F49"/>
                </a:solidFill>
                <a:latin typeface="Arial"/>
                <a:cs typeface="Arial"/>
              </a:rPr>
              <a:t>distribution.</a:t>
            </a:r>
            <a:endParaRPr sz="2600">
              <a:latin typeface="Arial"/>
              <a:cs typeface="Arial"/>
            </a:endParaRPr>
          </a:p>
          <a:p>
            <a:pPr marL="352425" marR="5080" indent="-340360">
              <a:lnSpc>
                <a:spcPct val="139100"/>
              </a:lnSpc>
              <a:spcBef>
                <a:spcPts val="60"/>
              </a:spcBef>
              <a:buChar char="•"/>
              <a:tabLst>
                <a:tab pos="354965" algn="l"/>
              </a:tabLst>
            </a:pPr>
            <a:r>
              <a:rPr sz="2600" spc="50" dirty="0">
                <a:solidFill>
                  <a:srgbClr val="343F49"/>
                </a:solidFill>
                <a:latin typeface="Arial"/>
                <a:cs typeface="Arial"/>
              </a:rPr>
              <a:t>Tenure</a:t>
            </a:r>
            <a:r>
              <a:rPr sz="2600" spc="12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80" dirty="0">
                <a:solidFill>
                  <a:srgbClr val="343F49"/>
                </a:solidFill>
                <a:latin typeface="Arial"/>
                <a:cs typeface="Arial"/>
              </a:rPr>
              <a:t>is</a:t>
            </a:r>
            <a:r>
              <a:rPr sz="2600" spc="-4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00" dirty="0">
                <a:solidFill>
                  <a:srgbClr val="343F49"/>
                </a:solidFill>
                <a:latin typeface="Arial"/>
                <a:cs typeface="Arial"/>
              </a:rPr>
              <a:t>heavily</a:t>
            </a:r>
            <a:r>
              <a:rPr sz="2600" spc="210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50" dirty="0">
                <a:solidFill>
                  <a:srgbClr val="343F49"/>
                </a:solidFill>
                <a:latin typeface="Arial"/>
                <a:cs typeface="Arial"/>
              </a:rPr>
              <a:t>weighted</a:t>
            </a:r>
            <a:r>
              <a:rPr sz="2600" spc="200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55" dirty="0">
                <a:solidFill>
                  <a:srgbClr val="343F49"/>
                </a:solidFill>
                <a:latin typeface="Arial"/>
                <a:cs typeface="Arial"/>
              </a:rPr>
              <a:t>towards</a:t>
            </a:r>
            <a:r>
              <a:rPr sz="2600" spc="145" dirty="0">
                <a:solidFill>
                  <a:srgbClr val="343F49"/>
                </a:solidFill>
                <a:latin typeface="Arial"/>
                <a:cs typeface="Arial"/>
              </a:rPr>
              <a:t> </a:t>
            </a:r>
            <a:r>
              <a:rPr sz="2600" spc="195" dirty="0">
                <a:solidFill>
                  <a:srgbClr val="343F49"/>
                </a:solidFill>
                <a:latin typeface="Arial"/>
                <a:cs typeface="Arial"/>
              </a:rPr>
              <a:t>long-</a:t>
            </a:r>
            <a:r>
              <a:rPr sz="2600" spc="200" dirty="0">
                <a:solidFill>
                  <a:srgbClr val="343F49"/>
                </a:solidFill>
                <a:latin typeface="Arial"/>
                <a:cs typeface="Arial"/>
              </a:rPr>
              <a:t>term 	</a:t>
            </a:r>
            <a:r>
              <a:rPr sz="2600" spc="40" dirty="0">
                <a:solidFill>
                  <a:srgbClr val="343F49"/>
                </a:solidFill>
                <a:latin typeface="Arial"/>
                <a:cs typeface="Arial"/>
              </a:rPr>
              <a:t>loyalists.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176275" y="5598309"/>
            <a:ext cx="1320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E7E7E"/>
                </a:solidFill>
                <a:latin typeface="Arial"/>
                <a:cs typeface="Arial"/>
              </a:rPr>
              <a:t>-</a:t>
            </a:r>
            <a:r>
              <a:rPr sz="900" spc="-50" dirty="0">
                <a:solidFill>
                  <a:srgbClr val="7E7E7E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844839" y="5598309"/>
            <a:ext cx="1320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E7E7E"/>
                </a:solidFill>
                <a:latin typeface="Arial"/>
                <a:cs typeface="Arial"/>
              </a:rPr>
              <a:t>-</a:t>
            </a:r>
            <a:r>
              <a:rPr sz="900" spc="-50" dirty="0">
                <a:solidFill>
                  <a:srgbClr val="7E7E7E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543606" y="5598309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D6D6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204646" y="5598309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95652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874427" y="5598309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D6D6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184145" y="6818931"/>
            <a:ext cx="1320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E7E7E"/>
                </a:solidFill>
                <a:latin typeface="Arial"/>
                <a:cs typeface="Arial"/>
              </a:rPr>
              <a:t>-</a:t>
            </a:r>
            <a:r>
              <a:rPr sz="900" spc="-50" dirty="0">
                <a:solidFill>
                  <a:srgbClr val="7E7E7E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844839" y="6818931"/>
            <a:ext cx="1320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E7E7E"/>
                </a:solidFill>
                <a:latin typeface="Arial"/>
                <a:cs typeface="Arial"/>
              </a:rPr>
              <a:t>-</a:t>
            </a:r>
            <a:r>
              <a:rPr sz="900" spc="-50" dirty="0">
                <a:solidFill>
                  <a:srgbClr val="7E7E7E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543606" y="6818931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D6D6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204646" y="6818931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95652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874427" y="6818931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D6D6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184145" y="8039552"/>
            <a:ext cx="1320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E7E7E"/>
                </a:solidFill>
                <a:latin typeface="Arial"/>
                <a:cs typeface="Arial"/>
              </a:rPr>
              <a:t>-</a:t>
            </a:r>
            <a:r>
              <a:rPr sz="900" spc="-50" dirty="0">
                <a:solidFill>
                  <a:srgbClr val="7E7E7E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844839" y="8039552"/>
            <a:ext cx="1320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E7E7E"/>
                </a:solidFill>
                <a:latin typeface="Arial"/>
                <a:cs typeface="Arial"/>
              </a:rPr>
              <a:t>-</a:t>
            </a:r>
            <a:r>
              <a:rPr sz="900" spc="-50" dirty="0">
                <a:solidFill>
                  <a:srgbClr val="7E7E7E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543606" y="8039552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D6D6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204646" y="8039552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95652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874427" y="8039552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D6D6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385933" y="5117935"/>
            <a:ext cx="993140" cy="6432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885"/>
              </a:lnSpc>
              <a:spcBef>
                <a:spcPts val="130"/>
              </a:spcBef>
            </a:pPr>
            <a:r>
              <a:rPr sz="2450" b="1" dirty="0">
                <a:solidFill>
                  <a:srgbClr val="54A58E"/>
                </a:solidFill>
                <a:latin typeface="Arial"/>
                <a:cs typeface="Arial"/>
              </a:rPr>
              <a:t>--</a:t>
            </a:r>
            <a:r>
              <a:rPr sz="2450" spc="-10" dirty="0">
                <a:solidFill>
                  <a:srgbClr val="54A58E"/>
                </a:solidFill>
                <a:latin typeface="Arial"/>
                <a:cs typeface="Arial"/>
              </a:rPr>
              <a:t>■■</a:t>
            </a:r>
            <a:r>
              <a:rPr sz="3350" b="1" spc="-10" dirty="0">
                <a:solidFill>
                  <a:srgbClr val="54A58E"/>
                </a:solidFill>
                <a:latin typeface="Arial"/>
                <a:cs typeface="Arial"/>
              </a:rPr>
              <a:t>Ill</a:t>
            </a:r>
            <a:endParaRPr sz="3350">
              <a:latin typeface="Arial"/>
              <a:cs typeface="Arial"/>
            </a:endParaRPr>
          </a:p>
          <a:p>
            <a:pPr marR="218440" algn="ctr">
              <a:lnSpc>
                <a:spcPts val="944"/>
              </a:lnSpc>
            </a:pPr>
            <a:r>
              <a:rPr sz="900" spc="-160" dirty="0">
                <a:solidFill>
                  <a:srgbClr val="7E7E7E"/>
                </a:solidFill>
                <a:latin typeface="Arial"/>
                <a:cs typeface="Arial"/>
              </a:rPr>
              <a:t>-</a:t>
            </a:r>
            <a:r>
              <a:rPr sz="900" spc="-50" dirty="0">
                <a:solidFill>
                  <a:srgbClr val="7E7E7E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6398929" y="5598309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5" dirty="0">
                <a:solidFill>
                  <a:srgbClr val="7E7E7E"/>
                </a:solidFill>
                <a:latin typeface="Arial"/>
                <a:cs typeface="Arial"/>
              </a:rPr>
              <a:t>-</a:t>
            </a:r>
            <a:r>
              <a:rPr sz="900" spc="75" dirty="0">
                <a:solidFill>
                  <a:srgbClr val="595652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089834" y="5598309"/>
            <a:ext cx="105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5" dirty="0">
                <a:solidFill>
                  <a:srgbClr val="6D6D6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7758726" y="5598309"/>
            <a:ext cx="105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5" dirty="0">
                <a:solidFill>
                  <a:srgbClr val="6D6D6D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7860236" y="5082497"/>
            <a:ext cx="1026794" cy="678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4215"/>
              </a:lnSpc>
              <a:spcBef>
                <a:spcPts val="105"/>
              </a:spcBef>
            </a:pPr>
            <a:r>
              <a:rPr sz="3650" b="1" spc="-360" dirty="0">
                <a:solidFill>
                  <a:srgbClr val="54A58E"/>
                </a:solidFill>
                <a:latin typeface="Arial"/>
                <a:cs typeface="Arial"/>
              </a:rPr>
              <a:t>1</a:t>
            </a:r>
            <a:r>
              <a:rPr sz="3650" b="1" spc="-875" dirty="0">
                <a:solidFill>
                  <a:srgbClr val="54A58E"/>
                </a:solidFill>
                <a:latin typeface="Arial"/>
                <a:cs typeface="Arial"/>
              </a:rPr>
              <a:t>1</a:t>
            </a:r>
            <a:r>
              <a:rPr sz="3650" b="1" spc="-360" dirty="0">
                <a:solidFill>
                  <a:srgbClr val="54A58E"/>
                </a:solidFill>
                <a:latin typeface="Arial"/>
                <a:cs typeface="Arial"/>
              </a:rPr>
              <a:t>•••</a:t>
            </a:r>
            <a:r>
              <a:rPr sz="3650" b="1" spc="-480" dirty="0">
                <a:solidFill>
                  <a:srgbClr val="54A58E"/>
                </a:solidFill>
                <a:latin typeface="Arial"/>
                <a:cs typeface="Arial"/>
              </a:rPr>
              <a:t>.</a:t>
            </a:r>
            <a:r>
              <a:rPr sz="3650" b="1" spc="-350" dirty="0">
                <a:solidFill>
                  <a:srgbClr val="54A58E"/>
                </a:solidFill>
                <a:latin typeface="Arial"/>
                <a:cs typeface="Arial"/>
              </a:rPr>
              <a:t>_</a:t>
            </a:r>
            <a:endParaRPr sz="3650">
              <a:latin typeface="Arial"/>
              <a:cs typeface="Arial"/>
            </a:endParaRPr>
          </a:p>
          <a:p>
            <a:pPr marL="199390" algn="ctr">
              <a:lnSpc>
                <a:spcPts val="915"/>
              </a:lnSpc>
            </a:pPr>
            <a:r>
              <a:rPr sz="900" spc="75" dirty="0">
                <a:solidFill>
                  <a:srgbClr val="6D6D6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5730365" y="6818931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7E7E7E"/>
                </a:solidFill>
                <a:latin typeface="Arial"/>
                <a:cs typeface="Arial"/>
              </a:rPr>
              <a:t>-2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398929" y="6818931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5" dirty="0">
                <a:solidFill>
                  <a:srgbClr val="7E7E7E"/>
                </a:solidFill>
                <a:latin typeface="Arial"/>
                <a:cs typeface="Arial"/>
              </a:rPr>
              <a:t>-</a:t>
            </a:r>
            <a:r>
              <a:rPr sz="900" spc="75" dirty="0">
                <a:solidFill>
                  <a:srgbClr val="595652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7089834" y="6818931"/>
            <a:ext cx="105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5" dirty="0">
                <a:solidFill>
                  <a:srgbClr val="6D6D6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7750866" y="6818931"/>
            <a:ext cx="105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5" dirty="0">
                <a:solidFill>
                  <a:srgbClr val="7E7E7E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8433347" y="6818931"/>
            <a:ext cx="800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75" dirty="0">
                <a:solidFill>
                  <a:srgbClr val="6D6D6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8562995" y="6460619"/>
            <a:ext cx="155575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2900" spc="200" dirty="0">
                <a:solidFill>
                  <a:srgbClr val="EBBF80"/>
                </a:solidFill>
                <a:latin typeface="Times New Roman"/>
                <a:cs typeface="Times New Roman"/>
              </a:rPr>
              <a:t>-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5643750" y="7563115"/>
            <a:ext cx="137414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4450" spc="-1019" dirty="0">
                <a:solidFill>
                  <a:srgbClr val="D45B5E"/>
                </a:solidFill>
                <a:latin typeface="Arial"/>
                <a:cs typeface="Arial"/>
              </a:rPr>
              <a:t>-</a:t>
            </a:r>
            <a:r>
              <a:rPr sz="1350" spc="-209" baseline="-12345" dirty="0">
                <a:solidFill>
                  <a:srgbClr val="7E7E7E"/>
                </a:solidFill>
                <a:latin typeface="Arial"/>
                <a:cs typeface="Arial"/>
              </a:rPr>
              <a:t>-</a:t>
            </a:r>
            <a:r>
              <a:rPr sz="1350" spc="-322" baseline="-12345" dirty="0">
                <a:solidFill>
                  <a:srgbClr val="7E7E7E"/>
                </a:solidFill>
                <a:latin typeface="Arial"/>
                <a:cs typeface="Arial"/>
              </a:rPr>
              <a:t>2</a:t>
            </a:r>
            <a:r>
              <a:rPr sz="1350" spc="142" baseline="-123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450" spc="-229" dirty="0">
                <a:solidFill>
                  <a:srgbClr val="D45B5E"/>
                </a:solidFill>
                <a:latin typeface="Arial"/>
                <a:cs typeface="Arial"/>
              </a:rPr>
              <a:t>--</a:t>
            </a:r>
            <a:r>
              <a:rPr sz="4450" spc="-150" dirty="0">
                <a:solidFill>
                  <a:srgbClr val="D45B5E"/>
                </a:solidFill>
                <a:latin typeface="Arial"/>
                <a:cs typeface="Arial"/>
              </a:rPr>
              <a:t>·</a:t>
            </a:r>
            <a:r>
              <a:rPr sz="4450" spc="-980" dirty="0">
                <a:solidFill>
                  <a:srgbClr val="D45B5E"/>
                </a:solidFill>
                <a:latin typeface="Arial"/>
                <a:cs typeface="Arial"/>
              </a:rPr>
              <a:t>·</a:t>
            </a:r>
            <a:r>
              <a:rPr sz="1350" spc="-240" baseline="-12345" dirty="0">
                <a:solidFill>
                  <a:srgbClr val="7E7E7E"/>
                </a:solidFill>
                <a:latin typeface="Arial"/>
                <a:cs typeface="Arial"/>
              </a:rPr>
              <a:t>-</a:t>
            </a:r>
            <a:r>
              <a:rPr sz="1350" spc="-322" baseline="-12345" dirty="0">
                <a:solidFill>
                  <a:srgbClr val="7E7E7E"/>
                </a:solidFill>
                <a:latin typeface="Arial"/>
                <a:cs typeface="Arial"/>
              </a:rPr>
              <a:t>1</a:t>
            </a:r>
            <a:r>
              <a:rPr sz="1350" spc="-7" baseline="-123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450" spc="-100" dirty="0">
                <a:solidFill>
                  <a:srgbClr val="D45B5E"/>
                </a:solidFill>
                <a:latin typeface="Arial"/>
                <a:cs typeface="Arial"/>
              </a:rPr>
              <a:t>···</a:t>
            </a:r>
            <a:endParaRPr sz="44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064434" y="7653678"/>
            <a:ext cx="1845310" cy="59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104" baseline="-12345" dirty="0">
                <a:solidFill>
                  <a:srgbClr val="7E7E7E"/>
                </a:solidFill>
                <a:latin typeface="Arial"/>
                <a:cs typeface="Arial"/>
              </a:rPr>
              <a:t>0</a:t>
            </a:r>
            <a:r>
              <a:rPr sz="1350" spc="37" baseline="-123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750" spc="-740" dirty="0">
                <a:solidFill>
                  <a:srgbClr val="D45B5E"/>
                </a:solidFill>
                <a:latin typeface="Courier New"/>
                <a:cs typeface="Courier New"/>
              </a:rPr>
              <a:t>···</a:t>
            </a:r>
            <a:r>
              <a:rPr sz="3750" spc="-2145" dirty="0">
                <a:solidFill>
                  <a:srgbClr val="D45B5E"/>
                </a:solidFill>
                <a:latin typeface="Courier New"/>
                <a:cs typeface="Courier New"/>
              </a:rPr>
              <a:t>·</a:t>
            </a:r>
            <a:r>
              <a:rPr sz="1350" spc="-1132" baseline="-12345" dirty="0">
                <a:solidFill>
                  <a:srgbClr val="7E7E7E"/>
                </a:solidFill>
                <a:latin typeface="Arial"/>
                <a:cs typeface="Arial"/>
              </a:rPr>
              <a:t>1</a:t>
            </a:r>
            <a:r>
              <a:rPr sz="1350" spc="397" baseline="-123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750" spc="-955" dirty="0">
                <a:solidFill>
                  <a:srgbClr val="D45B5E"/>
                </a:solidFill>
                <a:latin typeface="Courier New"/>
                <a:cs typeface="Courier New"/>
              </a:rPr>
              <a:t>·--</a:t>
            </a:r>
            <a:r>
              <a:rPr sz="3750" spc="-1775" dirty="0">
                <a:solidFill>
                  <a:srgbClr val="D45B5E"/>
                </a:solidFill>
                <a:latin typeface="Courier New"/>
                <a:cs typeface="Courier New"/>
              </a:rPr>
              <a:t>-</a:t>
            </a:r>
            <a:r>
              <a:rPr sz="1350" spc="-52" baseline="-12345" dirty="0">
                <a:solidFill>
                  <a:srgbClr val="7E7E7E"/>
                </a:solidFill>
                <a:latin typeface="Arial"/>
                <a:cs typeface="Arial"/>
              </a:rPr>
              <a:t>2</a:t>
            </a:r>
            <a:r>
              <a:rPr sz="1350" spc="232" baseline="-123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750" spc="-955" dirty="0">
                <a:solidFill>
                  <a:srgbClr val="CF9AA3"/>
                </a:solidFill>
                <a:latin typeface="Courier New"/>
                <a:cs typeface="Courier New"/>
              </a:rPr>
              <a:t>-</a:t>
            </a:r>
            <a:r>
              <a:rPr sz="3750" spc="-1019" dirty="0">
                <a:solidFill>
                  <a:srgbClr val="CF9AA3"/>
                </a:solidFill>
                <a:latin typeface="Courier New"/>
                <a:cs typeface="Courier New"/>
              </a:rPr>
              <a:t>-</a:t>
            </a:r>
            <a:endParaRPr sz="37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121" y="882083"/>
            <a:ext cx="141577" cy="9607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0047" y="1071085"/>
            <a:ext cx="314617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23667" y="1008087"/>
            <a:ext cx="1761857" cy="645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52949" y="1008087"/>
            <a:ext cx="1101161" cy="8189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58611" y="1071085"/>
            <a:ext cx="456195" cy="566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69935" y="1055331"/>
            <a:ext cx="1415778" cy="7874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103812" y="6347319"/>
            <a:ext cx="298886" cy="787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75694" y="6489069"/>
            <a:ext cx="1195546" cy="7874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641079" y="6898568"/>
            <a:ext cx="582042" cy="19057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983178" y="6126818"/>
            <a:ext cx="0" cy="1212850"/>
          </a:xfrm>
          <a:custGeom>
            <a:avLst/>
            <a:gdLst/>
            <a:ahLst/>
            <a:cxnLst/>
            <a:rect l="l" t="t" r="r" b="b"/>
            <a:pathLst>
              <a:path h="1212850">
                <a:moveTo>
                  <a:pt x="0" y="1212746"/>
                </a:moveTo>
                <a:lnTo>
                  <a:pt x="0" y="0"/>
                </a:lnTo>
              </a:path>
            </a:pathLst>
          </a:custGeom>
          <a:ln w="629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602600" y="3953323"/>
            <a:ext cx="0" cy="4851400"/>
          </a:xfrm>
          <a:custGeom>
            <a:avLst/>
            <a:gdLst/>
            <a:ahLst/>
            <a:cxnLst/>
            <a:rect l="l" t="t" r="r" b="b"/>
            <a:pathLst>
              <a:path h="4851400">
                <a:moveTo>
                  <a:pt x="0" y="485098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979051" y="7843563"/>
            <a:ext cx="0" cy="394335"/>
          </a:xfrm>
          <a:custGeom>
            <a:avLst/>
            <a:gdLst/>
            <a:ahLst/>
            <a:cxnLst/>
            <a:rect l="l" t="t" r="r" b="b"/>
            <a:pathLst>
              <a:path h="394334">
                <a:moveTo>
                  <a:pt x="0" y="39374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065571" y="5433820"/>
            <a:ext cx="0" cy="582930"/>
          </a:xfrm>
          <a:custGeom>
            <a:avLst/>
            <a:gdLst/>
            <a:ahLst/>
            <a:cxnLst/>
            <a:rect l="l" t="t" r="r" b="b"/>
            <a:pathLst>
              <a:path h="582929">
                <a:moveTo>
                  <a:pt x="0" y="582748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158866" y="5575569"/>
            <a:ext cx="0" cy="378460"/>
          </a:xfrm>
          <a:custGeom>
            <a:avLst/>
            <a:gdLst/>
            <a:ahLst/>
            <a:cxnLst/>
            <a:rect l="l" t="t" r="r" b="b"/>
            <a:pathLst>
              <a:path h="378460">
                <a:moveTo>
                  <a:pt x="0" y="37799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338681" y="7843563"/>
            <a:ext cx="0" cy="409575"/>
          </a:xfrm>
          <a:custGeom>
            <a:avLst/>
            <a:gdLst/>
            <a:ahLst/>
            <a:cxnLst/>
            <a:rect l="l" t="t" r="r" b="b"/>
            <a:pathLst>
              <a:path h="409575">
                <a:moveTo>
                  <a:pt x="0" y="409498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203878" y="7843563"/>
            <a:ext cx="0" cy="394335"/>
          </a:xfrm>
          <a:custGeom>
            <a:avLst/>
            <a:gdLst/>
            <a:ahLst/>
            <a:cxnLst/>
            <a:rect l="l" t="t" r="r" b="b"/>
            <a:pathLst>
              <a:path h="394334">
                <a:moveTo>
                  <a:pt x="0" y="39374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462347" y="6300068"/>
            <a:ext cx="0" cy="378460"/>
          </a:xfrm>
          <a:custGeom>
            <a:avLst/>
            <a:gdLst/>
            <a:ahLst/>
            <a:cxnLst/>
            <a:rect l="l" t="t" r="r" b="b"/>
            <a:pathLst>
              <a:path h="378459">
                <a:moveTo>
                  <a:pt x="0" y="37799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950004" y="6300068"/>
            <a:ext cx="0" cy="362585"/>
          </a:xfrm>
          <a:custGeom>
            <a:avLst/>
            <a:gdLst/>
            <a:ahLst/>
            <a:cxnLst/>
            <a:rect l="l" t="t" r="r" b="b"/>
            <a:pathLst>
              <a:path h="362584">
                <a:moveTo>
                  <a:pt x="0" y="36224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105131" y="3953323"/>
            <a:ext cx="0" cy="2945765"/>
          </a:xfrm>
          <a:custGeom>
            <a:avLst/>
            <a:gdLst/>
            <a:ahLst/>
            <a:cxnLst/>
            <a:rect l="l" t="t" r="r" b="b"/>
            <a:pathLst>
              <a:path h="2945765">
                <a:moveTo>
                  <a:pt x="0" y="2945242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191651" y="4394322"/>
            <a:ext cx="0" cy="2504440"/>
          </a:xfrm>
          <a:custGeom>
            <a:avLst/>
            <a:gdLst/>
            <a:ahLst/>
            <a:cxnLst/>
            <a:rect l="l" t="t" r="r" b="b"/>
            <a:pathLst>
              <a:path h="2504440">
                <a:moveTo>
                  <a:pt x="0" y="2504243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618331" y="3937573"/>
            <a:ext cx="8495030" cy="0"/>
          </a:xfrm>
          <a:custGeom>
            <a:avLst/>
            <a:gdLst/>
            <a:ahLst/>
            <a:cxnLst/>
            <a:rect l="l" t="t" r="r" b="b"/>
            <a:pathLst>
              <a:path w="8495030">
                <a:moveTo>
                  <a:pt x="0" y="0"/>
                </a:moveTo>
                <a:lnTo>
                  <a:pt x="8494665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533136" y="6725316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6078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049840" y="7441940"/>
            <a:ext cx="2092325" cy="0"/>
          </a:xfrm>
          <a:custGeom>
            <a:avLst/>
            <a:gdLst/>
            <a:ahLst/>
            <a:cxnLst/>
            <a:rect l="l" t="t" r="r" b="b"/>
            <a:pathLst>
              <a:path w="2092325">
                <a:moveTo>
                  <a:pt x="0" y="0"/>
                </a:moveTo>
                <a:lnTo>
                  <a:pt x="209220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196013" y="7851439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4">
                <a:moveTo>
                  <a:pt x="0" y="0"/>
                </a:moveTo>
                <a:lnTo>
                  <a:pt x="298886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971186" y="7851439"/>
            <a:ext cx="283210" cy="0"/>
          </a:xfrm>
          <a:custGeom>
            <a:avLst/>
            <a:gdLst/>
            <a:ahLst/>
            <a:cxnLst/>
            <a:rect l="l" t="t" r="r" b="b"/>
            <a:pathLst>
              <a:path w="283209">
                <a:moveTo>
                  <a:pt x="0" y="0"/>
                </a:moveTo>
                <a:lnTo>
                  <a:pt x="283155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586870" y="8788562"/>
            <a:ext cx="8038465" cy="0"/>
          </a:xfrm>
          <a:custGeom>
            <a:avLst/>
            <a:gdLst/>
            <a:ahLst/>
            <a:cxnLst/>
            <a:rect l="l" t="t" r="r" b="b"/>
            <a:pathLst>
              <a:path w="8038465">
                <a:moveTo>
                  <a:pt x="0" y="0"/>
                </a:moveTo>
                <a:lnTo>
                  <a:pt x="803847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117357" y="8946061"/>
            <a:ext cx="3712845" cy="0"/>
          </a:xfrm>
          <a:custGeom>
            <a:avLst/>
            <a:gdLst/>
            <a:ahLst/>
            <a:cxnLst/>
            <a:rect l="l" t="t" r="r" b="b"/>
            <a:pathLst>
              <a:path w="3712844">
                <a:moveTo>
                  <a:pt x="0" y="0"/>
                </a:moveTo>
                <a:lnTo>
                  <a:pt x="371248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746797" y="1263135"/>
            <a:ext cx="121285" cy="5924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700" spc="-600" dirty="0">
                <a:solidFill>
                  <a:srgbClr val="034D7E"/>
                </a:solidFill>
                <a:latin typeface="Times New Roman"/>
                <a:cs typeface="Times New Roman"/>
              </a:rPr>
              <a:t>•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26049" y="767013"/>
            <a:ext cx="21018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80" dirty="0">
                <a:solidFill>
                  <a:srgbClr val="034D7E"/>
                </a:solidFill>
                <a:latin typeface="Arial"/>
                <a:cs typeface="Arial"/>
              </a:rPr>
              <a:t>•</a:t>
            </a:r>
            <a:endParaRPr sz="37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74775" y="1058385"/>
            <a:ext cx="33718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170" dirty="0">
                <a:solidFill>
                  <a:srgbClr val="034D7E"/>
                </a:solidFill>
                <a:latin typeface="Times New Roman"/>
                <a:cs typeface="Times New Roman"/>
              </a:rPr>
              <a:t>1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55332" y="767013"/>
            <a:ext cx="21018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80" dirty="0">
                <a:solidFill>
                  <a:srgbClr val="034D7E"/>
                </a:solidFill>
                <a:latin typeface="Arial"/>
                <a:cs typeface="Arial"/>
              </a:rPr>
              <a:t>•</a:t>
            </a:r>
            <a:endParaRPr sz="37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96695" y="1058385"/>
            <a:ext cx="197485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670" dirty="0">
                <a:solidFill>
                  <a:srgbClr val="034D7E"/>
                </a:solidFill>
                <a:latin typeface="Arial"/>
                <a:cs typeface="Arial"/>
              </a:rPr>
              <a:t>1near</a:t>
            </a:r>
            <a:endParaRPr sz="44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26983" y="3586251"/>
            <a:ext cx="8208009" cy="208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25"/>
              </a:spcBef>
            </a:pPr>
            <a:r>
              <a:rPr sz="4250" spc="180" dirty="0">
                <a:solidFill>
                  <a:srgbClr val="034D7E"/>
                </a:solidFill>
                <a:latin typeface="Times New Roman"/>
                <a:cs typeface="Times New Roman"/>
              </a:rPr>
              <a:t>Forecasting</a:t>
            </a:r>
            <a:r>
              <a:rPr sz="4250" spc="50" dirty="0">
                <a:solidFill>
                  <a:srgbClr val="034D7E"/>
                </a:solidFill>
                <a:latin typeface="Times New Roman"/>
                <a:cs typeface="Times New Roman"/>
              </a:rPr>
              <a:t> </a:t>
            </a:r>
            <a:r>
              <a:rPr sz="4250" spc="155" dirty="0">
                <a:solidFill>
                  <a:srgbClr val="034D7E"/>
                </a:solidFill>
                <a:latin typeface="Times New Roman"/>
                <a:cs typeface="Times New Roman"/>
              </a:rPr>
              <a:t>Total</a:t>
            </a:r>
            <a:r>
              <a:rPr sz="4250" spc="20" dirty="0">
                <a:solidFill>
                  <a:srgbClr val="034D7E"/>
                </a:solidFill>
                <a:latin typeface="Times New Roman"/>
                <a:cs typeface="Times New Roman"/>
              </a:rPr>
              <a:t> </a:t>
            </a:r>
            <a:r>
              <a:rPr sz="4250" spc="110" dirty="0">
                <a:solidFill>
                  <a:srgbClr val="034D7E"/>
                </a:solidFill>
                <a:latin typeface="Times New Roman"/>
                <a:cs typeface="Times New Roman"/>
              </a:rPr>
              <a:t>Revenue</a:t>
            </a:r>
            <a:endParaRPr sz="4250">
              <a:latin typeface="Times New Roman"/>
              <a:cs typeface="Times New Roman"/>
            </a:endParaRPr>
          </a:p>
          <a:p>
            <a:pPr marL="12700" marR="5080" indent="7620">
              <a:lnSpc>
                <a:spcPct val="142800"/>
              </a:lnSpc>
              <a:spcBef>
                <a:spcPts val="1950"/>
              </a:spcBef>
            </a:pPr>
            <a:r>
              <a:rPr sz="2600" dirty="0">
                <a:solidFill>
                  <a:srgbClr val="363F49"/>
                </a:solidFill>
                <a:latin typeface="Arial"/>
                <a:cs typeface="Arial"/>
              </a:rPr>
              <a:t>We</a:t>
            </a:r>
            <a:r>
              <a:rPr sz="2600" spc="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95" dirty="0">
                <a:solidFill>
                  <a:srgbClr val="363F49"/>
                </a:solidFill>
                <a:latin typeface="Arial"/>
                <a:cs typeface="Arial"/>
              </a:rPr>
              <a:t>modeled</a:t>
            </a:r>
            <a:r>
              <a:rPr sz="2600" spc="8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363F49"/>
                </a:solidFill>
                <a:latin typeface="Arial"/>
                <a:cs typeface="Arial"/>
              </a:rPr>
              <a:t>TotalCharges</a:t>
            </a:r>
            <a:r>
              <a:rPr sz="2700" spc="24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srgbClr val="363F49"/>
                </a:solidFill>
                <a:latin typeface="Arial"/>
                <a:cs typeface="Arial"/>
              </a:rPr>
              <a:t>against</a:t>
            </a:r>
            <a:r>
              <a:rPr sz="2600" spc="229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30" dirty="0">
                <a:solidFill>
                  <a:srgbClr val="363F49"/>
                </a:solidFill>
                <a:latin typeface="Arial"/>
                <a:cs typeface="Arial"/>
              </a:rPr>
              <a:t>tenure,</a:t>
            </a:r>
            <a:r>
              <a:rPr sz="2600" spc="-114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363F49"/>
                </a:solidFill>
                <a:latin typeface="Arial"/>
                <a:cs typeface="Arial"/>
              </a:rPr>
              <a:t>charges, </a:t>
            </a:r>
            <a:r>
              <a:rPr sz="2600" spc="95" dirty="0">
                <a:solidFill>
                  <a:srgbClr val="363F49"/>
                </a:solidFill>
                <a:latin typeface="Arial"/>
                <a:cs typeface="Arial"/>
              </a:rPr>
              <a:t>and</a:t>
            </a:r>
            <a:r>
              <a:rPr sz="2600" spc="22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25" dirty="0">
                <a:solidFill>
                  <a:srgbClr val="363F49"/>
                </a:solidFill>
                <a:latin typeface="Arial"/>
                <a:cs typeface="Arial"/>
              </a:rPr>
              <a:t>seniority</a:t>
            </a:r>
            <a:r>
              <a:rPr sz="2600" spc="22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25" dirty="0">
                <a:solidFill>
                  <a:srgbClr val="363F49"/>
                </a:solidFill>
                <a:latin typeface="Arial"/>
                <a:cs typeface="Arial"/>
              </a:rPr>
              <a:t>to</a:t>
            </a:r>
            <a:r>
              <a:rPr sz="2600" spc="28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60" dirty="0">
                <a:solidFill>
                  <a:srgbClr val="363F49"/>
                </a:solidFill>
                <a:latin typeface="Arial"/>
                <a:cs typeface="Arial"/>
              </a:rPr>
              <a:t>find</a:t>
            </a:r>
            <a:r>
              <a:rPr sz="2600" spc="2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90" dirty="0">
                <a:solidFill>
                  <a:srgbClr val="363F49"/>
                </a:solidFill>
                <a:latin typeface="Arial"/>
                <a:cs typeface="Arial"/>
              </a:rPr>
              <a:t>the</a:t>
            </a:r>
            <a:r>
              <a:rPr sz="2600" spc="9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90" dirty="0">
                <a:solidFill>
                  <a:srgbClr val="363F49"/>
                </a:solidFill>
                <a:latin typeface="Arial"/>
                <a:cs typeface="Arial"/>
              </a:rPr>
              <a:t>baseline</a:t>
            </a:r>
            <a:r>
              <a:rPr sz="2600" spc="19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14" dirty="0">
                <a:solidFill>
                  <a:srgbClr val="363F49"/>
                </a:solidFill>
                <a:latin typeface="Arial"/>
                <a:cs typeface="Arial"/>
              </a:rPr>
              <a:t>revenue</a:t>
            </a:r>
            <a:r>
              <a:rPr sz="2600" spc="19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80" dirty="0">
                <a:solidFill>
                  <a:srgbClr val="363F49"/>
                </a:solidFill>
                <a:latin typeface="Arial"/>
                <a:cs typeface="Arial"/>
              </a:rPr>
              <a:t>drivers.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74417" y="6555119"/>
            <a:ext cx="55111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861310" algn="l"/>
                <a:tab pos="4382770" algn="l"/>
              </a:tabLst>
            </a:pPr>
            <a:r>
              <a:rPr sz="1900" dirty="0">
                <a:solidFill>
                  <a:srgbClr val="1A181A"/>
                </a:solidFill>
                <a:latin typeface="Times New Roman"/>
                <a:cs typeface="Times New Roman"/>
              </a:rPr>
              <a:t>Tota</a:t>
            </a:r>
            <a:r>
              <a:rPr sz="1900" dirty="0">
                <a:solidFill>
                  <a:srgbClr val="010101"/>
                </a:solidFill>
                <a:latin typeface="Times New Roman"/>
                <a:cs typeface="Times New Roman"/>
              </a:rPr>
              <a:t>l</a:t>
            </a:r>
            <a:r>
              <a:rPr sz="1900" dirty="0">
                <a:solidFill>
                  <a:srgbClr val="2F2F2F"/>
                </a:solidFill>
                <a:latin typeface="Times New Roman"/>
                <a:cs typeface="Times New Roman"/>
              </a:rPr>
              <a:t>C</a:t>
            </a:r>
            <a:r>
              <a:rPr sz="1900" dirty="0">
                <a:solidFill>
                  <a:srgbClr val="010101"/>
                </a:solidFill>
                <a:latin typeface="Times New Roman"/>
                <a:cs typeface="Times New Roman"/>
              </a:rPr>
              <a:t>h</a:t>
            </a:r>
            <a:r>
              <a:rPr sz="1900" dirty="0">
                <a:solidFill>
                  <a:srgbClr val="1A181A"/>
                </a:solidFill>
                <a:latin typeface="Times New Roman"/>
                <a:cs typeface="Times New Roman"/>
              </a:rPr>
              <a:t>arges</a:t>
            </a:r>
            <a:r>
              <a:rPr sz="1900" spc="-105" dirty="0">
                <a:solidFill>
                  <a:srgbClr val="1A181A"/>
                </a:solidFill>
                <a:latin typeface="Times New Roman"/>
                <a:cs typeface="Times New Roman"/>
              </a:rPr>
              <a:t> </a:t>
            </a:r>
            <a:r>
              <a:rPr sz="1900" spc="170" dirty="0">
                <a:solidFill>
                  <a:srgbClr val="2F2F2F"/>
                </a:solidFill>
                <a:latin typeface="Times New Roman"/>
                <a:cs typeface="Times New Roman"/>
              </a:rPr>
              <a:t>�</a:t>
            </a:r>
            <a:r>
              <a:rPr sz="1900" spc="-1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1A181A"/>
                </a:solidFill>
                <a:latin typeface="Times New Roman"/>
                <a:cs typeface="Times New Roman"/>
              </a:rPr>
              <a:t>65</a:t>
            </a:r>
            <a:r>
              <a:rPr sz="1900" dirty="0">
                <a:solidFill>
                  <a:srgbClr val="010101"/>
                </a:solidFill>
                <a:latin typeface="Times New Roman"/>
                <a:cs typeface="Times New Roman"/>
              </a:rPr>
              <a:t>.</a:t>
            </a:r>
            <a:r>
              <a:rPr sz="1900" dirty="0">
                <a:solidFill>
                  <a:srgbClr val="1A181A"/>
                </a:solidFill>
                <a:latin typeface="Times New Roman"/>
                <a:cs typeface="Times New Roman"/>
              </a:rPr>
              <a:t>36</a:t>
            </a:r>
            <a:r>
              <a:rPr sz="1900" spc="190" dirty="0">
                <a:solidFill>
                  <a:srgbClr val="1A181A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1A181A"/>
                </a:solidFill>
                <a:latin typeface="Times New Roman"/>
                <a:cs typeface="Times New Roman"/>
              </a:rPr>
              <a:t>(</a:t>
            </a:r>
            <a:r>
              <a:rPr sz="1900" spc="120" dirty="0">
                <a:solidFill>
                  <a:srgbClr val="1A181A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10101"/>
                </a:solidFill>
                <a:latin typeface="Times New Roman"/>
                <a:cs typeface="Times New Roman"/>
              </a:rPr>
              <a:t>T</a:t>
            </a:r>
            <a:r>
              <a:rPr sz="1900" spc="275" dirty="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sz="1900" spc="-50" dirty="0">
                <a:solidFill>
                  <a:srgbClr val="1A181A"/>
                </a:solidFill>
                <a:latin typeface="Times New Roman"/>
                <a:cs typeface="Times New Roman"/>
              </a:rPr>
              <a:t>)</a:t>
            </a:r>
            <a:r>
              <a:rPr sz="1900" dirty="0">
                <a:solidFill>
                  <a:srgbClr val="1A181A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F2F2F"/>
                </a:solidFill>
                <a:latin typeface="Arial"/>
                <a:cs typeface="Arial"/>
              </a:rPr>
              <a:t>+</a:t>
            </a:r>
            <a:r>
              <a:rPr sz="1900" spc="8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1A181A"/>
                </a:solidFill>
                <a:latin typeface="Times New Roman"/>
                <a:cs typeface="Times New Roman"/>
              </a:rPr>
              <a:t>36.</a:t>
            </a:r>
            <a:r>
              <a:rPr sz="1900" dirty="0">
                <a:solidFill>
                  <a:srgbClr val="010101"/>
                </a:solidFill>
                <a:latin typeface="Times New Roman"/>
                <a:cs typeface="Times New Roman"/>
              </a:rPr>
              <a:t>1</a:t>
            </a:r>
            <a:r>
              <a:rPr sz="1900" dirty="0">
                <a:solidFill>
                  <a:srgbClr val="1A181A"/>
                </a:solidFill>
                <a:latin typeface="Times New Roman"/>
                <a:cs typeface="Times New Roman"/>
              </a:rPr>
              <a:t>2</a:t>
            </a:r>
            <a:r>
              <a:rPr sz="1900" spc="120" dirty="0">
                <a:solidFill>
                  <a:srgbClr val="1A181A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1A181A"/>
                </a:solidFill>
                <a:latin typeface="Times New Roman"/>
                <a:cs typeface="Times New Roman"/>
              </a:rPr>
              <a:t>(</a:t>
            </a:r>
            <a:r>
              <a:rPr sz="1900" spc="155" dirty="0">
                <a:solidFill>
                  <a:srgbClr val="1A181A"/>
                </a:solidFill>
                <a:latin typeface="Times New Roman"/>
                <a:cs typeface="Times New Roman"/>
              </a:rPr>
              <a:t> </a:t>
            </a:r>
            <a:r>
              <a:rPr sz="1900" spc="80" dirty="0">
                <a:solidFill>
                  <a:srgbClr val="1A181A"/>
                </a:solidFill>
                <a:latin typeface="Times New Roman"/>
                <a:cs typeface="Times New Roman"/>
              </a:rPr>
              <a:t>M </a:t>
            </a:r>
            <a:r>
              <a:rPr sz="1900" spc="-50" dirty="0">
                <a:solidFill>
                  <a:srgbClr val="1A181A"/>
                </a:solidFill>
                <a:latin typeface="Times New Roman"/>
                <a:cs typeface="Times New Roman"/>
              </a:rPr>
              <a:t>)</a:t>
            </a:r>
            <a:r>
              <a:rPr sz="1900" dirty="0">
                <a:solidFill>
                  <a:srgbClr val="1A181A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010101"/>
                </a:solidFill>
                <a:latin typeface="Times New Roman"/>
                <a:cs typeface="Times New Roman"/>
              </a:rPr>
              <a:t>-</a:t>
            </a:r>
            <a:r>
              <a:rPr sz="1900" spc="5" dirty="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sz="1900" spc="75" dirty="0">
                <a:solidFill>
                  <a:srgbClr val="1A181A"/>
                </a:solidFill>
                <a:latin typeface="Times New Roman"/>
                <a:cs typeface="Times New Roman"/>
              </a:rPr>
              <a:t>86.7</a:t>
            </a:r>
            <a:r>
              <a:rPr sz="1900" spc="15" dirty="0">
                <a:solidFill>
                  <a:srgbClr val="1A181A"/>
                </a:solidFill>
                <a:latin typeface="Times New Roman"/>
                <a:cs typeface="Times New Roman"/>
              </a:rPr>
              <a:t> </a:t>
            </a:r>
            <a:r>
              <a:rPr sz="1900" spc="60" dirty="0">
                <a:solidFill>
                  <a:srgbClr val="1A181A"/>
                </a:solidFill>
                <a:latin typeface="Times New Roman"/>
                <a:cs typeface="Times New Roman"/>
              </a:rPr>
              <a:t>(</a:t>
            </a:r>
            <a:r>
              <a:rPr sz="1900" spc="30" dirty="0">
                <a:solidFill>
                  <a:srgbClr val="1A181A"/>
                </a:solidFill>
                <a:latin typeface="Times New Roman"/>
                <a:cs typeface="Times New Roman"/>
              </a:rPr>
              <a:t> </a:t>
            </a:r>
            <a:r>
              <a:rPr sz="1900" spc="85" dirty="0">
                <a:solidFill>
                  <a:srgbClr val="1A181A"/>
                </a:solidFill>
                <a:latin typeface="Times New Roman"/>
                <a:cs typeface="Times New Roman"/>
              </a:rPr>
              <a:t>S</a:t>
            </a:r>
            <a:r>
              <a:rPr sz="1900" spc="5" dirty="0">
                <a:solidFill>
                  <a:srgbClr val="1A181A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1A181A"/>
                </a:solidFill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0475" y="7614303"/>
            <a:ext cx="7809230" cy="1128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510" marR="5080" indent="-4445">
              <a:lnSpc>
                <a:spcPct val="139100"/>
              </a:lnSpc>
              <a:spcBef>
                <a:spcPts val="90"/>
              </a:spcBef>
            </a:pPr>
            <a:r>
              <a:rPr sz="2600" spc="60" dirty="0">
                <a:solidFill>
                  <a:srgbClr val="363F49"/>
                </a:solidFill>
                <a:latin typeface="Arial"/>
                <a:cs typeface="Arial"/>
              </a:rPr>
              <a:t>Results</a:t>
            </a:r>
            <a:r>
              <a:rPr sz="2600" spc="19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00" dirty="0">
                <a:solidFill>
                  <a:srgbClr val="363F49"/>
                </a:solidFill>
                <a:latin typeface="Arial"/>
                <a:cs typeface="Arial"/>
              </a:rPr>
              <a:t>show</a:t>
            </a:r>
            <a:r>
              <a:rPr sz="2600" spc="18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200" dirty="0">
                <a:solidFill>
                  <a:srgbClr val="363F49"/>
                </a:solidFill>
                <a:latin typeface="Arial"/>
                <a:cs typeface="Arial"/>
              </a:rPr>
              <a:t>that</a:t>
            </a:r>
            <a:r>
              <a:rPr sz="2600" spc="16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b="1" spc="65" dirty="0">
                <a:solidFill>
                  <a:srgbClr val="363F49"/>
                </a:solidFill>
                <a:latin typeface="Arial"/>
                <a:cs typeface="Arial"/>
              </a:rPr>
              <a:t>Tenure</a:t>
            </a:r>
            <a:r>
              <a:rPr sz="2600" b="1" spc="1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80" dirty="0">
                <a:solidFill>
                  <a:srgbClr val="363F49"/>
                </a:solidFill>
                <a:latin typeface="Arial"/>
                <a:cs typeface="Arial"/>
              </a:rPr>
              <a:t>is</a:t>
            </a:r>
            <a:r>
              <a:rPr sz="2600" spc="2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05" dirty="0">
                <a:solidFill>
                  <a:srgbClr val="363F49"/>
                </a:solidFill>
                <a:latin typeface="Arial"/>
                <a:cs typeface="Arial"/>
              </a:rPr>
              <a:t>the</a:t>
            </a:r>
            <a:r>
              <a:rPr sz="2600" spc="34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204" dirty="0">
                <a:solidFill>
                  <a:srgbClr val="363F49"/>
                </a:solidFill>
                <a:latin typeface="Arial"/>
                <a:cs typeface="Arial"/>
              </a:rPr>
              <a:t>most</a:t>
            </a:r>
            <a:r>
              <a:rPr sz="2600" spc="19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90" dirty="0">
                <a:solidFill>
                  <a:srgbClr val="363F49"/>
                </a:solidFill>
                <a:latin typeface="Arial"/>
                <a:cs typeface="Arial"/>
              </a:rPr>
              <a:t>significant </a:t>
            </a:r>
            <a:r>
              <a:rPr sz="2600" spc="135" dirty="0">
                <a:solidFill>
                  <a:srgbClr val="363F49"/>
                </a:solidFill>
                <a:latin typeface="Arial"/>
                <a:cs typeface="Arial"/>
              </a:rPr>
              <a:t>multiplier</a:t>
            </a:r>
            <a:r>
              <a:rPr sz="2600" spc="33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95" dirty="0">
                <a:solidFill>
                  <a:srgbClr val="363F49"/>
                </a:solidFill>
                <a:latin typeface="Arial"/>
                <a:cs typeface="Arial"/>
              </a:rPr>
              <a:t>of</a:t>
            </a:r>
            <a:r>
              <a:rPr sz="2600" spc="5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85" dirty="0">
                <a:solidFill>
                  <a:srgbClr val="363F49"/>
                </a:solidFill>
                <a:latin typeface="Arial"/>
                <a:cs typeface="Arial"/>
              </a:rPr>
              <a:t>customer</a:t>
            </a:r>
            <a:r>
              <a:rPr sz="2600" spc="254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63F49"/>
                </a:solidFill>
                <a:latin typeface="Arial"/>
                <a:cs typeface="Arial"/>
              </a:rPr>
              <a:t>value.</a:t>
            </a:r>
            <a:endParaRPr sz="2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019275" y="751261"/>
            <a:ext cx="213360" cy="611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50" spc="70" dirty="0">
                <a:solidFill>
                  <a:srgbClr val="034D7E"/>
                </a:solidFill>
                <a:latin typeface="Times New Roman"/>
                <a:cs typeface="Times New Roman"/>
              </a:rPr>
              <a:t>•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451368" y="1058385"/>
            <a:ext cx="278003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640" dirty="0">
                <a:solidFill>
                  <a:srgbClr val="034D7E"/>
                </a:solidFill>
                <a:latin typeface="Arial"/>
                <a:cs typeface="Arial"/>
              </a:rPr>
              <a:t>ress1on</a:t>
            </a:r>
            <a:endParaRPr sz="44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432091" y="4684811"/>
            <a:ext cx="160782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010101"/>
                </a:solidFill>
                <a:latin typeface="Arial"/>
                <a:cs typeface="Arial"/>
              </a:rPr>
              <a:t>Simple</a:t>
            </a:r>
            <a:r>
              <a:rPr sz="1400" b="1" spc="1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10101"/>
                </a:solidFill>
                <a:latin typeface="Arial"/>
                <a:cs typeface="Arial"/>
              </a:rPr>
              <a:t>regress</a:t>
            </a:r>
            <a:r>
              <a:rPr sz="1400" b="1" spc="-10" dirty="0">
                <a:solidFill>
                  <a:srgbClr val="1A181A"/>
                </a:solidFill>
                <a:latin typeface="Arial"/>
                <a:cs typeface="Arial"/>
              </a:rPr>
              <a:t>i</a:t>
            </a:r>
            <a:r>
              <a:rPr sz="1400" b="1" spc="-10" dirty="0">
                <a:solidFill>
                  <a:srgbClr val="010101"/>
                </a:solidFill>
                <a:latin typeface="Arial"/>
                <a:cs typeface="Arial"/>
              </a:rPr>
              <a:t>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686659" y="5389622"/>
            <a:ext cx="104775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2F2F2F"/>
                </a:solidFill>
                <a:latin typeface="Arial"/>
                <a:cs typeface="Arial"/>
              </a:rPr>
              <a:t>Regression</a:t>
            </a:r>
            <a:r>
              <a:rPr sz="1100" spc="14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30" dirty="0">
                <a:solidFill>
                  <a:srgbClr val="2F2F2F"/>
                </a:solidFill>
                <a:latin typeface="Arial"/>
                <a:cs typeface="Arial"/>
              </a:rPr>
              <a:t>line</a:t>
            </a:r>
            <a:endParaRPr sz="11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847181" y="4684811"/>
            <a:ext cx="171132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10" dirty="0">
                <a:solidFill>
                  <a:srgbClr val="010101"/>
                </a:solidFill>
                <a:latin typeface="Arial"/>
                <a:cs typeface="Arial"/>
              </a:rPr>
              <a:t>Multiple</a:t>
            </a:r>
            <a:r>
              <a:rPr sz="1400" b="1" spc="2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10101"/>
                </a:solidFill>
                <a:latin typeface="Arial"/>
                <a:cs typeface="Arial"/>
              </a:rPr>
              <a:t>regression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132145" y="5110848"/>
            <a:ext cx="1278890" cy="6273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 marR="30480" indent="15875" algn="just">
              <a:lnSpc>
                <a:spcPct val="114100"/>
              </a:lnSpc>
              <a:spcBef>
                <a:spcPts val="140"/>
              </a:spcBef>
            </a:pPr>
            <a:r>
              <a:rPr sz="1100" dirty="0">
                <a:solidFill>
                  <a:srgbClr val="2F2F2F"/>
                </a:solidFill>
                <a:latin typeface="Arial"/>
                <a:cs typeface="Arial"/>
              </a:rPr>
              <a:t>X</a:t>
            </a:r>
            <a:r>
              <a:rPr sz="1050" baseline="-15873" dirty="0">
                <a:solidFill>
                  <a:srgbClr val="2F2F2F"/>
                </a:solidFill>
                <a:latin typeface="Times New Roman"/>
                <a:cs typeface="Times New Roman"/>
              </a:rPr>
              <a:t>1</a:t>
            </a:r>
            <a:r>
              <a:rPr sz="1050" spc="142" baseline="-15873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2F2F2F"/>
                </a:solidFill>
                <a:latin typeface="Arial"/>
                <a:cs typeface="Arial"/>
              </a:rPr>
              <a:t>=</a:t>
            </a:r>
            <a:r>
              <a:rPr sz="1100" spc="4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F2F2F"/>
                </a:solidFill>
                <a:latin typeface="Arial"/>
                <a:cs typeface="Arial"/>
              </a:rPr>
              <a:t>search</a:t>
            </a:r>
            <a:r>
              <a:rPr sz="1100" spc="-3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F2F2F"/>
                </a:solidFill>
                <a:latin typeface="Arial"/>
                <a:cs typeface="Arial"/>
              </a:rPr>
              <a:t>spend </a:t>
            </a:r>
            <a:r>
              <a:rPr sz="1100" dirty="0">
                <a:solidFill>
                  <a:srgbClr val="2F2F2F"/>
                </a:solidFill>
                <a:latin typeface="Arial"/>
                <a:cs typeface="Arial"/>
              </a:rPr>
              <a:t>X</a:t>
            </a:r>
            <a:r>
              <a:rPr sz="1050" baseline="-19841" dirty="0">
                <a:solidFill>
                  <a:srgbClr val="363F49"/>
                </a:solidFill>
                <a:latin typeface="Arial"/>
                <a:cs typeface="Arial"/>
              </a:rPr>
              <a:t>2</a:t>
            </a:r>
            <a:r>
              <a:rPr sz="1050" spc="89" baseline="-19841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63F49"/>
                </a:solidFill>
                <a:latin typeface="Arial"/>
                <a:cs typeface="Arial"/>
              </a:rPr>
              <a:t>=</a:t>
            </a:r>
            <a:r>
              <a:rPr sz="1100" spc="8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F2F2F"/>
                </a:solidFill>
                <a:latin typeface="Arial"/>
                <a:cs typeface="Arial"/>
              </a:rPr>
              <a:t>email</a:t>
            </a:r>
            <a:r>
              <a:rPr sz="1100" spc="-7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F2F2F"/>
                </a:solidFill>
                <a:latin typeface="Arial"/>
                <a:cs typeface="Arial"/>
              </a:rPr>
              <a:t>volume </a:t>
            </a:r>
            <a:r>
              <a:rPr sz="1250" spc="-190" dirty="0">
                <a:solidFill>
                  <a:srgbClr val="2F2F2F"/>
                </a:solidFill>
                <a:latin typeface="Times New Roman"/>
                <a:cs typeface="Times New Roman"/>
              </a:rPr>
              <a:t>Xa</a:t>
            </a:r>
            <a:r>
              <a:rPr sz="1250" spc="9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2F2F2F"/>
                </a:solidFill>
                <a:latin typeface="Arial"/>
                <a:cs typeface="Arial"/>
              </a:rPr>
              <a:t>=</a:t>
            </a:r>
            <a:r>
              <a:rPr sz="1100" spc="1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F2F2F"/>
                </a:solidFill>
                <a:latin typeface="Arial"/>
                <a:cs typeface="Arial"/>
              </a:rPr>
              <a:t>discount</a:t>
            </a:r>
            <a:r>
              <a:rPr sz="1100" spc="16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F2F2F"/>
                </a:solidFill>
                <a:latin typeface="Arial"/>
                <a:cs typeface="Arial"/>
              </a:rPr>
              <a:t>level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841855" y="5499871"/>
            <a:ext cx="193675" cy="677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spc="-1390" dirty="0">
                <a:solidFill>
                  <a:srgbClr val="2F2F2F"/>
                </a:solidFill>
                <a:latin typeface="Times New Roman"/>
                <a:cs typeface="Times New Roman"/>
              </a:rPr>
              <a:t>-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827905" y="5826683"/>
            <a:ext cx="187325" cy="3422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endParaRPr sz="500">
              <a:latin typeface="Times New Roman"/>
              <a:cs typeface="Times New Roman"/>
            </a:endParaRPr>
          </a:p>
          <a:p>
            <a:pPr marL="67310">
              <a:lnSpc>
                <a:spcPts val="165"/>
              </a:lnSpc>
            </a:pPr>
            <a:r>
              <a:rPr sz="500" i="1" spc="-25" dirty="0">
                <a:solidFill>
                  <a:srgbClr val="2F2F2F"/>
                </a:solidFill>
                <a:latin typeface="Verdana"/>
                <a:cs typeface="Verdana"/>
              </a:rPr>
              <a:t>U)</a:t>
            </a:r>
            <a:endParaRPr sz="500">
              <a:latin typeface="Verdana"/>
              <a:cs typeface="Verdana"/>
            </a:endParaRPr>
          </a:p>
          <a:p>
            <a:pPr marL="38100">
              <a:lnSpc>
                <a:spcPts val="1530"/>
              </a:lnSpc>
            </a:pPr>
            <a:r>
              <a:rPr sz="3075" spc="-675" baseline="-20325" dirty="0">
                <a:solidFill>
                  <a:srgbClr val="2F2F2F"/>
                </a:solidFill>
                <a:latin typeface="Times New Roman"/>
                <a:cs typeface="Times New Roman"/>
              </a:rPr>
              <a:t>-</a:t>
            </a:r>
            <a:r>
              <a:rPr sz="550" spc="-25" dirty="0">
                <a:solidFill>
                  <a:srgbClr val="2F2F2F"/>
                </a:solidFill>
                <a:latin typeface="Arial"/>
                <a:cs typeface="Arial"/>
              </a:rPr>
              <a:t>Q)</a:t>
            </a:r>
            <a:endParaRPr sz="5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5859125" y="6023557"/>
            <a:ext cx="589280" cy="5695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0" dirty="0">
                <a:solidFill>
                  <a:srgbClr val="2F2F2F"/>
                </a:solidFill>
                <a:latin typeface="Courier New"/>
                <a:cs typeface="Courier New"/>
              </a:rPr>
              <a:t>Y1"-</a:t>
            </a:r>
            <a:r>
              <a:rPr sz="1300" spc="50" dirty="0">
                <a:solidFill>
                  <a:srgbClr val="2F2F2F"/>
                </a:solidFill>
                <a:latin typeface="Courier New"/>
                <a:cs typeface="Courier New"/>
              </a:rPr>
              <a:t>.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100" spc="-25" dirty="0">
                <a:solidFill>
                  <a:srgbClr val="2F2F2F"/>
                </a:solidFill>
                <a:latin typeface="Arial"/>
                <a:cs typeface="Arial"/>
              </a:rPr>
              <a:t>X2</a:t>
            </a:r>
            <a:endParaRPr sz="11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882079" y="6129870"/>
            <a:ext cx="10541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25" dirty="0">
                <a:solidFill>
                  <a:srgbClr val="2F2F2F"/>
                </a:solidFill>
                <a:latin typeface="Arial"/>
                <a:cs typeface="Arial"/>
              </a:rPr>
              <a:t>«I</a:t>
            </a:r>
            <a:endParaRPr sz="6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882919" y="6208620"/>
            <a:ext cx="108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25" dirty="0">
                <a:solidFill>
                  <a:srgbClr val="2F2F2F"/>
                </a:solidFill>
                <a:latin typeface="Verdana"/>
                <a:cs typeface="Verdana"/>
              </a:rPr>
              <a:t>U)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859462" y="6247994"/>
            <a:ext cx="10668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i="1" spc="20" dirty="0">
                <a:solidFill>
                  <a:srgbClr val="2F2F2F"/>
                </a:solidFill>
                <a:latin typeface="Verdana"/>
                <a:cs typeface="Verdana"/>
              </a:rPr>
              <a:t>�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1854860" y="6303119"/>
            <a:ext cx="15303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80" dirty="0">
                <a:solidFill>
                  <a:srgbClr val="2F2F2F"/>
                </a:solidFill>
                <a:latin typeface="Arial"/>
                <a:cs typeface="Arial"/>
              </a:rPr>
              <a:t>&gt;-</a:t>
            </a:r>
            <a:endParaRPr sz="13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866994" y="6767743"/>
            <a:ext cx="214629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45" dirty="0">
                <a:solidFill>
                  <a:srgbClr val="2F2F2F"/>
                </a:solidFill>
                <a:latin typeface="Arial"/>
                <a:cs typeface="Arial"/>
              </a:rPr>
              <a:t>X3/</a:t>
            </a:r>
            <a:endParaRPr sz="11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2038215" y="7460741"/>
            <a:ext cx="2268220" cy="68389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0365" marR="406400" indent="17780" algn="ctr">
              <a:lnSpc>
                <a:spcPts val="1240"/>
              </a:lnSpc>
              <a:spcBef>
                <a:spcPts val="225"/>
              </a:spcBef>
            </a:pPr>
            <a:r>
              <a:rPr sz="1100" dirty="0">
                <a:solidFill>
                  <a:srgbClr val="2F2F2F"/>
                </a:solidFill>
                <a:latin typeface="Arial"/>
                <a:cs typeface="Arial"/>
              </a:rPr>
              <a:t>X</a:t>
            </a:r>
            <a:r>
              <a:rPr sz="1100" spc="-114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F2F2F"/>
                </a:solidFill>
                <a:latin typeface="Arial"/>
                <a:cs typeface="Arial"/>
              </a:rPr>
              <a:t>=</a:t>
            </a:r>
            <a:r>
              <a:rPr sz="1100" spc="-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2F2F2F"/>
                </a:solidFill>
                <a:latin typeface="Arial"/>
                <a:cs typeface="Arial"/>
              </a:rPr>
              <a:t>ad</a:t>
            </a:r>
            <a:r>
              <a:rPr sz="1100" spc="-9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F2F2F"/>
                </a:solidFill>
                <a:latin typeface="Arial"/>
                <a:cs typeface="Arial"/>
              </a:rPr>
              <a:t>spend </a:t>
            </a:r>
            <a:r>
              <a:rPr sz="1100" spc="10" dirty="0">
                <a:solidFill>
                  <a:srgbClr val="2F2F2F"/>
                </a:solidFill>
                <a:latin typeface="Arial"/>
                <a:cs typeface="Arial"/>
              </a:rPr>
              <a:t>(independent</a:t>
            </a:r>
            <a:r>
              <a:rPr sz="1100" spc="32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F2F2F"/>
                </a:solidFill>
                <a:latin typeface="Arial"/>
                <a:cs typeface="Arial"/>
              </a:rPr>
              <a:t>variable)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255"/>
              </a:spcBef>
              <a:tabLst>
                <a:tab pos="1352550" algn="l"/>
              </a:tabLst>
            </a:pPr>
            <a:r>
              <a:rPr sz="1100" spc="20" dirty="0">
                <a:solidFill>
                  <a:srgbClr val="2F2F2F"/>
                </a:solidFill>
                <a:latin typeface="Arial"/>
                <a:cs typeface="Arial"/>
              </a:rPr>
              <a:t>One</a:t>
            </a:r>
            <a:r>
              <a:rPr sz="1100" spc="3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2F2F2F"/>
                </a:solidFill>
                <a:latin typeface="Arial"/>
                <a:cs typeface="Arial"/>
              </a:rPr>
              <a:t>predictor</a:t>
            </a:r>
            <a:r>
              <a:rPr sz="1100" spc="10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F2F2F"/>
                </a:solidFill>
                <a:latin typeface="Arial"/>
                <a:cs typeface="Arial"/>
              </a:rPr>
              <a:t>-</a:t>
            </a:r>
            <a:r>
              <a:rPr sz="1100" dirty="0">
                <a:solidFill>
                  <a:srgbClr val="2F2F2F"/>
                </a:solidFill>
                <a:latin typeface="Arial"/>
                <a:cs typeface="Arial"/>
              </a:rPr>
              <a:t>	One</a:t>
            </a:r>
            <a:r>
              <a:rPr sz="1100" spc="2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F2F2F"/>
                </a:solidFill>
                <a:latin typeface="Arial"/>
                <a:cs typeface="Arial"/>
              </a:rPr>
              <a:t>outcome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520436" y="5470525"/>
            <a:ext cx="371475" cy="110934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25"/>
              </a:spcBef>
            </a:pPr>
            <a:r>
              <a:rPr sz="3950" u="heavy" spc="-180" dirty="0">
                <a:solidFill>
                  <a:srgbClr val="1A181A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950" u="heavy" spc="10" dirty="0">
                <a:solidFill>
                  <a:srgbClr val="1A181A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 </a:t>
            </a:r>
            <a:endParaRPr sz="3950">
              <a:latin typeface="Arial"/>
              <a:cs typeface="Arial"/>
            </a:endParaRPr>
          </a:p>
          <a:p>
            <a:pPr marR="635" algn="ctr">
              <a:lnSpc>
                <a:spcPct val="100000"/>
              </a:lnSpc>
              <a:spcBef>
                <a:spcPts val="565"/>
              </a:spcBef>
            </a:pPr>
            <a:r>
              <a:rPr sz="1500" spc="10" dirty="0">
                <a:solidFill>
                  <a:srgbClr val="1A181A"/>
                </a:solidFill>
                <a:latin typeface="Times New Roman"/>
                <a:cs typeface="Times New Roman"/>
              </a:rPr>
              <a:t>y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637672" y="6665368"/>
            <a:ext cx="145415" cy="6305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950" spc="10" dirty="0">
                <a:solidFill>
                  <a:srgbClr val="1A181A"/>
                </a:solidFill>
                <a:latin typeface="Arial"/>
                <a:cs typeface="Arial"/>
              </a:rPr>
              <a:t>l</a:t>
            </a:r>
            <a:endParaRPr sz="39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960627" y="7200867"/>
            <a:ext cx="1504950" cy="60071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69850" marR="67310" indent="1270" algn="ctr">
              <a:lnSpc>
                <a:spcPts val="1180"/>
              </a:lnSpc>
              <a:spcBef>
                <a:spcPts val="210"/>
              </a:spcBef>
            </a:pPr>
            <a:r>
              <a:rPr sz="1050" b="1" spc="-10" dirty="0">
                <a:solidFill>
                  <a:srgbClr val="2F2F2F"/>
                </a:solidFill>
                <a:latin typeface="Arial"/>
                <a:cs typeface="Arial"/>
              </a:rPr>
              <a:t>Revenue</a:t>
            </a:r>
            <a:r>
              <a:rPr sz="1050" b="1" spc="500" dirty="0">
                <a:solidFill>
                  <a:srgbClr val="2F2F2F"/>
                </a:solidFill>
                <a:latin typeface="Arial"/>
                <a:cs typeface="Arial"/>
              </a:rPr>
              <a:t>  </a:t>
            </a:r>
            <a:r>
              <a:rPr sz="1050" b="1" dirty="0">
                <a:solidFill>
                  <a:srgbClr val="2F2F2F"/>
                </a:solidFill>
                <a:latin typeface="Arial"/>
                <a:cs typeface="Arial"/>
              </a:rPr>
              <a:t>(dependent</a:t>
            </a:r>
            <a:r>
              <a:rPr sz="1050" b="1" spc="27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2F2F2F"/>
                </a:solidFill>
                <a:latin typeface="Arial"/>
                <a:cs typeface="Arial"/>
              </a:rPr>
              <a:t>variable)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1250" b="1" spc="-225" dirty="0">
                <a:solidFill>
                  <a:srgbClr val="2F2F2F"/>
                </a:solidFill>
                <a:latin typeface="Times New Roman"/>
                <a:cs typeface="Times New Roman"/>
              </a:rPr>
              <a:t>Y</a:t>
            </a:r>
            <a:r>
              <a:rPr sz="1250" b="1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2F2F2F"/>
                </a:solidFill>
                <a:latin typeface="Arial"/>
                <a:cs typeface="Arial"/>
              </a:rPr>
              <a:t>=</a:t>
            </a:r>
            <a:r>
              <a:rPr sz="1100" spc="12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250" b="1" spc="-250" dirty="0">
                <a:solidFill>
                  <a:srgbClr val="2F2F2F"/>
                </a:solidFill>
                <a:latin typeface="Times New Roman"/>
                <a:cs typeface="Times New Roman"/>
              </a:rPr>
              <a:t>130</a:t>
            </a:r>
            <a:r>
              <a:rPr sz="1250" b="1" spc="-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F2F2F"/>
                </a:solidFill>
                <a:latin typeface="Arial"/>
                <a:cs typeface="Arial"/>
              </a:rPr>
              <a:t>+</a:t>
            </a:r>
            <a:r>
              <a:rPr sz="1200" spc="-9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250" b="1" spc="-135" dirty="0">
                <a:solidFill>
                  <a:srgbClr val="2F2F2F"/>
                </a:solidFill>
                <a:latin typeface="Times New Roman"/>
                <a:cs typeface="Times New Roman"/>
              </a:rPr>
              <a:t>13,X,</a:t>
            </a:r>
            <a:r>
              <a:rPr sz="1250" b="1" spc="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F2F2F"/>
                </a:solidFill>
                <a:latin typeface="Arial"/>
                <a:cs typeface="Arial"/>
              </a:rPr>
              <a:t>+</a:t>
            </a:r>
            <a:r>
              <a:rPr sz="1200" spc="-16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250" b="1" spc="-240" dirty="0">
                <a:solidFill>
                  <a:srgbClr val="2F2F2F"/>
                </a:solidFill>
                <a:latin typeface="Times New Roman"/>
                <a:cs typeface="Times New Roman"/>
              </a:rPr>
              <a:t>132X2</a:t>
            </a:r>
            <a:r>
              <a:rPr sz="1250" b="1" spc="-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F2F2F"/>
                </a:solidFill>
                <a:latin typeface="Arial"/>
                <a:cs typeface="Arial"/>
              </a:rPr>
              <a:t>+</a:t>
            </a:r>
            <a:r>
              <a:rPr sz="1200" spc="-14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850" b="1" spc="-50" dirty="0">
                <a:solidFill>
                  <a:srgbClr val="2F2F2F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5259222" y="7948989"/>
            <a:ext cx="259461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691639" algn="l"/>
              </a:tabLst>
            </a:pPr>
            <a:r>
              <a:rPr sz="1100" spc="20" dirty="0">
                <a:solidFill>
                  <a:srgbClr val="2F2F2F"/>
                </a:solidFill>
                <a:latin typeface="Arial"/>
                <a:cs typeface="Arial"/>
              </a:rPr>
              <a:t>Multiple</a:t>
            </a:r>
            <a:r>
              <a:rPr sz="1100" spc="15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2F2F2F"/>
                </a:solidFill>
                <a:latin typeface="Arial"/>
                <a:cs typeface="Arial"/>
              </a:rPr>
              <a:t>predictors</a:t>
            </a:r>
            <a:r>
              <a:rPr sz="1100" spc="19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F2F2F"/>
                </a:solidFill>
                <a:latin typeface="Arial"/>
                <a:cs typeface="Arial"/>
              </a:rPr>
              <a:t>-</a:t>
            </a:r>
            <a:r>
              <a:rPr sz="1100" dirty="0">
                <a:solidFill>
                  <a:srgbClr val="2F2F2F"/>
                </a:solidFill>
                <a:latin typeface="Arial"/>
                <a:cs typeface="Arial"/>
              </a:rPr>
              <a:t>	One</a:t>
            </a:r>
            <a:r>
              <a:rPr sz="1100" spc="2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F2F2F"/>
                </a:solidFill>
                <a:latin typeface="Arial"/>
                <a:cs typeface="Arial"/>
              </a:rPr>
              <a:t>outcome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55331"/>
            <a:ext cx="409002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8052" y="1008087"/>
            <a:ext cx="2988865" cy="8347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1418" y="1055331"/>
            <a:ext cx="1400047" cy="7874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31651" y="5166072"/>
            <a:ext cx="534849" cy="6772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020325" y="6426067"/>
            <a:ext cx="0" cy="307340"/>
          </a:xfrm>
          <a:custGeom>
            <a:avLst/>
            <a:gdLst/>
            <a:ahLst/>
            <a:cxnLst/>
            <a:rect l="l" t="t" r="r" b="b"/>
            <a:pathLst>
              <a:path h="307340">
                <a:moveTo>
                  <a:pt x="0" y="307124"/>
                </a:moveTo>
                <a:lnTo>
                  <a:pt x="0" y="0"/>
                </a:lnTo>
              </a:path>
            </a:pathLst>
          </a:custGeom>
          <a:ln w="393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97866" y="4819571"/>
            <a:ext cx="0" cy="2221230"/>
          </a:xfrm>
          <a:custGeom>
            <a:avLst/>
            <a:gdLst/>
            <a:ahLst/>
            <a:cxnLst/>
            <a:rect l="l" t="t" r="r" b="b"/>
            <a:pathLst>
              <a:path h="2221229">
                <a:moveTo>
                  <a:pt x="0" y="2220744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26103" y="7843563"/>
            <a:ext cx="0" cy="504190"/>
          </a:xfrm>
          <a:custGeom>
            <a:avLst/>
            <a:gdLst/>
            <a:ahLst/>
            <a:cxnLst/>
            <a:rect l="l" t="t" r="r" b="b"/>
            <a:pathLst>
              <a:path h="504190">
                <a:moveTo>
                  <a:pt x="0" y="50399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13597" y="4323448"/>
            <a:ext cx="3641725" cy="0"/>
          </a:xfrm>
          <a:custGeom>
            <a:avLst/>
            <a:gdLst/>
            <a:ahLst/>
            <a:cxnLst/>
            <a:rect l="l" t="t" r="r" b="b"/>
            <a:pathLst>
              <a:path w="3641725">
                <a:moveTo>
                  <a:pt x="0" y="0"/>
                </a:moveTo>
                <a:lnTo>
                  <a:pt x="364169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32715" y="7441940"/>
            <a:ext cx="755650" cy="0"/>
          </a:xfrm>
          <a:custGeom>
            <a:avLst/>
            <a:gdLst/>
            <a:ahLst/>
            <a:cxnLst/>
            <a:rect l="l" t="t" r="r" b="b"/>
            <a:pathLst>
              <a:path w="755650">
                <a:moveTo>
                  <a:pt x="0" y="0"/>
                </a:moveTo>
                <a:lnTo>
                  <a:pt x="755081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52900" y="7843563"/>
            <a:ext cx="5081270" cy="0"/>
          </a:xfrm>
          <a:custGeom>
            <a:avLst/>
            <a:gdLst/>
            <a:ahLst/>
            <a:cxnLst/>
            <a:rect l="l" t="t" r="r" b="b"/>
            <a:pathLst>
              <a:path w="5081270">
                <a:moveTo>
                  <a:pt x="0" y="0"/>
                </a:moveTo>
                <a:lnTo>
                  <a:pt x="508106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56428" y="8323937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>
                <a:moveTo>
                  <a:pt x="0" y="0"/>
                </a:moveTo>
                <a:lnTo>
                  <a:pt x="393271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92298" y="8323937"/>
            <a:ext cx="598170" cy="0"/>
          </a:xfrm>
          <a:custGeom>
            <a:avLst/>
            <a:gdLst/>
            <a:ahLst/>
            <a:cxnLst/>
            <a:rect l="l" t="t" r="r" b="b"/>
            <a:pathLst>
              <a:path w="598170">
                <a:moveTo>
                  <a:pt x="0" y="0"/>
                </a:moveTo>
                <a:lnTo>
                  <a:pt x="597772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825452" y="1263135"/>
            <a:ext cx="202565" cy="5924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700" spc="40" dirty="0">
                <a:solidFill>
                  <a:srgbClr val="034D7E"/>
                </a:solidFill>
                <a:latin typeface="Times New Roman"/>
                <a:cs typeface="Times New Roman"/>
              </a:rPr>
              <a:t>•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60759" y="751261"/>
            <a:ext cx="213360" cy="611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50" spc="70" dirty="0">
                <a:solidFill>
                  <a:srgbClr val="034D7E"/>
                </a:solidFill>
                <a:latin typeface="Times New Roman"/>
                <a:cs typeface="Times New Roman"/>
              </a:rPr>
              <a:t>•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6800716" y="1058385"/>
            <a:ext cx="278003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640" dirty="0">
                <a:solidFill>
                  <a:srgbClr val="034D7E"/>
                </a:solidFill>
              </a:rPr>
              <a:t>ress1on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612636" y="3830376"/>
            <a:ext cx="3129915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b="1" spc="85" dirty="0">
                <a:solidFill>
                  <a:srgbClr val="333D4B"/>
                </a:solidFill>
                <a:latin typeface="Arial"/>
                <a:cs typeface="Arial"/>
              </a:rPr>
              <a:t>Logistic</a:t>
            </a:r>
            <a:r>
              <a:rPr sz="2450" b="1" spc="16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450" b="1" spc="-10" dirty="0">
                <a:solidFill>
                  <a:srgbClr val="333D4B"/>
                </a:solidFill>
                <a:latin typeface="Arial"/>
                <a:cs typeface="Arial"/>
              </a:rPr>
              <a:t>Regression</a:t>
            </a:r>
            <a:endParaRPr sz="24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3721" y="4595634"/>
            <a:ext cx="890269" cy="54864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50" spc="-10" dirty="0">
                <a:solidFill>
                  <a:srgbClr val="333D4B"/>
                </a:solidFill>
                <a:latin typeface="Times New Roman"/>
                <a:cs typeface="Times New Roman"/>
              </a:rPr>
              <a:t>Probabi</a:t>
            </a:r>
            <a:r>
              <a:rPr sz="1550" spc="-10" dirty="0">
                <a:solidFill>
                  <a:srgbClr val="151C2A"/>
                </a:solidFill>
                <a:latin typeface="Times New Roman"/>
                <a:cs typeface="Times New Roman"/>
              </a:rPr>
              <a:t>li</a:t>
            </a:r>
            <a:r>
              <a:rPr sz="1550" spc="-10" dirty="0">
                <a:solidFill>
                  <a:srgbClr val="333D4B"/>
                </a:solidFill>
                <a:latin typeface="Times New Roman"/>
                <a:cs typeface="Times New Roman"/>
              </a:rPr>
              <a:t>ty</a:t>
            </a:r>
            <a:endParaRPr sz="155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262D36"/>
                </a:solidFill>
                <a:latin typeface="Arial"/>
                <a:cs typeface="Arial"/>
              </a:rPr>
              <a:t>2:0.5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80860" y="5775496"/>
            <a:ext cx="969644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0" dirty="0">
                <a:solidFill>
                  <a:srgbClr val="262D36"/>
                </a:solidFill>
                <a:latin typeface="Times New Roman"/>
                <a:cs typeface="Times New Roman"/>
              </a:rPr>
              <a:t>Probability</a:t>
            </a:r>
            <a:endParaRPr sz="1550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25"/>
              </a:spcBef>
            </a:pPr>
            <a:r>
              <a:rPr sz="1250" spc="-114" dirty="0">
                <a:solidFill>
                  <a:srgbClr val="151C2A"/>
                </a:solidFill>
                <a:latin typeface="Arial"/>
                <a:cs typeface="Arial"/>
              </a:rPr>
              <a:t>2:</a:t>
            </a:r>
            <a:r>
              <a:rPr sz="1250" spc="-90" dirty="0">
                <a:solidFill>
                  <a:srgbClr val="151C2A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262D36"/>
                </a:solidFill>
                <a:latin typeface="Arial"/>
                <a:cs typeface="Arial"/>
              </a:rPr>
              <a:t>0.5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72305" y="6748056"/>
            <a:ext cx="1811655" cy="516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1870"/>
              </a:lnSpc>
              <a:spcBef>
                <a:spcPts val="105"/>
              </a:spcBef>
              <a:tabLst>
                <a:tab pos="1228725" algn="l"/>
                <a:tab pos="1615440" algn="l"/>
              </a:tabLst>
            </a:pPr>
            <a:r>
              <a:rPr sz="2325" spc="-15" baseline="1792" dirty="0">
                <a:solidFill>
                  <a:srgbClr val="6B3336"/>
                </a:solidFill>
                <a:latin typeface="Times New Roman"/>
                <a:cs typeface="Times New Roman"/>
              </a:rPr>
              <a:t>Probability</a:t>
            </a:r>
            <a:r>
              <a:rPr sz="2325" baseline="1792" dirty="0">
                <a:solidFill>
                  <a:srgbClr val="6B3336"/>
                </a:solidFill>
                <a:latin typeface="Times New Roman"/>
                <a:cs typeface="Times New Roman"/>
              </a:rPr>
              <a:t>	</a:t>
            </a:r>
            <a:r>
              <a:rPr sz="1700" spc="-425" dirty="0">
                <a:solidFill>
                  <a:srgbClr val="333D4B"/>
                </a:solidFill>
                <a:latin typeface="Times New Roman"/>
                <a:cs typeface="Times New Roman"/>
              </a:rPr>
              <a:t>0</a:t>
            </a:r>
            <a:r>
              <a:rPr sz="1700" dirty="0">
                <a:solidFill>
                  <a:srgbClr val="333D4B"/>
                </a:solidFill>
                <a:latin typeface="Times New Roman"/>
                <a:cs typeface="Times New Roman"/>
              </a:rPr>
              <a:t>	</a:t>
            </a:r>
            <a:r>
              <a:rPr sz="1400" b="1" u="sng" spc="-465" dirty="0">
                <a:solidFill>
                  <a:srgbClr val="834648"/>
                </a:solidFill>
                <a:uFill>
                  <a:solidFill>
                    <a:srgbClr val="834648"/>
                  </a:solidFill>
                </a:uFill>
                <a:latin typeface="Arial"/>
                <a:cs typeface="Arial"/>
              </a:rPr>
              <a:t>X</a:t>
            </a:r>
            <a:r>
              <a:rPr sz="1400" b="1" u="sng" spc="500" dirty="0">
                <a:solidFill>
                  <a:srgbClr val="834648"/>
                </a:solidFill>
                <a:uFill>
                  <a:solidFill>
                    <a:srgbClr val="834648"/>
                  </a:solidFill>
                </a:u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  <a:p>
            <a:pPr marL="494665">
              <a:lnSpc>
                <a:spcPts val="1989"/>
              </a:lnSpc>
              <a:tabLst>
                <a:tab pos="1459230" algn="l"/>
              </a:tabLst>
            </a:pPr>
            <a:r>
              <a:rPr sz="1400" spc="160" dirty="0">
                <a:solidFill>
                  <a:srgbClr val="6B3336"/>
                </a:solidFill>
                <a:latin typeface="Arial"/>
                <a:cs typeface="Arial"/>
              </a:rPr>
              <a:t>&lt;0.5</a:t>
            </a:r>
            <a:r>
              <a:rPr sz="1400" dirty="0">
                <a:solidFill>
                  <a:srgbClr val="6B3336"/>
                </a:solidFill>
                <a:latin typeface="Arial"/>
                <a:cs typeface="Arial"/>
              </a:rPr>
              <a:t>	</a:t>
            </a:r>
            <a:r>
              <a:rPr sz="2700" spc="82" baseline="-15432" dirty="0">
                <a:solidFill>
                  <a:srgbClr val="333D4B"/>
                </a:solidFill>
                <a:latin typeface="Courier New"/>
                <a:cs typeface="Courier New"/>
              </a:rPr>
              <a:t>-</a:t>
            </a:r>
            <a:r>
              <a:rPr sz="2700" spc="7" baseline="-15432" dirty="0">
                <a:solidFill>
                  <a:srgbClr val="333D4B"/>
                </a:solidFill>
                <a:latin typeface="Courier New"/>
                <a:cs typeface="Courier New"/>
              </a:rPr>
              <a:t>4</a:t>
            </a:r>
            <a:endParaRPr sz="2700" baseline="-15432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16432" y="4535187"/>
            <a:ext cx="2736215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467359" algn="l"/>
                <a:tab pos="857250" algn="l"/>
                <a:tab pos="1176020" algn="l"/>
              </a:tabLst>
            </a:pPr>
            <a:r>
              <a:rPr sz="2300" spc="254" dirty="0">
                <a:solidFill>
                  <a:srgbClr val="333D4B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srgbClr val="333D4B"/>
                </a:solidFill>
                <a:latin typeface="Arial"/>
                <a:cs typeface="Arial"/>
              </a:rPr>
              <a:t>	</a:t>
            </a:r>
            <a:r>
              <a:rPr sz="1550" spc="250" dirty="0">
                <a:solidFill>
                  <a:srgbClr val="333D4B"/>
                </a:solidFill>
                <a:latin typeface="Arial"/>
                <a:cs typeface="Arial"/>
              </a:rPr>
              <a:t>O</a:t>
            </a:r>
            <a:r>
              <a:rPr sz="1550" dirty="0">
                <a:solidFill>
                  <a:srgbClr val="333D4B"/>
                </a:solidFill>
                <a:latin typeface="Arial"/>
                <a:cs typeface="Arial"/>
              </a:rPr>
              <a:t>	</a:t>
            </a:r>
            <a:r>
              <a:rPr sz="1550" spc="250" dirty="0">
                <a:solidFill>
                  <a:srgbClr val="333D4B"/>
                </a:solidFill>
                <a:latin typeface="Arial"/>
                <a:cs typeface="Arial"/>
              </a:rPr>
              <a:t>O</a:t>
            </a:r>
            <a:r>
              <a:rPr sz="1550" dirty="0">
                <a:solidFill>
                  <a:srgbClr val="333D4B"/>
                </a:solidFill>
                <a:latin typeface="Arial"/>
                <a:cs typeface="Arial"/>
              </a:rPr>
              <a:t>	</a:t>
            </a:r>
            <a:r>
              <a:rPr sz="2600" spc="185" dirty="0">
                <a:solidFill>
                  <a:srgbClr val="6790AF"/>
                </a:solidFill>
                <a:latin typeface="Arial"/>
                <a:cs typeface="Arial"/>
              </a:rPr>
              <a:t>!.</a:t>
            </a:r>
            <a:r>
              <a:rPr sz="2600" spc="325" dirty="0">
                <a:solidFill>
                  <a:srgbClr val="6790A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333D4B"/>
                </a:solidFill>
                <a:latin typeface="Arial"/>
                <a:cs typeface="Arial"/>
              </a:rPr>
              <a:t>Class</a:t>
            </a:r>
            <a:r>
              <a:rPr sz="1550" spc="-10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62D36"/>
                </a:solidFill>
                <a:latin typeface="Arial"/>
                <a:cs typeface="Arial"/>
              </a:rPr>
              <a:t>1</a:t>
            </a:r>
            <a:r>
              <a:rPr sz="1550" spc="130" dirty="0">
                <a:solidFill>
                  <a:srgbClr val="262D36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333D4B"/>
                </a:solidFill>
                <a:latin typeface="Arial"/>
                <a:cs typeface="Arial"/>
              </a:rPr>
              <a:t>(Yes)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40064" y="4842311"/>
            <a:ext cx="19526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939289" algn="l"/>
              </a:tabLst>
            </a:pPr>
            <a:r>
              <a:rPr sz="1550" dirty="0">
                <a:solidFill>
                  <a:srgbClr val="333D4B"/>
                </a:solidFill>
                <a:latin typeface="Arial"/>
                <a:cs typeface="Arial"/>
              </a:rPr>
              <a:t>0</a:t>
            </a:r>
            <a:r>
              <a:rPr sz="1550" spc="38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1550" u="heavy" dirty="0">
                <a:solidFill>
                  <a:srgbClr val="333D4B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49139" y="5011623"/>
            <a:ext cx="481965" cy="564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4015" algn="l"/>
              </a:tabLst>
            </a:pPr>
            <a:r>
              <a:rPr sz="1550" spc="-50" dirty="0">
                <a:solidFill>
                  <a:srgbClr val="333D4B"/>
                </a:solidFill>
                <a:latin typeface="Arial"/>
                <a:cs typeface="Arial"/>
              </a:rPr>
              <a:t>0</a:t>
            </a:r>
            <a:r>
              <a:rPr sz="1550" dirty="0">
                <a:solidFill>
                  <a:srgbClr val="333D4B"/>
                </a:solidFill>
                <a:latin typeface="Arial"/>
                <a:cs typeface="Arial"/>
              </a:rPr>
              <a:t>	</a:t>
            </a:r>
            <a:r>
              <a:rPr sz="1550" spc="-70" dirty="0">
                <a:solidFill>
                  <a:srgbClr val="333D4B"/>
                </a:solidFill>
                <a:latin typeface="Arial"/>
                <a:cs typeface="Arial"/>
              </a:rPr>
              <a:t>0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950" spc="-25" dirty="0">
                <a:solidFill>
                  <a:srgbClr val="333D4B"/>
                </a:solidFill>
                <a:latin typeface="Courier New"/>
                <a:cs typeface="Courier New"/>
              </a:rPr>
              <a:t>Oo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62500" y="5543184"/>
            <a:ext cx="54419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21640" algn="l"/>
              </a:tabLst>
            </a:pPr>
            <a:r>
              <a:rPr sz="1550" spc="-50" dirty="0">
                <a:solidFill>
                  <a:srgbClr val="333D4B"/>
                </a:solidFill>
                <a:latin typeface="Arial"/>
                <a:cs typeface="Arial"/>
              </a:rPr>
              <a:t>0</a:t>
            </a:r>
            <a:r>
              <a:rPr sz="1550" dirty="0">
                <a:solidFill>
                  <a:srgbClr val="333D4B"/>
                </a:solidFill>
                <a:latin typeface="Arial"/>
                <a:cs typeface="Arial"/>
              </a:rPr>
              <a:t>	</a:t>
            </a:r>
            <a:r>
              <a:rPr sz="1550" spc="-50" dirty="0">
                <a:solidFill>
                  <a:srgbClr val="333D4B"/>
                </a:solidFill>
                <a:latin typeface="Arial"/>
                <a:cs typeface="Arial"/>
              </a:rPr>
              <a:t>0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53373" y="6023558"/>
            <a:ext cx="61594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50" dirty="0">
                <a:solidFill>
                  <a:srgbClr val="333D4B"/>
                </a:solidFill>
                <a:latin typeface="Times New Roman"/>
                <a:cs typeface="Times New Roman"/>
              </a:rPr>
              <a:t>I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78986" y="5779433"/>
            <a:ext cx="3174365" cy="855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84175" algn="l"/>
                <a:tab pos="715645" algn="l"/>
              </a:tabLst>
            </a:pPr>
            <a:r>
              <a:rPr sz="1550" u="dbl" spc="130" dirty="0">
                <a:solidFill>
                  <a:srgbClr val="333D4B"/>
                </a:solidFill>
                <a:uFill>
                  <a:solidFill>
                    <a:srgbClr val="333D4B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1550" u="none" dirty="0">
                <a:solidFill>
                  <a:srgbClr val="333D4B"/>
                </a:solidFill>
                <a:latin typeface="Times New Roman"/>
                <a:cs typeface="Times New Roman"/>
              </a:rPr>
              <a:t>	</a:t>
            </a:r>
            <a:r>
              <a:rPr sz="1450" i="1" u="dbl" spc="65" dirty="0">
                <a:solidFill>
                  <a:srgbClr val="333D4B"/>
                </a:solidFill>
                <a:uFill>
                  <a:solidFill>
                    <a:srgbClr val="333D4B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1450" i="1" u="dbl" spc="325" dirty="0">
                <a:solidFill>
                  <a:srgbClr val="333D4B"/>
                </a:solidFill>
                <a:uFill>
                  <a:solidFill>
                    <a:srgbClr val="333D4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50" i="1" u="none" dirty="0">
                <a:solidFill>
                  <a:srgbClr val="333D4B"/>
                </a:solidFill>
                <a:latin typeface="Times New Roman"/>
                <a:cs typeface="Times New Roman"/>
              </a:rPr>
              <a:t>	</a:t>
            </a:r>
            <a:r>
              <a:rPr sz="1450" u="sng" spc="400" dirty="0">
                <a:solidFill>
                  <a:srgbClr val="333D4B"/>
                </a:solidFill>
                <a:uFill>
                  <a:solidFill>
                    <a:srgbClr val="323C4A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50" u="sng" spc="430" dirty="0">
                <a:solidFill>
                  <a:srgbClr val="333D4B"/>
                </a:solidFill>
                <a:uFill>
                  <a:solidFill>
                    <a:srgbClr val="323C4A"/>
                  </a:solidFill>
                </a:uFill>
                <a:latin typeface="Times New Roman"/>
                <a:cs typeface="Times New Roman"/>
              </a:rPr>
              <a:t>•</a:t>
            </a:r>
            <a:r>
              <a:rPr sz="1450" u="none" spc="430" dirty="0">
                <a:solidFill>
                  <a:srgbClr val="333D4B"/>
                </a:solidFill>
                <a:latin typeface="Times New Roman"/>
                <a:cs typeface="Times New Roman"/>
              </a:rPr>
              <a:t>-</a:t>
            </a:r>
            <a:r>
              <a:rPr sz="1450" u="none" spc="415" dirty="0">
                <a:solidFill>
                  <a:srgbClr val="333D4B"/>
                </a:solidFill>
                <a:latin typeface="Times New Roman"/>
                <a:cs typeface="Times New Roman"/>
              </a:rPr>
              <a:t>---</a:t>
            </a:r>
            <a:r>
              <a:rPr sz="650" u="none" spc="595" dirty="0">
                <a:solidFill>
                  <a:srgbClr val="333D4B"/>
                </a:solidFill>
                <a:latin typeface="Arial"/>
                <a:cs typeface="Arial"/>
              </a:rPr>
              <a:t>►</a:t>
            </a:r>
            <a:r>
              <a:rPr sz="650" u="none" spc="29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1550" u="none" spc="-10" dirty="0">
                <a:solidFill>
                  <a:srgbClr val="262D36"/>
                </a:solidFill>
                <a:latin typeface="Times New Roman"/>
                <a:cs typeface="Times New Roman"/>
              </a:rPr>
              <a:t>Decision</a:t>
            </a:r>
            <a:r>
              <a:rPr sz="1550" u="none" spc="204" dirty="0">
                <a:solidFill>
                  <a:srgbClr val="262D36"/>
                </a:solidFill>
                <a:latin typeface="Times New Roman"/>
                <a:cs typeface="Times New Roman"/>
              </a:rPr>
              <a:t> </a:t>
            </a:r>
            <a:r>
              <a:rPr sz="1550" u="none" dirty="0">
                <a:solidFill>
                  <a:srgbClr val="262D36"/>
                </a:solidFill>
                <a:latin typeface="Times New Roman"/>
                <a:cs typeface="Times New Roman"/>
              </a:rPr>
              <a:t>Boundary</a:t>
            </a:r>
            <a:endParaRPr sz="155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1155"/>
              </a:spcBef>
              <a:tabLst>
                <a:tab pos="366395" algn="l"/>
              </a:tabLst>
            </a:pPr>
            <a:r>
              <a:rPr sz="1200" spc="-25" dirty="0">
                <a:solidFill>
                  <a:srgbClr val="834648"/>
                </a:solidFill>
                <a:latin typeface="Arial"/>
                <a:cs typeface="Arial"/>
              </a:rPr>
              <a:t>)(</a:t>
            </a:r>
            <a:r>
              <a:rPr sz="1200" dirty="0">
                <a:solidFill>
                  <a:srgbClr val="834648"/>
                </a:solidFill>
                <a:latin typeface="Arial"/>
                <a:cs typeface="Arial"/>
              </a:rPr>
              <a:t>	</a:t>
            </a:r>
            <a:r>
              <a:rPr sz="1200" spc="-25" dirty="0">
                <a:solidFill>
                  <a:srgbClr val="834648"/>
                </a:solidFill>
                <a:latin typeface="Arial"/>
                <a:cs typeface="Arial"/>
              </a:rPr>
              <a:t>)(</a:t>
            </a:r>
            <a:endParaRPr sz="1200">
              <a:latin typeface="Arial"/>
              <a:cs typeface="Arial"/>
            </a:endParaRPr>
          </a:p>
          <a:p>
            <a:pPr marL="429259">
              <a:lnSpc>
                <a:spcPct val="100000"/>
              </a:lnSpc>
              <a:spcBef>
                <a:spcPts val="969"/>
              </a:spcBef>
            </a:pPr>
            <a:r>
              <a:rPr sz="900" i="1" spc="305" dirty="0">
                <a:solidFill>
                  <a:srgbClr val="346493"/>
                </a:solidFill>
                <a:latin typeface="Times New Roman"/>
                <a:cs typeface="Times New Roman"/>
              </a:rPr>
              <a:t>I</a:t>
            </a:r>
            <a:r>
              <a:rPr sz="900" i="1" spc="305" dirty="0">
                <a:solidFill>
                  <a:srgbClr val="85AECD"/>
                </a:solidFill>
                <a:latin typeface="Times New Roman"/>
                <a:cs typeface="Times New Roman"/>
              </a:rPr>
              <a:t>i'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78180" y="6472432"/>
            <a:ext cx="1035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34648"/>
                </a:solidFill>
                <a:latin typeface="Times New Roman"/>
                <a:cs typeface="Times New Roman"/>
              </a:rPr>
              <a:t>)(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13030" y="6472432"/>
            <a:ext cx="1035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34648"/>
                </a:solidFill>
                <a:latin typeface="Times New Roman"/>
                <a:cs typeface="Times New Roman"/>
              </a:rPr>
              <a:t>)(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90045" y="6472432"/>
            <a:ext cx="43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0" dirty="0">
                <a:solidFill>
                  <a:srgbClr val="333D4B"/>
                </a:solidFill>
                <a:latin typeface="Times New Roman"/>
                <a:cs typeface="Times New Roman"/>
              </a:rPr>
              <a:t>: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28774" y="6015682"/>
            <a:ext cx="111760" cy="765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-50" dirty="0">
                <a:solidFill>
                  <a:srgbClr val="333D4B"/>
                </a:solidFill>
                <a:latin typeface="Arial"/>
                <a:cs typeface="Arial"/>
              </a:rPr>
              <a:t>:</a:t>
            </a:r>
            <a:endParaRPr sz="235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2065"/>
              </a:spcBef>
            </a:pPr>
            <a:r>
              <a:rPr sz="750" spc="-50" dirty="0">
                <a:solidFill>
                  <a:srgbClr val="333D4B"/>
                </a:solidFill>
                <a:latin typeface="Arial"/>
                <a:cs typeface="Arial"/>
              </a:rPr>
              <a:t>I</a:t>
            </a:r>
            <a:endParaRPr sz="7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32001" y="6637806"/>
            <a:ext cx="62230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-80" dirty="0">
                <a:solidFill>
                  <a:srgbClr val="834648"/>
                </a:solidFill>
                <a:latin typeface="Arial"/>
                <a:cs typeface="Arial"/>
              </a:rPr>
              <a:t>)(</a:t>
            </a:r>
            <a:endParaRPr sz="7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53569" y="6740181"/>
            <a:ext cx="43815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-55" dirty="0">
                <a:solidFill>
                  <a:srgbClr val="333D4B"/>
                </a:solidFill>
                <a:latin typeface="Times New Roman"/>
                <a:cs typeface="Times New Roman"/>
              </a:rPr>
              <a:t>I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50363" y="6783493"/>
            <a:ext cx="32200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206750" algn="l"/>
              </a:tabLst>
            </a:pPr>
            <a:r>
              <a:rPr sz="1400" b="1" u="heavy" dirty="0">
                <a:solidFill>
                  <a:srgbClr val="83464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525892" y="4098125"/>
            <a:ext cx="8432165" cy="21018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15"/>
              </a:spcBef>
            </a:pPr>
            <a:r>
              <a:rPr sz="4450" spc="90" dirty="0">
                <a:solidFill>
                  <a:srgbClr val="034D7E"/>
                </a:solidFill>
                <a:latin typeface="Times New Roman"/>
                <a:cs typeface="Times New Roman"/>
              </a:rPr>
              <a:t>Predicting</a:t>
            </a:r>
            <a:r>
              <a:rPr sz="4450" spc="70" dirty="0">
                <a:solidFill>
                  <a:srgbClr val="034D7E"/>
                </a:solidFill>
                <a:latin typeface="Times New Roman"/>
                <a:cs typeface="Times New Roman"/>
              </a:rPr>
              <a:t> </a:t>
            </a:r>
            <a:r>
              <a:rPr sz="4450" spc="125" dirty="0">
                <a:solidFill>
                  <a:srgbClr val="034D7E"/>
                </a:solidFill>
                <a:latin typeface="Times New Roman"/>
                <a:cs typeface="Times New Roman"/>
              </a:rPr>
              <a:t>Customer</a:t>
            </a:r>
            <a:r>
              <a:rPr sz="4450" spc="100" dirty="0">
                <a:solidFill>
                  <a:srgbClr val="034D7E"/>
                </a:solidFill>
                <a:latin typeface="Times New Roman"/>
                <a:cs typeface="Times New Roman"/>
              </a:rPr>
              <a:t> Churn</a:t>
            </a:r>
            <a:endParaRPr sz="4450">
              <a:latin typeface="Times New Roman"/>
              <a:cs typeface="Times New Roman"/>
            </a:endParaRPr>
          </a:p>
          <a:p>
            <a:pPr marL="17780" marR="5080" indent="-5715">
              <a:lnSpc>
                <a:spcPct val="140400"/>
              </a:lnSpc>
              <a:spcBef>
                <a:spcPts val="2055"/>
              </a:spcBef>
            </a:pPr>
            <a:r>
              <a:rPr sz="2650" dirty="0">
                <a:solidFill>
                  <a:srgbClr val="333D4B"/>
                </a:solidFill>
                <a:latin typeface="Arial"/>
                <a:cs typeface="Arial"/>
              </a:rPr>
              <a:t>By</a:t>
            </a:r>
            <a:r>
              <a:rPr sz="2650" spc="12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100" dirty="0">
                <a:solidFill>
                  <a:srgbClr val="333D4B"/>
                </a:solidFill>
                <a:latin typeface="Arial"/>
                <a:cs typeface="Arial"/>
              </a:rPr>
              <a:t>defining</a:t>
            </a:r>
            <a:r>
              <a:rPr sz="2650" spc="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33D4B"/>
                </a:solidFill>
                <a:latin typeface="Arial"/>
                <a:cs typeface="Arial"/>
              </a:rPr>
              <a:t>ChurnBinary,</a:t>
            </a:r>
            <a:r>
              <a:rPr sz="2550" spc="254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333D4B"/>
                </a:solidFill>
                <a:latin typeface="Arial"/>
                <a:cs typeface="Arial"/>
              </a:rPr>
              <a:t>we</a:t>
            </a:r>
            <a:r>
              <a:rPr sz="2650" spc="10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155" dirty="0">
                <a:solidFill>
                  <a:srgbClr val="333D4B"/>
                </a:solidFill>
                <a:latin typeface="Arial"/>
                <a:cs typeface="Arial"/>
              </a:rPr>
              <a:t>modeled</a:t>
            </a:r>
            <a:r>
              <a:rPr sz="2650" spc="20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130" dirty="0">
                <a:solidFill>
                  <a:srgbClr val="333D4B"/>
                </a:solidFill>
                <a:latin typeface="Arial"/>
                <a:cs typeface="Arial"/>
              </a:rPr>
              <a:t>the</a:t>
            </a:r>
            <a:r>
              <a:rPr sz="2650" spc="229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120" dirty="0">
                <a:solidFill>
                  <a:srgbClr val="333D4B"/>
                </a:solidFill>
                <a:latin typeface="Arial"/>
                <a:cs typeface="Arial"/>
              </a:rPr>
              <a:t>probability </a:t>
            </a:r>
            <a:r>
              <a:rPr sz="2650" spc="70" dirty="0">
                <a:solidFill>
                  <a:srgbClr val="333D4B"/>
                </a:solidFill>
                <a:latin typeface="Arial"/>
                <a:cs typeface="Arial"/>
              </a:rPr>
              <a:t>of</a:t>
            </a:r>
            <a:r>
              <a:rPr sz="2650" spc="12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333D4B"/>
                </a:solidFill>
                <a:latin typeface="Arial"/>
                <a:cs typeface="Arial"/>
              </a:rPr>
              <a:t>a</a:t>
            </a:r>
            <a:r>
              <a:rPr sz="2650" spc="9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150" dirty="0">
                <a:solidFill>
                  <a:srgbClr val="333D4B"/>
                </a:solidFill>
                <a:latin typeface="Arial"/>
                <a:cs typeface="Arial"/>
              </a:rPr>
              <a:t>customer</a:t>
            </a:r>
            <a:r>
              <a:rPr sz="2650" spc="19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75" dirty="0">
                <a:solidFill>
                  <a:srgbClr val="333D4B"/>
                </a:solidFill>
                <a:latin typeface="Arial"/>
                <a:cs typeface="Arial"/>
              </a:rPr>
              <a:t>leaving</a:t>
            </a:r>
            <a:r>
              <a:rPr sz="2650" spc="-9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333D4B"/>
                </a:solidFill>
                <a:latin typeface="Arial"/>
                <a:cs typeface="Arial"/>
              </a:rPr>
              <a:t>using</a:t>
            </a:r>
            <a:r>
              <a:rPr sz="2650" spc="-2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333D4B"/>
                </a:solidFill>
                <a:latin typeface="Arial"/>
                <a:cs typeface="Arial"/>
              </a:rPr>
              <a:t>a</a:t>
            </a:r>
            <a:r>
              <a:rPr sz="2650" spc="2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90" dirty="0">
                <a:solidFill>
                  <a:srgbClr val="333D4B"/>
                </a:solidFill>
                <a:latin typeface="Arial"/>
                <a:cs typeface="Arial"/>
              </a:rPr>
              <a:t>binomial</a:t>
            </a:r>
            <a:r>
              <a:rPr sz="2650" spc="10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333D4B"/>
                </a:solidFill>
                <a:latin typeface="Arial"/>
                <a:cs typeface="Arial"/>
              </a:rPr>
              <a:t>link</a:t>
            </a:r>
            <a:r>
              <a:rPr sz="2650" spc="6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114" dirty="0">
                <a:solidFill>
                  <a:srgbClr val="333D4B"/>
                </a:solidFill>
                <a:latin typeface="Arial"/>
                <a:cs typeface="Arial"/>
              </a:rPr>
              <a:t>function.</a:t>
            </a:r>
            <a:endParaRPr sz="26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00323" y="5236060"/>
            <a:ext cx="168656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254" dirty="0">
                <a:solidFill>
                  <a:srgbClr val="333D4B"/>
                </a:solidFill>
                <a:latin typeface="Times New Roman"/>
                <a:cs typeface="Times New Roman"/>
              </a:rPr>
              <a:t>"-</a:t>
            </a:r>
            <a:r>
              <a:rPr sz="1550" spc="229" dirty="0">
                <a:solidFill>
                  <a:srgbClr val="333D4B"/>
                </a:solidFill>
                <a:latin typeface="Times New Roman"/>
                <a:cs typeface="Times New Roman"/>
              </a:rPr>
              <a:t>--</a:t>
            </a:r>
            <a:r>
              <a:rPr sz="1550" spc="-225" dirty="0">
                <a:solidFill>
                  <a:srgbClr val="333D4B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62D36"/>
                </a:solidFill>
                <a:latin typeface="Times New Roman"/>
                <a:cs typeface="Times New Roman"/>
              </a:rPr>
              <a:t>Sigmoid</a:t>
            </a:r>
            <a:r>
              <a:rPr sz="1550" spc="195" dirty="0">
                <a:solidFill>
                  <a:srgbClr val="262D36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262D36"/>
                </a:solidFill>
                <a:latin typeface="Times New Roman"/>
                <a:cs typeface="Times New Roman"/>
              </a:rPr>
              <a:t>Curve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79033" y="6279494"/>
            <a:ext cx="12128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262D36"/>
                </a:solidFill>
                <a:latin typeface="Arial"/>
                <a:cs typeface="Arial"/>
              </a:rPr>
              <a:t>Class</a:t>
            </a:r>
            <a:r>
              <a:rPr sz="1400" b="1" spc="125" dirty="0">
                <a:solidFill>
                  <a:srgbClr val="262D36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333D4B"/>
                </a:solidFill>
                <a:latin typeface="Arial"/>
                <a:cs typeface="Arial"/>
              </a:rPr>
              <a:t>O</a:t>
            </a:r>
            <a:r>
              <a:rPr sz="1400" b="1" spc="7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1400" b="1" spc="145" dirty="0">
                <a:solidFill>
                  <a:srgbClr val="262D36"/>
                </a:solidFill>
                <a:latin typeface="Arial"/>
                <a:cs typeface="Arial"/>
              </a:rPr>
              <a:t>(No)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57779" y="6448807"/>
            <a:ext cx="198755" cy="493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i="1" spc="-50" dirty="0">
                <a:solidFill>
                  <a:srgbClr val="494F56"/>
                </a:solidFill>
                <a:latin typeface="Verdana"/>
                <a:cs typeface="Verdana"/>
              </a:rPr>
              <a:t>)</a:t>
            </a:r>
            <a:endParaRPr sz="305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56569" y="7027618"/>
            <a:ext cx="32194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85" dirty="0">
                <a:solidFill>
                  <a:srgbClr val="60605E"/>
                </a:solidFill>
                <a:latin typeface="Courier New"/>
                <a:cs typeface="Courier New"/>
              </a:rPr>
              <a:t>-</a:t>
            </a:r>
            <a:r>
              <a:rPr sz="1800" spc="35" dirty="0">
                <a:solidFill>
                  <a:srgbClr val="262D36"/>
                </a:solidFill>
                <a:latin typeface="Courier New"/>
                <a:cs typeface="Courier New"/>
              </a:rPr>
              <a:t>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86889" y="7157555"/>
            <a:ext cx="10210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10" dirty="0">
                <a:solidFill>
                  <a:srgbClr val="262D36"/>
                </a:solidFill>
                <a:latin typeface="Times New Roman"/>
                <a:cs typeface="Times New Roman"/>
              </a:rPr>
              <a:t>Linear</a:t>
            </a:r>
            <a:r>
              <a:rPr sz="1550" spc="-80" dirty="0">
                <a:solidFill>
                  <a:srgbClr val="262D36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333D4B"/>
                </a:solidFill>
                <a:latin typeface="Times New Roman"/>
                <a:cs typeface="Times New Roman"/>
              </a:rPr>
              <a:t>Sco</a:t>
            </a:r>
            <a:r>
              <a:rPr sz="1550" spc="-20" dirty="0">
                <a:solidFill>
                  <a:srgbClr val="151C2A"/>
                </a:solidFill>
                <a:latin typeface="Times New Roman"/>
                <a:cs typeface="Times New Roman"/>
              </a:rPr>
              <a:t>re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850848" y="7036225"/>
            <a:ext cx="1823085" cy="5080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376555" algn="ctr">
              <a:lnSpc>
                <a:spcPct val="100000"/>
              </a:lnSpc>
              <a:spcBef>
                <a:spcPts val="280"/>
              </a:spcBef>
            </a:pPr>
            <a:r>
              <a:rPr sz="1550" spc="-50" dirty="0">
                <a:solidFill>
                  <a:srgbClr val="262D36"/>
                </a:solidFill>
                <a:latin typeface="Arial"/>
                <a:cs typeface="Arial"/>
              </a:rPr>
              <a:t>0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  <a:tabLst>
                <a:tab pos="1678939" algn="l"/>
              </a:tabLst>
            </a:pPr>
            <a:r>
              <a:rPr sz="1300" dirty="0">
                <a:solidFill>
                  <a:srgbClr val="262D36"/>
                </a:solidFill>
                <a:latin typeface="Arial"/>
                <a:cs typeface="Arial"/>
              </a:rPr>
              <a:t>De</a:t>
            </a:r>
            <a:r>
              <a:rPr sz="1300" dirty="0">
                <a:solidFill>
                  <a:srgbClr val="494F56"/>
                </a:solidFill>
                <a:latin typeface="Arial"/>
                <a:cs typeface="Arial"/>
              </a:rPr>
              <a:t>c</a:t>
            </a:r>
            <a:r>
              <a:rPr sz="1300" dirty="0">
                <a:solidFill>
                  <a:srgbClr val="262D36"/>
                </a:solidFill>
                <a:latin typeface="Arial"/>
                <a:cs typeface="Arial"/>
              </a:rPr>
              <a:t>i</a:t>
            </a:r>
            <a:r>
              <a:rPr sz="1300" dirty="0">
                <a:solidFill>
                  <a:srgbClr val="494F56"/>
                </a:solidFill>
                <a:latin typeface="Arial"/>
                <a:cs typeface="Arial"/>
              </a:rPr>
              <a:t>s</a:t>
            </a:r>
            <a:r>
              <a:rPr sz="1300" dirty="0">
                <a:solidFill>
                  <a:srgbClr val="262D36"/>
                </a:solidFill>
                <a:latin typeface="Arial"/>
                <a:cs typeface="Arial"/>
              </a:rPr>
              <a:t>ion</a:t>
            </a:r>
            <a:r>
              <a:rPr sz="1300" spc="190" dirty="0">
                <a:solidFill>
                  <a:srgbClr val="262D3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33D4B"/>
                </a:solidFill>
                <a:latin typeface="Arial"/>
                <a:cs typeface="Arial"/>
              </a:rPr>
              <a:t>Boundary</a:t>
            </a:r>
            <a:r>
              <a:rPr sz="1300" dirty="0">
                <a:solidFill>
                  <a:srgbClr val="333D4B"/>
                </a:solidFill>
                <a:latin typeface="Arial"/>
                <a:cs typeface="Arial"/>
              </a:rPr>
              <a:t>	</a:t>
            </a:r>
            <a:r>
              <a:rPr sz="1300" u="sng" spc="-50" dirty="0">
                <a:solidFill>
                  <a:srgbClr val="333D4B"/>
                </a:solidFill>
                <a:uFill>
                  <a:solidFill>
                    <a:srgbClr val="333D4B"/>
                  </a:solidFill>
                </a:uFill>
                <a:latin typeface="Arial"/>
                <a:cs typeface="Arial"/>
              </a:rPr>
              <a:t>•</a:t>
            </a:r>
            <a:r>
              <a:rPr sz="1300" u="sng" spc="500" dirty="0">
                <a:solidFill>
                  <a:srgbClr val="333D4B"/>
                </a:solidFill>
                <a:uFill>
                  <a:solidFill>
                    <a:srgbClr val="333D4B"/>
                  </a:solidFill>
                </a:uFill>
                <a:latin typeface="Arial"/>
                <a:cs typeface="Arial"/>
              </a:rPr>
              <a:t> </a:t>
            </a:r>
            <a:endParaRPr sz="13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54594" y="7893865"/>
            <a:ext cx="4336415" cy="847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53695" algn="l"/>
                <a:tab pos="2807970" algn="l"/>
              </a:tabLst>
            </a:pPr>
            <a:r>
              <a:rPr sz="1800" spc="50" dirty="0">
                <a:solidFill>
                  <a:srgbClr val="333D4B"/>
                </a:solidFill>
                <a:latin typeface="Arial"/>
                <a:cs typeface="Arial"/>
              </a:rPr>
              <a:t>0</a:t>
            </a:r>
            <a:r>
              <a:rPr sz="1800" dirty="0">
                <a:solidFill>
                  <a:srgbClr val="333D4B"/>
                </a:solidFill>
                <a:latin typeface="Arial"/>
                <a:cs typeface="Arial"/>
              </a:rPr>
              <a:t>	</a:t>
            </a:r>
            <a:r>
              <a:rPr sz="1400" b="1" dirty="0">
                <a:solidFill>
                  <a:srgbClr val="333D4B"/>
                </a:solidFill>
                <a:latin typeface="Arial"/>
                <a:cs typeface="Arial"/>
              </a:rPr>
              <a:t>Class</a:t>
            </a:r>
            <a:r>
              <a:rPr sz="1400" b="1" spc="8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D4B"/>
                </a:solidFill>
                <a:latin typeface="Arial"/>
                <a:cs typeface="Arial"/>
              </a:rPr>
              <a:t>1</a:t>
            </a:r>
            <a:r>
              <a:rPr sz="1400" b="1" spc="18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262D36"/>
                </a:solidFill>
                <a:latin typeface="Arial"/>
                <a:cs typeface="Arial"/>
              </a:rPr>
              <a:t>(Yes)</a:t>
            </a:r>
            <a:r>
              <a:rPr sz="1400" b="1" dirty="0">
                <a:solidFill>
                  <a:srgbClr val="262D36"/>
                </a:solidFill>
                <a:latin typeface="Arial"/>
                <a:cs typeface="Arial"/>
              </a:rPr>
              <a:t>	</a:t>
            </a:r>
            <a:r>
              <a:rPr sz="1950" b="1" dirty="0">
                <a:solidFill>
                  <a:srgbClr val="834648"/>
                </a:solidFill>
                <a:latin typeface="Arial"/>
                <a:cs typeface="Arial"/>
              </a:rPr>
              <a:t>X</a:t>
            </a:r>
            <a:r>
              <a:rPr sz="1950" b="1" spc="415" dirty="0">
                <a:solidFill>
                  <a:srgbClr val="834648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B3336"/>
                </a:solidFill>
                <a:latin typeface="Arial"/>
                <a:cs typeface="Arial"/>
              </a:rPr>
              <a:t>C</a:t>
            </a:r>
            <a:r>
              <a:rPr sz="1400" b="1" dirty="0">
                <a:solidFill>
                  <a:srgbClr val="834648"/>
                </a:solidFill>
                <a:latin typeface="Arial"/>
                <a:cs typeface="Arial"/>
              </a:rPr>
              <a:t>l</a:t>
            </a:r>
            <a:r>
              <a:rPr sz="1400" b="1" dirty="0">
                <a:solidFill>
                  <a:srgbClr val="6B3336"/>
                </a:solidFill>
                <a:latin typeface="Arial"/>
                <a:cs typeface="Arial"/>
              </a:rPr>
              <a:t>ass</a:t>
            </a:r>
            <a:r>
              <a:rPr sz="1400" b="1" spc="-15" dirty="0">
                <a:solidFill>
                  <a:srgbClr val="6B333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B3336"/>
                </a:solidFill>
                <a:latin typeface="Arial"/>
                <a:cs typeface="Arial"/>
              </a:rPr>
              <a:t>O</a:t>
            </a:r>
            <a:r>
              <a:rPr sz="1400" b="1" spc="-30" dirty="0">
                <a:solidFill>
                  <a:srgbClr val="6B3336"/>
                </a:solidFill>
                <a:latin typeface="Arial"/>
                <a:cs typeface="Arial"/>
              </a:rPr>
              <a:t> </a:t>
            </a:r>
            <a:r>
              <a:rPr sz="1400" b="1" spc="95" dirty="0">
                <a:solidFill>
                  <a:srgbClr val="6B3336"/>
                </a:solidFill>
                <a:latin typeface="Arial"/>
                <a:cs typeface="Arial"/>
              </a:rPr>
              <a:t>(No)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400">
              <a:latin typeface="Arial"/>
              <a:cs typeface="Arial"/>
            </a:endParaRPr>
          </a:p>
          <a:p>
            <a:pPr marL="758190">
              <a:lnSpc>
                <a:spcPct val="100000"/>
              </a:lnSpc>
            </a:pPr>
            <a:r>
              <a:rPr sz="1300" dirty="0">
                <a:solidFill>
                  <a:srgbClr val="262D36"/>
                </a:solidFill>
                <a:latin typeface="Arial"/>
                <a:cs typeface="Arial"/>
              </a:rPr>
              <a:t>Decision</a:t>
            </a:r>
            <a:r>
              <a:rPr sz="1300" spc="125" dirty="0">
                <a:solidFill>
                  <a:srgbClr val="262D36"/>
                </a:solidFill>
                <a:latin typeface="Arial"/>
                <a:cs typeface="Arial"/>
              </a:rPr>
              <a:t> </a:t>
            </a:r>
            <a:r>
              <a:rPr sz="1300" spc="80" dirty="0">
                <a:solidFill>
                  <a:srgbClr val="262D36"/>
                </a:solidFill>
                <a:latin typeface="Arial"/>
                <a:cs typeface="Arial"/>
              </a:rPr>
              <a:t>Boundary</a:t>
            </a:r>
            <a:r>
              <a:rPr sz="1300" spc="135" dirty="0">
                <a:solidFill>
                  <a:srgbClr val="262D36"/>
                </a:solidFill>
                <a:latin typeface="Arial"/>
                <a:cs typeface="Arial"/>
              </a:rPr>
              <a:t>  </a:t>
            </a:r>
            <a:r>
              <a:rPr sz="1300" u="sng" spc="95" dirty="0">
                <a:solidFill>
                  <a:srgbClr val="333D4B"/>
                </a:solidFill>
                <a:uFill>
                  <a:solidFill>
                    <a:srgbClr val="333D4B"/>
                  </a:solidFill>
                </a:uFill>
                <a:latin typeface="Arial"/>
                <a:cs typeface="Arial"/>
              </a:rPr>
              <a:t>_..._..,</a:t>
            </a:r>
            <a:r>
              <a:rPr sz="1300" u="none" spc="105" dirty="0">
                <a:solidFill>
                  <a:srgbClr val="333D4B"/>
                </a:solidFill>
                <a:latin typeface="Arial"/>
                <a:cs typeface="Arial"/>
              </a:rPr>
              <a:t>  </a:t>
            </a:r>
            <a:r>
              <a:rPr sz="1300" u="none" spc="65" dirty="0">
                <a:solidFill>
                  <a:srgbClr val="333D4B"/>
                </a:solidFill>
                <a:latin typeface="Arial"/>
                <a:cs typeface="Arial"/>
              </a:rPr>
              <a:t>Th</a:t>
            </a:r>
            <a:r>
              <a:rPr sz="1300" u="none" spc="65" dirty="0">
                <a:solidFill>
                  <a:srgbClr val="151C2A"/>
                </a:solidFill>
                <a:latin typeface="Arial"/>
                <a:cs typeface="Arial"/>
              </a:rPr>
              <a:t>resh</a:t>
            </a:r>
            <a:r>
              <a:rPr sz="1300" u="none" spc="65" dirty="0">
                <a:solidFill>
                  <a:srgbClr val="333D4B"/>
                </a:solidFill>
                <a:latin typeface="Arial"/>
                <a:cs typeface="Arial"/>
              </a:rPr>
              <a:t>o</a:t>
            </a:r>
            <a:r>
              <a:rPr sz="1300" u="none" spc="65" dirty="0">
                <a:solidFill>
                  <a:srgbClr val="151C2A"/>
                </a:solidFill>
                <a:latin typeface="Arial"/>
                <a:cs typeface="Arial"/>
              </a:rPr>
              <a:t>ld</a:t>
            </a:r>
            <a:r>
              <a:rPr sz="1300" u="none" spc="-50" dirty="0">
                <a:solidFill>
                  <a:srgbClr val="151C2A"/>
                </a:solidFill>
                <a:latin typeface="Arial"/>
                <a:cs typeface="Arial"/>
              </a:rPr>
              <a:t> </a:t>
            </a:r>
            <a:r>
              <a:rPr sz="1300" i="1" u="none" dirty="0">
                <a:solidFill>
                  <a:srgbClr val="494F56"/>
                </a:solidFill>
                <a:latin typeface="Verdana"/>
                <a:cs typeface="Verdana"/>
              </a:rPr>
              <a:t>=</a:t>
            </a:r>
            <a:r>
              <a:rPr sz="1300" i="1" u="none" spc="-220" dirty="0">
                <a:solidFill>
                  <a:srgbClr val="494F56"/>
                </a:solidFill>
                <a:latin typeface="Verdana"/>
                <a:cs typeface="Verdana"/>
              </a:rPr>
              <a:t> </a:t>
            </a:r>
            <a:r>
              <a:rPr sz="1300" u="none" spc="-25" dirty="0">
                <a:solidFill>
                  <a:srgbClr val="262D36"/>
                </a:solidFill>
                <a:latin typeface="Arial"/>
                <a:cs typeface="Arial"/>
              </a:rPr>
              <a:t>0.5</a:t>
            </a:r>
            <a:endParaRPr sz="13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527070" y="6528344"/>
            <a:ext cx="8288655" cy="1679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 marR="5080" indent="-2540">
              <a:lnSpc>
                <a:spcPct val="136500"/>
              </a:lnSpc>
              <a:spcBef>
                <a:spcPts val="95"/>
              </a:spcBef>
              <a:tabLst>
                <a:tab pos="3466465" algn="l"/>
              </a:tabLst>
            </a:pPr>
            <a:r>
              <a:rPr sz="2650" dirty="0">
                <a:solidFill>
                  <a:srgbClr val="333D4B"/>
                </a:solidFill>
                <a:latin typeface="Arial"/>
                <a:cs typeface="Arial"/>
              </a:rPr>
              <a:t>The</a:t>
            </a:r>
            <a:r>
              <a:rPr sz="2650" spc="8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150" dirty="0">
                <a:solidFill>
                  <a:srgbClr val="333D4B"/>
                </a:solidFill>
                <a:latin typeface="Arial"/>
                <a:cs typeface="Arial"/>
              </a:rPr>
              <a:t>model</a:t>
            </a:r>
            <a:r>
              <a:rPr sz="2650" spc="2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130" dirty="0">
                <a:solidFill>
                  <a:srgbClr val="333D4B"/>
                </a:solidFill>
                <a:latin typeface="Arial"/>
                <a:cs typeface="Arial"/>
              </a:rPr>
              <a:t>reached</a:t>
            </a:r>
            <a:r>
              <a:rPr sz="2650" spc="9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450" b="1" spc="190" dirty="0">
                <a:solidFill>
                  <a:srgbClr val="13C697"/>
                </a:solidFill>
                <a:latin typeface="Arial"/>
                <a:cs typeface="Arial"/>
              </a:rPr>
              <a:t>79.2%</a:t>
            </a:r>
            <a:r>
              <a:rPr sz="2450" b="1" spc="-80" dirty="0">
                <a:solidFill>
                  <a:srgbClr val="13C697"/>
                </a:solidFill>
                <a:latin typeface="Arial"/>
                <a:cs typeface="Arial"/>
              </a:rPr>
              <a:t> </a:t>
            </a:r>
            <a:r>
              <a:rPr sz="2450" b="1" spc="185" dirty="0">
                <a:solidFill>
                  <a:srgbClr val="13C697"/>
                </a:solidFill>
                <a:latin typeface="Arial"/>
                <a:cs typeface="Arial"/>
              </a:rPr>
              <a:t>Accuracy</a:t>
            </a:r>
            <a:r>
              <a:rPr sz="2450" b="1" spc="185" dirty="0">
                <a:solidFill>
                  <a:srgbClr val="333D4B"/>
                </a:solidFill>
                <a:latin typeface="Arial"/>
                <a:cs typeface="Arial"/>
              </a:rPr>
              <a:t>,</a:t>
            </a:r>
            <a:r>
              <a:rPr sz="2450" b="1" spc="-15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114" dirty="0">
                <a:solidFill>
                  <a:srgbClr val="333D4B"/>
                </a:solidFill>
                <a:latin typeface="Arial"/>
                <a:cs typeface="Arial"/>
              </a:rPr>
              <a:t>identifying </a:t>
            </a:r>
            <a:r>
              <a:rPr sz="2650" spc="170" dirty="0">
                <a:solidFill>
                  <a:srgbClr val="333D4B"/>
                </a:solidFill>
                <a:latin typeface="Arial"/>
                <a:cs typeface="Arial"/>
              </a:rPr>
              <a:t>contract</a:t>
            </a:r>
            <a:r>
              <a:rPr sz="2650" spc="280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195" dirty="0">
                <a:solidFill>
                  <a:srgbClr val="333D4B"/>
                </a:solidFill>
                <a:latin typeface="Arial"/>
                <a:cs typeface="Arial"/>
              </a:rPr>
              <a:t>type</a:t>
            </a:r>
            <a:r>
              <a:rPr sz="2650" spc="12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333D4B"/>
                </a:solidFill>
                <a:latin typeface="Arial"/>
                <a:cs typeface="Arial"/>
              </a:rPr>
              <a:t>as</a:t>
            </a:r>
            <a:r>
              <a:rPr sz="2650" spc="4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-25" dirty="0">
                <a:solidFill>
                  <a:srgbClr val="333D4B"/>
                </a:solidFill>
                <a:latin typeface="Arial"/>
                <a:cs typeface="Arial"/>
              </a:rPr>
              <a:t>the</a:t>
            </a:r>
            <a:r>
              <a:rPr sz="2650" dirty="0">
                <a:solidFill>
                  <a:srgbClr val="333D4B"/>
                </a:solidFill>
                <a:latin typeface="Arial"/>
                <a:cs typeface="Arial"/>
              </a:rPr>
              <a:t>	</a:t>
            </a:r>
            <a:r>
              <a:rPr sz="2650" spc="110" dirty="0">
                <a:solidFill>
                  <a:srgbClr val="333D4B"/>
                </a:solidFill>
                <a:latin typeface="Arial"/>
                <a:cs typeface="Arial"/>
              </a:rPr>
              <a:t>primary</a:t>
            </a:r>
            <a:r>
              <a:rPr sz="2650" spc="19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105" dirty="0">
                <a:solidFill>
                  <a:srgbClr val="333D4B"/>
                </a:solidFill>
                <a:latin typeface="Arial"/>
                <a:cs typeface="Arial"/>
              </a:rPr>
              <a:t>catalyst</a:t>
            </a:r>
            <a:r>
              <a:rPr sz="2650" spc="22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90" dirty="0">
                <a:solidFill>
                  <a:srgbClr val="333D4B"/>
                </a:solidFill>
                <a:latin typeface="Arial"/>
                <a:cs typeface="Arial"/>
              </a:rPr>
              <a:t>for</a:t>
            </a:r>
            <a:r>
              <a:rPr sz="2650" spc="145" dirty="0">
                <a:solidFill>
                  <a:srgbClr val="333D4B"/>
                </a:solidFill>
                <a:latin typeface="Arial"/>
                <a:cs typeface="Arial"/>
              </a:rPr>
              <a:t> </a:t>
            </a:r>
            <a:r>
              <a:rPr sz="2650" spc="140" dirty="0">
                <a:solidFill>
                  <a:srgbClr val="333D4B"/>
                </a:solidFill>
                <a:latin typeface="Arial"/>
                <a:cs typeface="Arial"/>
              </a:rPr>
              <a:t>customer </a:t>
            </a:r>
            <a:r>
              <a:rPr sz="2650" spc="-10" dirty="0">
                <a:solidFill>
                  <a:srgbClr val="333D4B"/>
                </a:solidFill>
                <a:latin typeface="Arial"/>
                <a:cs typeface="Arial"/>
              </a:rPr>
              <a:t>exits.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5778" y="1055331"/>
            <a:ext cx="361810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6590" y="1071085"/>
            <a:ext cx="1431509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3086" y="3748576"/>
            <a:ext cx="943852" cy="7717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68727" y="1102584"/>
            <a:ext cx="283155" cy="5512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56384" y="1071085"/>
            <a:ext cx="566311" cy="566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6775" y="9481561"/>
            <a:ext cx="5710305" cy="3149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83392" y="1008087"/>
            <a:ext cx="1400047" cy="83474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30676" y="1008087"/>
            <a:ext cx="2296706" cy="7717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86780" y="3764327"/>
            <a:ext cx="786543" cy="74024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51930" y="9481561"/>
            <a:ext cx="5694574" cy="3149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047669" y="3811576"/>
            <a:ext cx="676427" cy="66149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481353" y="9481561"/>
            <a:ext cx="5710305" cy="3149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793990" y="1263135"/>
            <a:ext cx="194310" cy="5924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700" spc="-50" dirty="0">
                <a:solidFill>
                  <a:srgbClr val="034D7E"/>
                </a:solidFill>
                <a:latin typeface="Times New Roman"/>
                <a:cs typeface="Times New Roman"/>
              </a:rPr>
              <a:t>•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709" y="4893498"/>
            <a:ext cx="4251960" cy="321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4400" spc="155" dirty="0">
                <a:solidFill>
                  <a:srgbClr val="034D7E"/>
                </a:solidFill>
                <a:latin typeface="Times New Roman"/>
                <a:cs typeface="Times New Roman"/>
              </a:rPr>
              <a:t>The</a:t>
            </a:r>
            <a:r>
              <a:rPr sz="4400" spc="-80" dirty="0">
                <a:solidFill>
                  <a:srgbClr val="034D7E"/>
                </a:solidFill>
                <a:latin typeface="Times New Roman"/>
                <a:cs typeface="Times New Roman"/>
              </a:rPr>
              <a:t> </a:t>
            </a:r>
            <a:r>
              <a:rPr sz="4400" spc="95" dirty="0">
                <a:solidFill>
                  <a:srgbClr val="034D7E"/>
                </a:solidFill>
                <a:latin typeface="Times New Roman"/>
                <a:cs typeface="Times New Roman"/>
              </a:rPr>
              <a:t>Approach</a:t>
            </a:r>
            <a:endParaRPr sz="4400">
              <a:latin typeface="Times New Roman"/>
              <a:cs typeface="Times New Roman"/>
            </a:endParaRPr>
          </a:p>
          <a:p>
            <a:pPr marL="16510" marR="5080" indent="-4445">
              <a:lnSpc>
                <a:spcPct val="141300"/>
              </a:lnSpc>
              <a:spcBef>
                <a:spcPts val="1889"/>
              </a:spcBef>
            </a:pPr>
            <a:r>
              <a:rPr sz="2600" spc="60" dirty="0">
                <a:solidFill>
                  <a:srgbClr val="343D4D"/>
                </a:solidFill>
                <a:latin typeface="Arial"/>
                <a:cs typeface="Arial"/>
              </a:rPr>
              <a:t>Using</a:t>
            </a:r>
            <a:r>
              <a:rPr sz="2600" spc="-8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750" spc="-170" dirty="0">
                <a:solidFill>
                  <a:srgbClr val="343D4D"/>
                </a:solidFill>
                <a:latin typeface="Arial"/>
                <a:cs typeface="Arial"/>
              </a:rPr>
              <a:t>k=5,</a:t>
            </a:r>
            <a:r>
              <a:rPr sz="2750" spc="2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30" dirty="0">
                <a:solidFill>
                  <a:srgbClr val="343D4D"/>
                </a:solidFill>
                <a:latin typeface="Arial"/>
                <a:cs typeface="Arial"/>
              </a:rPr>
              <a:t>we</a:t>
            </a:r>
            <a:r>
              <a:rPr sz="2600" spc="3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90" dirty="0">
                <a:solidFill>
                  <a:srgbClr val="343D4D"/>
                </a:solidFill>
                <a:latin typeface="Arial"/>
                <a:cs typeface="Arial"/>
              </a:rPr>
              <a:t>classified </a:t>
            </a:r>
            <a:r>
              <a:rPr sz="2600" spc="170" dirty="0">
                <a:solidFill>
                  <a:srgbClr val="343D4D"/>
                </a:solidFill>
                <a:latin typeface="Arial"/>
                <a:cs typeface="Arial"/>
              </a:rPr>
              <a:t>customers</a:t>
            </a:r>
            <a:r>
              <a:rPr sz="2600" spc="17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65" dirty="0">
                <a:solidFill>
                  <a:srgbClr val="343D4D"/>
                </a:solidFill>
                <a:latin typeface="Arial"/>
                <a:cs typeface="Arial"/>
              </a:rPr>
              <a:t>based</a:t>
            </a:r>
            <a:r>
              <a:rPr sz="2600" spc="2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70" dirty="0">
                <a:solidFill>
                  <a:srgbClr val="343D4D"/>
                </a:solidFill>
                <a:latin typeface="Arial"/>
                <a:cs typeface="Arial"/>
              </a:rPr>
              <a:t>on</a:t>
            </a:r>
            <a:r>
              <a:rPr sz="2600" spc="5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30" dirty="0">
                <a:solidFill>
                  <a:srgbClr val="343D4D"/>
                </a:solidFill>
                <a:latin typeface="Arial"/>
                <a:cs typeface="Arial"/>
              </a:rPr>
              <a:t>their </a:t>
            </a:r>
            <a:r>
              <a:rPr sz="2600" spc="160" dirty="0">
                <a:solidFill>
                  <a:srgbClr val="343D4D"/>
                </a:solidFill>
                <a:latin typeface="Arial"/>
                <a:cs typeface="Arial"/>
              </a:rPr>
              <a:t>proximity</a:t>
            </a:r>
            <a:r>
              <a:rPr sz="2600" spc="21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45" dirty="0">
                <a:solidFill>
                  <a:srgbClr val="343D4D"/>
                </a:solidFill>
                <a:latin typeface="Arial"/>
                <a:cs typeface="Arial"/>
              </a:rPr>
              <a:t>to</a:t>
            </a:r>
            <a:r>
              <a:rPr sz="2600" spc="29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55" dirty="0">
                <a:solidFill>
                  <a:srgbClr val="343D4D"/>
                </a:solidFill>
                <a:latin typeface="Arial"/>
                <a:cs typeface="Arial"/>
              </a:rPr>
              <a:t>others</a:t>
            </a:r>
            <a:r>
              <a:rPr sz="2600" spc="4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25" dirty="0">
                <a:solidFill>
                  <a:srgbClr val="343D4D"/>
                </a:solidFill>
                <a:latin typeface="Arial"/>
                <a:cs typeface="Arial"/>
              </a:rPr>
              <a:t>in</a:t>
            </a:r>
            <a:r>
              <a:rPr sz="2600" spc="3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25" dirty="0">
                <a:solidFill>
                  <a:srgbClr val="343D4D"/>
                </a:solidFill>
                <a:latin typeface="Arial"/>
                <a:cs typeface="Arial"/>
              </a:rPr>
              <a:t>the </a:t>
            </a:r>
            <a:r>
              <a:rPr sz="2600" spc="95" dirty="0">
                <a:solidFill>
                  <a:srgbClr val="343D4D"/>
                </a:solidFill>
                <a:latin typeface="Arial"/>
                <a:cs typeface="Arial"/>
              </a:rPr>
              <a:t>normalized</a:t>
            </a:r>
            <a:r>
              <a:rPr sz="2600" spc="22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45" dirty="0">
                <a:solidFill>
                  <a:srgbClr val="343D4D"/>
                </a:solidFill>
                <a:latin typeface="Arial"/>
                <a:cs typeface="Arial"/>
              </a:rPr>
              <a:t>feature</a:t>
            </a:r>
            <a:r>
              <a:rPr sz="2600" spc="15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10" dirty="0">
                <a:solidFill>
                  <a:srgbClr val="343D4D"/>
                </a:solidFill>
                <a:latin typeface="Arial"/>
                <a:cs typeface="Arial"/>
              </a:rPr>
              <a:t>space.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55100" y="751261"/>
            <a:ext cx="213360" cy="611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50" spc="70" dirty="0">
                <a:solidFill>
                  <a:srgbClr val="034D7E"/>
                </a:solidFill>
                <a:latin typeface="Times New Roman"/>
                <a:cs typeface="Times New Roman"/>
              </a:rPr>
              <a:t>•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3587278" y="1058385"/>
            <a:ext cx="3738879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032760" algn="l"/>
              </a:tabLst>
            </a:pPr>
            <a:r>
              <a:rPr spc="730" dirty="0">
                <a:solidFill>
                  <a:srgbClr val="034D7E"/>
                </a:solidFill>
              </a:rPr>
              <a:t>eares</a:t>
            </a:r>
            <a:r>
              <a:rPr dirty="0">
                <a:solidFill>
                  <a:srgbClr val="034D7E"/>
                </a:solidFill>
              </a:rPr>
              <a:t>	</a:t>
            </a:r>
            <a:r>
              <a:rPr spc="215" dirty="0">
                <a:solidFill>
                  <a:srgbClr val="034D7E"/>
                </a:solidFill>
              </a:rPr>
              <a:t>e1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11010" y="1058385"/>
            <a:ext cx="995044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200" dirty="0">
                <a:solidFill>
                  <a:srgbClr val="034D7E"/>
                </a:solidFill>
                <a:latin typeface="Arial"/>
                <a:cs typeface="Arial"/>
              </a:rPr>
              <a:t>ors</a:t>
            </a:r>
            <a:endParaRPr sz="4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87668" y="4889560"/>
            <a:ext cx="4164329" cy="37503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20"/>
              </a:spcBef>
            </a:pPr>
            <a:r>
              <a:rPr sz="4350" b="1" spc="-10" dirty="0">
                <a:solidFill>
                  <a:srgbClr val="034D7E"/>
                </a:solidFill>
                <a:latin typeface="Times New Roman"/>
                <a:cs typeface="Times New Roman"/>
              </a:rPr>
              <a:t>Normalization</a:t>
            </a:r>
            <a:endParaRPr sz="4350">
              <a:latin typeface="Times New Roman"/>
              <a:cs typeface="Times New Roman"/>
            </a:endParaRPr>
          </a:p>
          <a:p>
            <a:pPr marL="13335" marR="5080" indent="-1270">
              <a:lnSpc>
                <a:spcPct val="139600"/>
              </a:lnSpc>
              <a:spcBef>
                <a:spcPts val="2300"/>
              </a:spcBef>
              <a:tabLst>
                <a:tab pos="2456180" algn="l"/>
              </a:tabLst>
            </a:pPr>
            <a:r>
              <a:rPr sz="2600" spc="120" dirty="0">
                <a:solidFill>
                  <a:srgbClr val="343D4D"/>
                </a:solidFill>
                <a:latin typeface="Arial"/>
                <a:cs typeface="Arial"/>
              </a:rPr>
              <a:t>Data</a:t>
            </a:r>
            <a:r>
              <a:rPr sz="2600" spc="10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srgbClr val="343D4D"/>
                </a:solidFill>
                <a:latin typeface="Arial"/>
                <a:cs typeface="Arial"/>
              </a:rPr>
              <a:t>was</a:t>
            </a:r>
            <a:r>
              <a:rPr sz="2600" spc="4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30" dirty="0">
                <a:solidFill>
                  <a:srgbClr val="343D4D"/>
                </a:solidFill>
                <a:latin typeface="Arial"/>
                <a:cs typeface="Arial"/>
              </a:rPr>
              <a:t>scaled</a:t>
            </a:r>
            <a:r>
              <a:rPr sz="2600" spc="5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20" dirty="0">
                <a:solidFill>
                  <a:srgbClr val="343D4D"/>
                </a:solidFill>
                <a:latin typeface="Arial"/>
                <a:cs typeface="Arial"/>
              </a:rPr>
              <a:t>using</a:t>
            </a:r>
            <a:r>
              <a:rPr sz="2600" spc="-6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-50" dirty="0">
                <a:solidFill>
                  <a:srgbClr val="343D4D"/>
                </a:solidFill>
                <a:latin typeface="Arial"/>
                <a:cs typeface="Arial"/>
              </a:rPr>
              <a:t>a </a:t>
            </a:r>
            <a:r>
              <a:rPr sz="2600" spc="150" dirty="0">
                <a:solidFill>
                  <a:srgbClr val="343D4D"/>
                </a:solidFill>
                <a:latin typeface="Arial"/>
                <a:cs typeface="Arial"/>
              </a:rPr>
              <a:t>Min-</a:t>
            </a:r>
            <a:r>
              <a:rPr sz="2600" spc="195" dirty="0">
                <a:solidFill>
                  <a:srgbClr val="343D4D"/>
                </a:solidFill>
                <a:latin typeface="Arial"/>
                <a:cs typeface="Arial"/>
              </a:rPr>
              <a:t>Max</a:t>
            </a:r>
            <a:r>
              <a:rPr sz="2600" spc="15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75" dirty="0">
                <a:solidFill>
                  <a:srgbClr val="343D4D"/>
                </a:solidFill>
                <a:latin typeface="Arial"/>
                <a:cs typeface="Arial"/>
              </a:rPr>
              <a:t>function</a:t>
            </a:r>
            <a:r>
              <a:rPr sz="2600" spc="13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40" dirty="0">
                <a:solidFill>
                  <a:srgbClr val="343D4D"/>
                </a:solidFill>
                <a:latin typeface="Arial"/>
                <a:cs typeface="Arial"/>
              </a:rPr>
              <a:t>to </a:t>
            </a:r>
            <a:r>
              <a:rPr sz="2600" spc="114" dirty="0">
                <a:solidFill>
                  <a:srgbClr val="343D4D"/>
                </a:solidFill>
                <a:latin typeface="Arial"/>
                <a:cs typeface="Arial"/>
              </a:rPr>
              <a:t>ensure</a:t>
            </a:r>
            <a:r>
              <a:rPr sz="2600" spc="12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srgbClr val="343D4D"/>
                </a:solidFill>
                <a:latin typeface="Arial"/>
                <a:cs typeface="Arial"/>
              </a:rPr>
              <a:t>large</a:t>
            </a:r>
            <a:r>
              <a:rPr sz="2600" spc="16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srgbClr val="343D4D"/>
                </a:solidFill>
                <a:latin typeface="Arial"/>
                <a:cs typeface="Arial"/>
              </a:rPr>
              <a:t>variables</a:t>
            </a:r>
            <a:r>
              <a:rPr sz="2600" spc="17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-20" dirty="0">
                <a:solidFill>
                  <a:srgbClr val="343D4D"/>
                </a:solidFill>
                <a:latin typeface="Arial"/>
                <a:cs typeface="Arial"/>
              </a:rPr>
              <a:t>like </a:t>
            </a:r>
            <a:r>
              <a:rPr sz="2600" spc="50" dirty="0">
                <a:solidFill>
                  <a:srgbClr val="343D4D"/>
                </a:solidFill>
                <a:latin typeface="Arial"/>
                <a:cs typeface="Arial"/>
              </a:rPr>
              <a:t>TotalCharges</a:t>
            </a:r>
            <a:r>
              <a:rPr sz="2600" spc="34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35" dirty="0">
                <a:solidFill>
                  <a:srgbClr val="343D4D"/>
                </a:solidFill>
                <a:latin typeface="Arial"/>
                <a:cs typeface="Arial"/>
              </a:rPr>
              <a:t>didn't </a:t>
            </a:r>
            <a:r>
              <a:rPr sz="2600" spc="105" dirty="0">
                <a:solidFill>
                  <a:srgbClr val="343D4D"/>
                </a:solidFill>
                <a:latin typeface="Arial"/>
                <a:cs typeface="Arial"/>
              </a:rPr>
              <a:t>overpower</a:t>
            </a:r>
            <a:r>
              <a:rPr sz="2600" spc="38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srgbClr val="343D4D"/>
                </a:solidFill>
                <a:latin typeface="Arial"/>
                <a:cs typeface="Arial"/>
              </a:rPr>
              <a:t>the</a:t>
            </a:r>
            <a:r>
              <a:rPr sz="2600" dirty="0">
                <a:solidFill>
                  <a:srgbClr val="343D4D"/>
                </a:solidFill>
                <a:latin typeface="Arial"/>
                <a:cs typeface="Arial"/>
              </a:rPr>
              <a:t>	</a:t>
            </a:r>
            <a:r>
              <a:rPr sz="2600" spc="125" dirty="0">
                <a:solidFill>
                  <a:srgbClr val="343D4D"/>
                </a:solidFill>
                <a:latin typeface="Arial"/>
                <a:cs typeface="Arial"/>
              </a:rPr>
              <a:t>model.</a:t>
            </a:r>
            <a:endParaRPr sz="2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042029" y="4893498"/>
            <a:ext cx="4105910" cy="3195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034D7E"/>
                </a:solidFill>
                <a:latin typeface="Times New Roman"/>
                <a:cs typeface="Times New Roman"/>
              </a:rPr>
              <a:t>Efficiency</a:t>
            </a:r>
            <a:endParaRPr sz="4400">
              <a:latin typeface="Times New Roman"/>
              <a:cs typeface="Times New Roman"/>
            </a:endParaRPr>
          </a:p>
          <a:p>
            <a:pPr marL="15240" marR="5080" indent="-3175">
              <a:lnSpc>
                <a:spcPct val="140400"/>
              </a:lnSpc>
              <a:spcBef>
                <a:spcPts val="2145"/>
              </a:spcBef>
            </a:pPr>
            <a:r>
              <a:rPr sz="2600" dirty="0">
                <a:solidFill>
                  <a:srgbClr val="343D4D"/>
                </a:solidFill>
                <a:latin typeface="Arial"/>
                <a:cs typeface="Arial"/>
              </a:rPr>
              <a:t>KNN</a:t>
            </a:r>
            <a:r>
              <a:rPr sz="2600" spc="-1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25" dirty="0">
                <a:solidFill>
                  <a:srgbClr val="343D4D"/>
                </a:solidFill>
                <a:latin typeface="Arial"/>
                <a:cs typeface="Arial"/>
              </a:rPr>
              <a:t>achieved</a:t>
            </a:r>
            <a:r>
              <a:rPr sz="2600" spc="-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b="1" spc="120" dirty="0">
                <a:solidFill>
                  <a:srgbClr val="16C39A"/>
                </a:solidFill>
                <a:latin typeface="Arial"/>
                <a:cs typeface="Arial"/>
              </a:rPr>
              <a:t>76.8% </a:t>
            </a:r>
            <a:r>
              <a:rPr sz="2600" b="1" spc="100" dirty="0">
                <a:solidFill>
                  <a:srgbClr val="16C39A"/>
                </a:solidFill>
                <a:latin typeface="Arial"/>
                <a:cs typeface="Arial"/>
              </a:rPr>
              <a:t>Accuracy</a:t>
            </a:r>
            <a:r>
              <a:rPr sz="2600" b="1" spc="100" dirty="0">
                <a:solidFill>
                  <a:srgbClr val="343D4D"/>
                </a:solidFill>
                <a:latin typeface="Arial"/>
                <a:cs typeface="Arial"/>
              </a:rPr>
              <a:t>,</a:t>
            </a:r>
            <a:r>
              <a:rPr sz="2600" b="1" spc="-24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40" dirty="0">
                <a:solidFill>
                  <a:srgbClr val="343D4D"/>
                </a:solidFill>
                <a:latin typeface="Arial"/>
                <a:cs typeface="Arial"/>
              </a:rPr>
              <a:t>proving</a:t>
            </a:r>
            <a:r>
              <a:rPr sz="2600" spc="-14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80" dirty="0">
                <a:solidFill>
                  <a:srgbClr val="343D4D"/>
                </a:solidFill>
                <a:latin typeface="Arial"/>
                <a:cs typeface="Arial"/>
              </a:rPr>
              <a:t>highly </a:t>
            </a:r>
            <a:r>
              <a:rPr sz="2600" spc="145" dirty="0">
                <a:solidFill>
                  <a:srgbClr val="343D4D"/>
                </a:solidFill>
                <a:latin typeface="Arial"/>
                <a:cs typeface="Arial"/>
              </a:rPr>
              <a:t>effective</a:t>
            </a:r>
            <a:r>
              <a:rPr sz="2600" spc="229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45" dirty="0">
                <a:solidFill>
                  <a:srgbClr val="343D4D"/>
                </a:solidFill>
                <a:latin typeface="Arial"/>
                <a:cs typeface="Arial"/>
              </a:rPr>
              <a:t>at</a:t>
            </a:r>
            <a:r>
              <a:rPr sz="2600" spc="16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175" dirty="0">
                <a:solidFill>
                  <a:srgbClr val="343D4D"/>
                </a:solidFill>
                <a:latin typeface="Arial"/>
                <a:cs typeface="Arial"/>
              </a:rPr>
              <a:t>spotting </a:t>
            </a:r>
            <a:r>
              <a:rPr sz="2600" spc="165" dirty="0">
                <a:solidFill>
                  <a:srgbClr val="343D4D"/>
                </a:solidFill>
                <a:latin typeface="Arial"/>
                <a:cs typeface="Arial"/>
              </a:rPr>
              <a:t>cluster-</a:t>
            </a:r>
            <a:r>
              <a:rPr sz="2600" spc="220" dirty="0">
                <a:solidFill>
                  <a:srgbClr val="343D4D"/>
                </a:solidFill>
                <a:latin typeface="Arial"/>
                <a:cs typeface="Arial"/>
              </a:rPr>
              <a:t>based</a:t>
            </a:r>
            <a:r>
              <a:rPr sz="2600" spc="13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600" spc="90" dirty="0">
                <a:solidFill>
                  <a:srgbClr val="343D4D"/>
                </a:solidFill>
                <a:latin typeface="Arial"/>
                <a:cs typeface="Arial"/>
              </a:rPr>
              <a:t>behaviors.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71085"/>
            <a:ext cx="456195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5245" y="1008087"/>
            <a:ext cx="3334944" cy="8189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2347" y="1008087"/>
            <a:ext cx="220232" cy="629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17081" y="1008087"/>
            <a:ext cx="4152949" cy="8347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56576" y="5481072"/>
            <a:ext cx="2359630" cy="11654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69012" y="5024323"/>
            <a:ext cx="424733" cy="28349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5463445" y="5355072"/>
            <a:ext cx="2737485" cy="551815"/>
            <a:chOff x="15463445" y="5355072"/>
            <a:chExt cx="2737485" cy="551815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75833" y="5355072"/>
              <a:ext cx="1824780" cy="5512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63445" y="5481072"/>
              <a:ext cx="1006775" cy="330749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5463445" y="6000820"/>
            <a:ext cx="2737485" cy="473075"/>
            <a:chOff x="15463445" y="6000820"/>
            <a:chExt cx="2737485" cy="47307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63445" y="6000820"/>
              <a:ext cx="2123667" cy="4724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957878" y="6079570"/>
              <a:ext cx="1242738" cy="393748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584695" y="8253064"/>
            <a:ext cx="1777588" cy="181124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431985" y="8788562"/>
            <a:ext cx="2516939" cy="97649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11119556"/>
            <a:ext cx="10649801" cy="1574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065817" y="11119556"/>
            <a:ext cx="1038282" cy="157499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1310490" y="7465565"/>
            <a:ext cx="0" cy="2914015"/>
          </a:xfrm>
          <a:custGeom>
            <a:avLst/>
            <a:gdLst/>
            <a:ahLst/>
            <a:cxnLst/>
            <a:rect l="l" t="t" r="r" b="b"/>
            <a:pathLst>
              <a:path h="2914015">
                <a:moveTo>
                  <a:pt x="0" y="2913742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743088" y="8111313"/>
            <a:ext cx="0" cy="1874520"/>
          </a:xfrm>
          <a:custGeom>
            <a:avLst/>
            <a:gdLst/>
            <a:ahLst/>
            <a:cxnLst/>
            <a:rect l="l" t="t" r="r" b="b"/>
            <a:pathLst>
              <a:path h="1874520">
                <a:moveTo>
                  <a:pt x="0" y="1874245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743088" y="6646567"/>
            <a:ext cx="0" cy="394335"/>
          </a:xfrm>
          <a:custGeom>
            <a:avLst/>
            <a:gdLst/>
            <a:ahLst/>
            <a:cxnLst/>
            <a:rect l="l" t="t" r="r" b="b"/>
            <a:pathLst>
              <a:path h="394334">
                <a:moveTo>
                  <a:pt x="0" y="39374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743088" y="4929821"/>
            <a:ext cx="0" cy="551815"/>
          </a:xfrm>
          <a:custGeom>
            <a:avLst/>
            <a:gdLst/>
            <a:ahLst/>
            <a:cxnLst/>
            <a:rect l="l" t="t" r="r" b="b"/>
            <a:pathLst>
              <a:path h="551814">
                <a:moveTo>
                  <a:pt x="0" y="551248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731951" y="7465565"/>
            <a:ext cx="0" cy="2914015"/>
          </a:xfrm>
          <a:custGeom>
            <a:avLst/>
            <a:gdLst/>
            <a:ahLst/>
            <a:cxnLst/>
            <a:rect l="l" t="t" r="r" b="b"/>
            <a:pathLst>
              <a:path h="2914015">
                <a:moveTo>
                  <a:pt x="0" y="2913742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022972" y="7465565"/>
            <a:ext cx="0" cy="2914015"/>
          </a:xfrm>
          <a:custGeom>
            <a:avLst/>
            <a:gdLst/>
            <a:ahLst/>
            <a:cxnLst/>
            <a:rect l="l" t="t" r="r" b="b"/>
            <a:pathLst>
              <a:path h="2914015">
                <a:moveTo>
                  <a:pt x="0" y="2913742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022972" y="4268323"/>
            <a:ext cx="0" cy="2929890"/>
          </a:xfrm>
          <a:custGeom>
            <a:avLst/>
            <a:gdLst/>
            <a:ahLst/>
            <a:cxnLst/>
            <a:rect l="l" t="t" r="r" b="b"/>
            <a:pathLst>
              <a:path h="2929890">
                <a:moveTo>
                  <a:pt x="0" y="2929492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479168" y="5481070"/>
            <a:ext cx="0" cy="1559560"/>
          </a:xfrm>
          <a:custGeom>
            <a:avLst/>
            <a:gdLst/>
            <a:ahLst/>
            <a:cxnLst/>
            <a:rect l="l" t="t" r="r" b="b"/>
            <a:pathLst>
              <a:path h="1559559">
                <a:moveTo>
                  <a:pt x="0" y="1559246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479168" y="8095563"/>
            <a:ext cx="0" cy="2126615"/>
          </a:xfrm>
          <a:custGeom>
            <a:avLst/>
            <a:gdLst/>
            <a:ahLst/>
            <a:cxnLst/>
            <a:rect l="l" t="t" r="r" b="b"/>
            <a:pathLst>
              <a:path h="2126615">
                <a:moveTo>
                  <a:pt x="0" y="2126244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628611" y="8993311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4">
                <a:moveTo>
                  <a:pt x="0" y="330749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996106" y="8316062"/>
            <a:ext cx="0" cy="897890"/>
          </a:xfrm>
          <a:custGeom>
            <a:avLst/>
            <a:gdLst/>
            <a:ahLst/>
            <a:cxnLst/>
            <a:rect l="l" t="t" r="r" b="b"/>
            <a:pathLst>
              <a:path h="897890">
                <a:moveTo>
                  <a:pt x="0" y="897747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460166" y="7465565"/>
            <a:ext cx="0" cy="2914015"/>
          </a:xfrm>
          <a:custGeom>
            <a:avLst/>
            <a:gdLst/>
            <a:ahLst/>
            <a:cxnLst/>
            <a:rect l="l" t="t" r="r" b="b"/>
            <a:pathLst>
              <a:path h="2914015">
                <a:moveTo>
                  <a:pt x="0" y="2913742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460166" y="4268323"/>
            <a:ext cx="0" cy="2929890"/>
          </a:xfrm>
          <a:custGeom>
            <a:avLst/>
            <a:gdLst/>
            <a:ahLst/>
            <a:cxnLst/>
            <a:rect l="l" t="t" r="r" b="b"/>
            <a:pathLst>
              <a:path h="2929890">
                <a:moveTo>
                  <a:pt x="0" y="2929492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191651" y="3008326"/>
            <a:ext cx="0" cy="8095615"/>
          </a:xfrm>
          <a:custGeom>
            <a:avLst/>
            <a:gdLst/>
            <a:ahLst/>
            <a:cxnLst/>
            <a:rect l="l" t="t" r="r" b="b"/>
            <a:pathLst>
              <a:path h="8095615">
                <a:moveTo>
                  <a:pt x="0" y="809547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022972" y="4268323"/>
            <a:ext cx="3445510" cy="0"/>
          </a:xfrm>
          <a:custGeom>
            <a:avLst/>
            <a:gdLst/>
            <a:ahLst/>
            <a:cxnLst/>
            <a:rect l="l" t="t" r="r" b="b"/>
            <a:pathLst>
              <a:path w="3445509">
                <a:moveTo>
                  <a:pt x="0" y="0"/>
                </a:moveTo>
                <a:lnTo>
                  <a:pt x="344505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306129" y="6874941"/>
            <a:ext cx="2816225" cy="0"/>
          </a:xfrm>
          <a:custGeom>
            <a:avLst/>
            <a:gdLst/>
            <a:ahLst/>
            <a:cxnLst/>
            <a:rect l="l" t="t" r="r" b="b"/>
            <a:pathLst>
              <a:path w="2816225">
                <a:moveTo>
                  <a:pt x="0" y="0"/>
                </a:moveTo>
                <a:lnTo>
                  <a:pt x="281582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1593645" y="6874941"/>
            <a:ext cx="2800350" cy="0"/>
          </a:xfrm>
          <a:custGeom>
            <a:avLst/>
            <a:gdLst/>
            <a:ahLst/>
            <a:cxnLst/>
            <a:rect l="l" t="t" r="r" b="b"/>
            <a:pathLst>
              <a:path w="2800350">
                <a:moveTo>
                  <a:pt x="0" y="0"/>
                </a:moveTo>
                <a:lnTo>
                  <a:pt x="280009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022972" y="7189940"/>
            <a:ext cx="3445510" cy="0"/>
          </a:xfrm>
          <a:custGeom>
            <a:avLst/>
            <a:gdLst/>
            <a:ahLst/>
            <a:cxnLst/>
            <a:rect l="l" t="t" r="r" b="b"/>
            <a:pathLst>
              <a:path w="3445509">
                <a:moveTo>
                  <a:pt x="0" y="0"/>
                </a:moveTo>
                <a:lnTo>
                  <a:pt x="344505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022972" y="7457690"/>
            <a:ext cx="3445510" cy="0"/>
          </a:xfrm>
          <a:custGeom>
            <a:avLst/>
            <a:gdLst/>
            <a:ahLst/>
            <a:cxnLst/>
            <a:rect l="l" t="t" r="r" b="b"/>
            <a:pathLst>
              <a:path w="3445509">
                <a:moveTo>
                  <a:pt x="0" y="0"/>
                </a:moveTo>
                <a:lnTo>
                  <a:pt x="3445058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1310490" y="7457690"/>
            <a:ext cx="3429635" cy="0"/>
          </a:xfrm>
          <a:custGeom>
            <a:avLst/>
            <a:gdLst/>
            <a:ahLst/>
            <a:cxnLst/>
            <a:rect l="l" t="t" r="r" b="b"/>
            <a:pathLst>
              <a:path w="3429634">
                <a:moveTo>
                  <a:pt x="0" y="0"/>
                </a:moveTo>
                <a:lnTo>
                  <a:pt x="3429327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892531" y="9985558"/>
            <a:ext cx="2501265" cy="0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1207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5306129" y="10064308"/>
            <a:ext cx="2816225" cy="0"/>
          </a:xfrm>
          <a:custGeom>
            <a:avLst/>
            <a:gdLst/>
            <a:ahLst/>
            <a:cxnLst/>
            <a:rect l="l" t="t" r="r" b="b"/>
            <a:pathLst>
              <a:path w="2816225">
                <a:moveTo>
                  <a:pt x="0" y="0"/>
                </a:moveTo>
                <a:lnTo>
                  <a:pt x="281582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5022972" y="10371432"/>
            <a:ext cx="3445510" cy="0"/>
          </a:xfrm>
          <a:custGeom>
            <a:avLst/>
            <a:gdLst/>
            <a:ahLst/>
            <a:cxnLst/>
            <a:rect l="l" t="t" r="r" b="b"/>
            <a:pathLst>
              <a:path w="3445509">
                <a:moveTo>
                  <a:pt x="0" y="0"/>
                </a:moveTo>
                <a:lnTo>
                  <a:pt x="344505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1310490" y="10371432"/>
            <a:ext cx="3429635" cy="0"/>
          </a:xfrm>
          <a:custGeom>
            <a:avLst/>
            <a:gdLst/>
            <a:ahLst/>
            <a:cxnLst/>
            <a:rect l="l" t="t" r="r" b="b"/>
            <a:pathLst>
              <a:path w="3429634">
                <a:moveTo>
                  <a:pt x="0" y="0"/>
                </a:moveTo>
                <a:lnTo>
                  <a:pt x="3429327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665524" y="11135306"/>
            <a:ext cx="8385175" cy="0"/>
          </a:xfrm>
          <a:custGeom>
            <a:avLst/>
            <a:gdLst/>
            <a:ahLst/>
            <a:cxnLst/>
            <a:rect l="l" t="t" r="r" b="b"/>
            <a:pathLst>
              <a:path w="8385175">
                <a:moveTo>
                  <a:pt x="0" y="0"/>
                </a:moveTo>
                <a:lnTo>
                  <a:pt x="8384549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649793" y="11245555"/>
            <a:ext cx="8416290" cy="0"/>
          </a:xfrm>
          <a:custGeom>
            <a:avLst/>
            <a:gdLst/>
            <a:ahLst/>
            <a:cxnLst/>
            <a:rect l="l" t="t" r="r" b="b"/>
            <a:pathLst>
              <a:path w="8416290">
                <a:moveTo>
                  <a:pt x="0" y="0"/>
                </a:moveTo>
                <a:lnTo>
                  <a:pt x="8416011" y="0"/>
                </a:lnTo>
              </a:path>
            </a:pathLst>
          </a:custGeom>
          <a:ln w="78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5455571" y="507157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25199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6265711" y="5827569"/>
            <a:ext cx="0" cy="401955"/>
          </a:xfrm>
          <a:custGeom>
            <a:avLst/>
            <a:gdLst/>
            <a:ahLst/>
            <a:cxnLst/>
            <a:rect l="l" t="t" r="r" b="b"/>
            <a:pathLst>
              <a:path h="401954">
                <a:moveTo>
                  <a:pt x="0" y="401623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7146640" y="6229193"/>
            <a:ext cx="637540" cy="0"/>
          </a:xfrm>
          <a:custGeom>
            <a:avLst/>
            <a:gdLst/>
            <a:ahLst/>
            <a:cxnLst/>
            <a:rect l="l" t="t" r="r" b="b"/>
            <a:pathLst>
              <a:path w="637540">
                <a:moveTo>
                  <a:pt x="0" y="0"/>
                </a:moveTo>
                <a:lnTo>
                  <a:pt x="637099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5935363" y="630006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348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872644" y="1263135"/>
            <a:ext cx="203835" cy="5924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700" spc="50" dirty="0">
                <a:solidFill>
                  <a:srgbClr val="054D7E"/>
                </a:solidFill>
                <a:latin typeface="Times New Roman"/>
                <a:cs typeface="Times New Roman"/>
              </a:rPr>
              <a:t>•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624024" y="767013"/>
            <a:ext cx="207010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55" dirty="0">
                <a:solidFill>
                  <a:srgbClr val="054D7E"/>
                </a:solidFill>
                <a:latin typeface="Times New Roman"/>
                <a:cs typeface="Times New Roman"/>
              </a:rPr>
              <a:t>•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50" name="object 50" descr="$PPTXTitle"/>
          <p:cNvSpPr txBox="1">
            <a:spLocks noGrp="1"/>
          </p:cNvSpPr>
          <p:nvPr>
            <p:ph type="title"/>
          </p:nvPr>
        </p:nvSpPr>
        <p:spPr>
          <a:xfrm>
            <a:off x="5572576" y="1058385"/>
            <a:ext cx="53530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14" dirty="0">
                <a:solidFill>
                  <a:srgbClr val="054D7E"/>
                </a:solidFill>
              </a:rPr>
              <a:t>Ia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1904578" y="2604240"/>
            <a:ext cx="5969635" cy="1380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040" marR="5080" indent="-180975">
              <a:lnSpc>
                <a:spcPct val="108400"/>
              </a:lnSpc>
              <a:spcBef>
                <a:spcPts val="95"/>
              </a:spcBef>
            </a:pPr>
            <a:r>
              <a:rPr sz="4100" b="1" spc="-55" dirty="0">
                <a:solidFill>
                  <a:srgbClr val="010101"/>
                </a:solidFill>
                <a:latin typeface="Arial"/>
                <a:cs typeface="Arial"/>
              </a:rPr>
              <a:t>Real-</a:t>
            </a:r>
            <a:r>
              <a:rPr sz="4100" b="1" spc="-20" dirty="0">
                <a:solidFill>
                  <a:srgbClr val="010101"/>
                </a:solidFill>
                <a:latin typeface="Arial"/>
                <a:cs typeface="Arial"/>
              </a:rPr>
              <a:t>Life</a:t>
            </a:r>
            <a:r>
              <a:rPr sz="4100" b="1" spc="-2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100" b="1" spc="-60" dirty="0">
                <a:solidFill>
                  <a:srgbClr val="010101"/>
                </a:solidFill>
                <a:latin typeface="Arial"/>
                <a:cs typeface="Arial"/>
              </a:rPr>
              <a:t>Applications</a:t>
            </a:r>
            <a:r>
              <a:rPr sz="4100" b="1" spc="-1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100" b="1" spc="-25" dirty="0">
                <a:solidFill>
                  <a:srgbClr val="010101"/>
                </a:solidFill>
                <a:latin typeface="Arial"/>
                <a:cs typeface="Arial"/>
              </a:rPr>
              <a:t>of </a:t>
            </a:r>
            <a:r>
              <a:rPr sz="4100" b="1" spc="-75" dirty="0">
                <a:solidFill>
                  <a:srgbClr val="010101"/>
                </a:solidFill>
                <a:latin typeface="Arial"/>
                <a:cs typeface="Arial"/>
              </a:rPr>
              <a:t>Polynomial</a:t>
            </a:r>
            <a:r>
              <a:rPr sz="4100" b="1" spc="-20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100" b="1" spc="-70" dirty="0">
                <a:solidFill>
                  <a:srgbClr val="010101"/>
                </a:solidFill>
                <a:latin typeface="Arial"/>
                <a:cs typeface="Arial"/>
              </a:rPr>
              <a:t>Regression</a:t>
            </a:r>
            <a:endParaRPr sz="41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18064" y="4247750"/>
            <a:ext cx="7888605" cy="321119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135" dirty="0">
                <a:solidFill>
                  <a:srgbClr val="054D7E"/>
                </a:solidFill>
                <a:latin typeface="Times New Roman"/>
                <a:cs typeface="Times New Roman"/>
              </a:rPr>
              <a:t>Capturing</a:t>
            </a:r>
            <a:r>
              <a:rPr sz="4450" spc="190" dirty="0">
                <a:solidFill>
                  <a:srgbClr val="054D7E"/>
                </a:solidFill>
                <a:latin typeface="Times New Roman"/>
                <a:cs typeface="Times New Roman"/>
              </a:rPr>
              <a:t> </a:t>
            </a:r>
            <a:r>
              <a:rPr sz="4450" spc="90" dirty="0">
                <a:solidFill>
                  <a:srgbClr val="054D7E"/>
                </a:solidFill>
                <a:latin typeface="Times New Roman"/>
                <a:cs typeface="Times New Roman"/>
              </a:rPr>
              <a:t>Non-</a:t>
            </a:r>
            <a:r>
              <a:rPr sz="4450" spc="60" dirty="0">
                <a:solidFill>
                  <a:srgbClr val="054D7E"/>
                </a:solidFill>
                <a:latin typeface="Times New Roman"/>
                <a:cs typeface="Times New Roman"/>
              </a:rPr>
              <a:t>Linearity</a:t>
            </a:r>
            <a:endParaRPr sz="4450">
              <a:latin typeface="Times New Roman"/>
              <a:cs typeface="Times New Roman"/>
            </a:endParaRPr>
          </a:p>
          <a:p>
            <a:pPr marL="21590" marR="37465" indent="-3810">
              <a:lnSpc>
                <a:spcPct val="141100"/>
              </a:lnSpc>
              <a:spcBef>
                <a:spcPts val="2170"/>
              </a:spcBef>
            </a:pPr>
            <a:r>
              <a:rPr sz="2600" spc="55" dirty="0">
                <a:solidFill>
                  <a:srgbClr val="343D49"/>
                </a:solidFill>
                <a:latin typeface="Arial"/>
                <a:cs typeface="Arial"/>
              </a:rPr>
              <a:t>The</a:t>
            </a:r>
            <a:r>
              <a:rPr sz="2600" spc="8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14" dirty="0">
                <a:solidFill>
                  <a:srgbClr val="343D49"/>
                </a:solidFill>
                <a:latin typeface="Arial"/>
                <a:cs typeface="Arial"/>
              </a:rPr>
              <a:t>relationship</a:t>
            </a:r>
            <a:r>
              <a:rPr sz="2600" spc="22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204" dirty="0">
                <a:solidFill>
                  <a:srgbClr val="343D49"/>
                </a:solidFill>
                <a:latin typeface="Arial"/>
                <a:cs typeface="Arial"/>
              </a:rPr>
              <a:t>between</a:t>
            </a:r>
            <a:r>
              <a:rPr sz="2600" spc="15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90" dirty="0">
                <a:solidFill>
                  <a:srgbClr val="343D49"/>
                </a:solidFill>
                <a:latin typeface="Arial"/>
                <a:cs typeface="Arial"/>
              </a:rPr>
              <a:t>time</a:t>
            </a:r>
            <a:r>
              <a:rPr sz="2600" spc="14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55" dirty="0">
                <a:solidFill>
                  <a:srgbClr val="343D49"/>
                </a:solidFill>
                <a:latin typeface="Arial"/>
                <a:cs typeface="Arial"/>
              </a:rPr>
              <a:t>and</a:t>
            </a:r>
            <a:r>
              <a:rPr sz="2600" spc="-4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14" dirty="0">
                <a:solidFill>
                  <a:srgbClr val="343D49"/>
                </a:solidFill>
                <a:latin typeface="Arial"/>
                <a:cs typeface="Arial"/>
              </a:rPr>
              <a:t>revenue</a:t>
            </a:r>
            <a:r>
              <a:rPr sz="2600" spc="16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srgbClr val="343D49"/>
                </a:solidFill>
                <a:latin typeface="Arial"/>
                <a:cs typeface="Arial"/>
              </a:rPr>
              <a:t>isn't </a:t>
            </a:r>
            <a:r>
              <a:rPr sz="2600" spc="65" dirty="0">
                <a:solidFill>
                  <a:srgbClr val="343D49"/>
                </a:solidFill>
                <a:latin typeface="Arial"/>
                <a:cs typeface="Arial"/>
              </a:rPr>
              <a:t>always</a:t>
            </a:r>
            <a:r>
              <a:rPr sz="2600" spc="13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43D49"/>
                </a:solidFill>
                <a:latin typeface="Arial"/>
                <a:cs typeface="Arial"/>
              </a:rPr>
              <a:t>a</a:t>
            </a:r>
            <a:r>
              <a:rPr sz="2600" spc="6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20" dirty="0">
                <a:solidFill>
                  <a:srgbClr val="343D49"/>
                </a:solidFill>
                <a:latin typeface="Arial"/>
                <a:cs typeface="Arial"/>
              </a:rPr>
              <a:t>straight</a:t>
            </a:r>
            <a:r>
              <a:rPr sz="2600" spc="22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343D49"/>
                </a:solidFill>
                <a:latin typeface="Arial"/>
                <a:cs typeface="Arial"/>
              </a:rPr>
              <a:t>line.</a:t>
            </a:r>
            <a:r>
              <a:rPr sz="2600" spc="-10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43D49"/>
                </a:solidFill>
                <a:latin typeface="Arial"/>
                <a:cs typeface="Arial"/>
              </a:rPr>
              <a:t>We</a:t>
            </a:r>
            <a:r>
              <a:rPr sz="2600" spc="5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90" dirty="0">
                <a:solidFill>
                  <a:srgbClr val="343D49"/>
                </a:solidFill>
                <a:latin typeface="Arial"/>
                <a:cs typeface="Arial"/>
              </a:rPr>
              <a:t>introduced</a:t>
            </a:r>
            <a:r>
              <a:rPr sz="2600" spc="22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55" dirty="0">
                <a:solidFill>
                  <a:srgbClr val="343D49"/>
                </a:solidFill>
                <a:latin typeface="Arial"/>
                <a:cs typeface="Arial"/>
              </a:rPr>
              <a:t>an</a:t>
            </a:r>
            <a:endParaRPr sz="2600">
              <a:latin typeface="Arial"/>
              <a:cs typeface="Arial"/>
            </a:endParaRPr>
          </a:p>
          <a:p>
            <a:pPr marL="30480" marR="5080" indent="-635">
              <a:lnSpc>
                <a:spcPts val="4460"/>
              </a:lnSpc>
            </a:pPr>
            <a:r>
              <a:rPr sz="2650" b="1" dirty="0">
                <a:solidFill>
                  <a:srgbClr val="13C69A"/>
                </a:solidFill>
                <a:latin typeface="Arial"/>
                <a:cs typeface="Arial"/>
              </a:rPr>
              <a:t>$1{tenureA2)$</a:t>
            </a:r>
            <a:r>
              <a:rPr sz="2650" b="1" spc="355" dirty="0">
                <a:solidFill>
                  <a:srgbClr val="13C69A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srgbClr val="343D49"/>
                </a:solidFill>
                <a:latin typeface="Arial"/>
                <a:cs typeface="Arial"/>
              </a:rPr>
              <a:t>term</a:t>
            </a:r>
            <a:r>
              <a:rPr sz="2600" spc="14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90" dirty="0">
                <a:solidFill>
                  <a:srgbClr val="343D49"/>
                </a:solidFill>
                <a:latin typeface="Arial"/>
                <a:cs typeface="Arial"/>
              </a:rPr>
              <a:t>to</a:t>
            </a:r>
            <a:r>
              <a:rPr sz="2600" spc="30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80" dirty="0">
                <a:solidFill>
                  <a:srgbClr val="343D49"/>
                </a:solidFill>
                <a:latin typeface="Arial"/>
                <a:cs typeface="Arial"/>
              </a:rPr>
              <a:t>see</a:t>
            </a:r>
            <a:r>
              <a:rPr sz="2600" spc="14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43D49"/>
                </a:solidFill>
                <a:latin typeface="Arial"/>
                <a:cs typeface="Arial"/>
              </a:rPr>
              <a:t>if</a:t>
            </a:r>
            <a:r>
              <a:rPr sz="2600" spc="29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05" dirty="0">
                <a:solidFill>
                  <a:srgbClr val="343D49"/>
                </a:solidFill>
                <a:latin typeface="Arial"/>
                <a:cs typeface="Arial"/>
              </a:rPr>
              <a:t>charges</a:t>
            </a:r>
            <a:r>
              <a:rPr sz="2600" spc="26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25" dirty="0">
                <a:solidFill>
                  <a:srgbClr val="343D49"/>
                </a:solidFill>
                <a:latin typeface="Arial"/>
                <a:cs typeface="Arial"/>
              </a:rPr>
              <a:t>accelerate </a:t>
            </a:r>
            <a:r>
              <a:rPr sz="2600" spc="50" dirty="0">
                <a:solidFill>
                  <a:srgbClr val="343D49"/>
                </a:solidFill>
                <a:latin typeface="Arial"/>
                <a:cs typeface="Arial"/>
              </a:rPr>
              <a:t>over</a:t>
            </a:r>
            <a:r>
              <a:rPr sz="2600" spc="17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40" dirty="0">
                <a:solidFill>
                  <a:srgbClr val="343D49"/>
                </a:solidFill>
                <a:latin typeface="Arial"/>
                <a:cs typeface="Arial"/>
              </a:rPr>
              <a:t>time.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23463" y="7782651"/>
            <a:ext cx="8649970" cy="113284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600" spc="55" dirty="0">
                <a:solidFill>
                  <a:srgbClr val="343D49"/>
                </a:solidFill>
                <a:latin typeface="Arial"/>
                <a:cs typeface="Arial"/>
              </a:rPr>
              <a:t>The</a:t>
            </a:r>
            <a:r>
              <a:rPr sz="2600" spc="8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45" dirty="0">
                <a:solidFill>
                  <a:srgbClr val="343D49"/>
                </a:solidFill>
                <a:latin typeface="Arial"/>
                <a:cs typeface="Arial"/>
              </a:rPr>
              <a:t>curve</a:t>
            </a:r>
            <a:r>
              <a:rPr sz="2600" spc="7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45" dirty="0">
                <a:solidFill>
                  <a:srgbClr val="343D49"/>
                </a:solidFill>
                <a:latin typeface="Arial"/>
                <a:cs typeface="Arial"/>
              </a:rPr>
              <a:t>confirms</a:t>
            </a:r>
            <a:r>
              <a:rPr sz="2600" spc="200" dirty="0">
                <a:solidFill>
                  <a:srgbClr val="343D49"/>
                </a:solidFill>
                <a:latin typeface="Arial"/>
                <a:cs typeface="Arial"/>
              </a:rPr>
              <a:t> that</a:t>
            </a:r>
            <a:r>
              <a:rPr sz="2600" spc="114" dirty="0">
                <a:solidFill>
                  <a:srgbClr val="343D49"/>
                </a:solidFill>
                <a:latin typeface="Arial"/>
                <a:cs typeface="Arial"/>
              </a:rPr>
              <a:t> revenue</a:t>
            </a:r>
            <a:r>
              <a:rPr sz="2600" spc="19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65" dirty="0">
                <a:solidFill>
                  <a:srgbClr val="343D49"/>
                </a:solidFill>
                <a:latin typeface="Arial"/>
                <a:cs typeface="Arial"/>
              </a:rPr>
              <a:t>growth</a:t>
            </a:r>
            <a:r>
              <a:rPr sz="2600" spc="13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b="1" spc="50" dirty="0">
                <a:solidFill>
                  <a:srgbClr val="13C69A"/>
                </a:solidFill>
                <a:latin typeface="Arial"/>
                <a:cs typeface="Arial"/>
              </a:rPr>
              <a:t>compounds</a:t>
            </a:r>
            <a:endParaRPr sz="265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1210"/>
              </a:spcBef>
              <a:tabLst>
                <a:tab pos="659130" algn="l"/>
              </a:tabLst>
            </a:pPr>
            <a:r>
              <a:rPr sz="2600" spc="-25" dirty="0">
                <a:solidFill>
                  <a:srgbClr val="343D49"/>
                </a:solidFill>
                <a:latin typeface="Arial"/>
                <a:cs typeface="Arial"/>
              </a:rPr>
              <a:t>the</a:t>
            </a:r>
            <a:r>
              <a:rPr sz="2600" dirty="0">
                <a:solidFill>
                  <a:srgbClr val="343D49"/>
                </a:solidFill>
                <a:latin typeface="Arial"/>
                <a:cs typeface="Arial"/>
              </a:rPr>
              <a:t>	</a:t>
            </a:r>
            <a:r>
              <a:rPr sz="2600" spc="95" dirty="0">
                <a:solidFill>
                  <a:srgbClr val="343D49"/>
                </a:solidFill>
                <a:latin typeface="Arial"/>
                <a:cs typeface="Arial"/>
              </a:rPr>
              <a:t>longer</a:t>
            </a:r>
            <a:r>
              <a:rPr sz="2600" spc="18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43D49"/>
                </a:solidFill>
                <a:latin typeface="Arial"/>
                <a:cs typeface="Arial"/>
              </a:rPr>
              <a:t>a</a:t>
            </a:r>
            <a:r>
              <a:rPr sz="2600" spc="9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70" dirty="0">
                <a:solidFill>
                  <a:srgbClr val="343D49"/>
                </a:solidFill>
                <a:latin typeface="Arial"/>
                <a:cs typeface="Arial"/>
              </a:rPr>
              <a:t>customer</a:t>
            </a:r>
            <a:r>
              <a:rPr sz="2600" spc="30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95" dirty="0">
                <a:solidFill>
                  <a:srgbClr val="343D49"/>
                </a:solidFill>
                <a:latin typeface="Arial"/>
                <a:cs typeface="Arial"/>
              </a:rPr>
              <a:t>stays</a:t>
            </a:r>
            <a:r>
              <a:rPr sz="2600" spc="14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80" dirty="0">
                <a:solidFill>
                  <a:srgbClr val="343D49"/>
                </a:solidFill>
                <a:latin typeface="Arial"/>
                <a:cs typeface="Arial"/>
              </a:rPr>
              <a:t>with</a:t>
            </a:r>
            <a:r>
              <a:rPr sz="2600" spc="5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190" dirty="0">
                <a:solidFill>
                  <a:srgbClr val="343D49"/>
                </a:solidFill>
                <a:latin typeface="Arial"/>
                <a:cs typeface="Arial"/>
              </a:rPr>
              <a:t>the</a:t>
            </a:r>
            <a:r>
              <a:rPr sz="2600" spc="10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00" spc="95" dirty="0">
                <a:solidFill>
                  <a:srgbClr val="343D49"/>
                </a:solidFill>
                <a:latin typeface="Arial"/>
                <a:cs typeface="Arial"/>
              </a:rPr>
              <a:t>service.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310490" y="4268323"/>
            <a:ext cx="3422015" cy="2921635"/>
          </a:xfrm>
          <a:prstGeom prst="rect">
            <a:avLst/>
          </a:prstGeom>
          <a:ln w="7865">
            <a:solidFill>
              <a:srgbClr val="000000"/>
            </a:solidFill>
          </a:ln>
        </p:spPr>
        <p:txBody>
          <a:bodyPr vert="horz" wrap="square" lIns="0" tIns="189865" rIns="0" bIns="0" rtlCol="0">
            <a:spAutoFit/>
          </a:bodyPr>
          <a:lstStyle/>
          <a:p>
            <a:pPr marL="34290" algn="ctr">
              <a:lnSpc>
                <a:spcPct val="100000"/>
              </a:lnSpc>
              <a:spcBef>
                <a:spcPts val="1495"/>
              </a:spcBef>
            </a:pPr>
            <a:r>
              <a:rPr sz="2100" b="1" spc="-50" dirty="0">
                <a:solidFill>
                  <a:srgbClr val="010101"/>
                </a:solidFill>
                <a:latin typeface="Arial"/>
                <a:cs typeface="Arial"/>
              </a:rPr>
              <a:t>Stock</a:t>
            </a:r>
            <a:r>
              <a:rPr sz="2100" b="1" spc="-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b="1" spc="-60" dirty="0">
                <a:solidFill>
                  <a:srgbClr val="010101"/>
                </a:solidFill>
                <a:latin typeface="Arial"/>
                <a:cs typeface="Arial"/>
              </a:rPr>
              <a:t>Price</a:t>
            </a:r>
            <a:r>
              <a:rPr sz="2100" b="1" spc="-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010101"/>
                </a:solidFill>
                <a:latin typeface="Arial"/>
                <a:cs typeface="Arial"/>
              </a:rPr>
              <a:t>Modeling</a:t>
            </a:r>
            <a:endParaRPr sz="2100">
              <a:latin typeface="Arial"/>
              <a:cs typeface="Arial"/>
            </a:endParaRPr>
          </a:p>
          <a:p>
            <a:pPr marL="709295" algn="ctr">
              <a:lnSpc>
                <a:spcPts val="4450"/>
              </a:lnSpc>
              <a:spcBef>
                <a:spcPts val="2300"/>
              </a:spcBef>
            </a:pPr>
            <a:r>
              <a:rPr sz="4100" spc="-5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  <a:p>
            <a:pPr marR="880744" algn="r">
              <a:lnSpc>
                <a:spcPts val="4510"/>
              </a:lnSpc>
            </a:pPr>
            <a:r>
              <a:rPr sz="4150" spc="-50" dirty="0">
                <a:solidFill>
                  <a:srgbClr val="1167B1"/>
                </a:solidFill>
                <a:latin typeface="Times New Roman"/>
                <a:cs typeface="Times New Roman"/>
              </a:rPr>
              <a:t>•</a:t>
            </a:r>
            <a:endParaRPr sz="4150">
              <a:latin typeface="Times New Roman"/>
              <a:cs typeface="Times New Roman"/>
            </a:endParaRPr>
          </a:p>
          <a:p>
            <a:pPr marL="1057910">
              <a:lnSpc>
                <a:spcPct val="100000"/>
              </a:lnSpc>
              <a:spcBef>
                <a:spcPts val="650"/>
              </a:spcBef>
            </a:pPr>
            <a:r>
              <a:rPr sz="4100" spc="5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363176" y="4444625"/>
            <a:ext cx="292798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100" b="1" spc="-20" dirty="0">
                <a:solidFill>
                  <a:srgbClr val="010101"/>
                </a:solidFill>
                <a:latin typeface="Arial"/>
                <a:cs typeface="Arial"/>
              </a:rPr>
              <a:t>Temperature</a:t>
            </a:r>
            <a:r>
              <a:rPr sz="2100" b="1" spc="-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b="1" spc="-35" dirty="0">
                <a:solidFill>
                  <a:srgbClr val="010101"/>
                </a:solidFill>
                <a:latin typeface="Arial"/>
                <a:cs typeface="Arial"/>
              </a:rPr>
              <a:t>Prediction</a:t>
            </a:r>
            <a:endParaRPr sz="21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5616832" y="5145498"/>
            <a:ext cx="174625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100" spc="-12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6198877" y="4964373"/>
            <a:ext cx="486409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150" baseline="-22357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r>
              <a:rPr sz="6150" spc="-352" baseline="-22357" dirty="0">
                <a:solidFill>
                  <a:srgbClr val="1167B1"/>
                </a:solidFill>
                <a:latin typeface="Arial"/>
                <a:cs typeface="Arial"/>
              </a:rPr>
              <a:t> </a:t>
            </a:r>
            <a:r>
              <a:rPr sz="4100" spc="-5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6450572" y="5413247"/>
            <a:ext cx="517525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10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r>
              <a:rPr sz="4100" spc="10" dirty="0">
                <a:solidFill>
                  <a:srgbClr val="1167B1"/>
                </a:solidFill>
                <a:latin typeface="Arial"/>
                <a:cs typeface="Arial"/>
              </a:rPr>
              <a:t> </a:t>
            </a:r>
            <a:r>
              <a:rPr sz="4100" spc="-5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7298232" y="4658824"/>
            <a:ext cx="917575" cy="1663700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504825">
              <a:lnSpc>
                <a:spcPct val="100000"/>
              </a:lnSpc>
              <a:spcBef>
                <a:spcPts val="1630"/>
              </a:spcBef>
            </a:pPr>
            <a:r>
              <a:rPr sz="4100" spc="-25" dirty="0">
                <a:solidFill>
                  <a:srgbClr val="1167B1"/>
                </a:solidFill>
                <a:latin typeface="Arial"/>
                <a:cs typeface="Arial"/>
              </a:rPr>
              <a:t>••</a:t>
            </a:r>
            <a:endParaRPr sz="4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530"/>
              </a:spcBef>
            </a:pPr>
            <a:r>
              <a:rPr sz="6150" spc="-120" baseline="14905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r>
              <a:rPr sz="6150" spc="-794" baseline="14905" dirty="0">
                <a:solidFill>
                  <a:srgbClr val="1167B1"/>
                </a:solidFill>
                <a:latin typeface="Arial"/>
                <a:cs typeface="Arial"/>
              </a:rPr>
              <a:t> </a:t>
            </a:r>
            <a:r>
              <a:rPr sz="4100" spc="14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r>
              <a:rPr sz="6150" spc="209" baseline="39295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r>
              <a:rPr sz="4100" spc="14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5677959" y="6114120"/>
            <a:ext cx="522605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4100" spc="10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r>
              <a:rPr sz="4100" spc="-520" dirty="0">
                <a:solidFill>
                  <a:srgbClr val="1167B1"/>
                </a:solidFill>
                <a:latin typeface="Arial"/>
                <a:cs typeface="Arial"/>
              </a:rPr>
              <a:t> </a:t>
            </a:r>
            <a:r>
              <a:rPr sz="6150" spc="75" baseline="-1355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6150" baseline="-135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7496676" y="6318870"/>
            <a:ext cx="196850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100" spc="5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314422" y="7633991"/>
            <a:ext cx="3413760" cy="2499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05"/>
              </a:spcBef>
            </a:pPr>
            <a:r>
              <a:rPr sz="2100" b="1" spc="-30" dirty="0">
                <a:solidFill>
                  <a:srgbClr val="010101"/>
                </a:solidFill>
                <a:latin typeface="Arial"/>
                <a:cs typeface="Arial"/>
              </a:rPr>
              <a:t>Growth</a:t>
            </a:r>
            <a:r>
              <a:rPr sz="2100" b="1" spc="-10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b="1" spc="-65" dirty="0">
                <a:solidFill>
                  <a:srgbClr val="010101"/>
                </a:solidFill>
                <a:latin typeface="Arial"/>
                <a:cs typeface="Arial"/>
              </a:rPr>
              <a:t>Curve</a:t>
            </a:r>
            <a:r>
              <a:rPr sz="2100" b="1" spc="-10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b="1" spc="-20" dirty="0">
                <a:solidFill>
                  <a:srgbClr val="010101"/>
                </a:solidFill>
                <a:latin typeface="Arial"/>
                <a:cs typeface="Arial"/>
              </a:rPr>
              <a:t>in</a:t>
            </a:r>
            <a:r>
              <a:rPr sz="2100" b="1" spc="-1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010101"/>
                </a:solidFill>
                <a:latin typeface="Arial"/>
                <a:cs typeface="Arial"/>
              </a:rPr>
              <a:t>Biology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80"/>
              </a:spcBef>
            </a:pPr>
            <a:endParaRPr sz="2100">
              <a:latin typeface="Arial"/>
              <a:cs typeface="Arial"/>
            </a:endParaRPr>
          </a:p>
          <a:p>
            <a:pPr marL="605155">
              <a:lnSpc>
                <a:spcPct val="100000"/>
              </a:lnSpc>
            </a:pPr>
            <a:r>
              <a:rPr sz="4100" spc="10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r>
              <a:rPr sz="4100" spc="40" dirty="0">
                <a:solidFill>
                  <a:srgbClr val="1167B1"/>
                </a:solidFill>
                <a:latin typeface="Arial"/>
                <a:cs typeface="Arial"/>
              </a:rPr>
              <a:t> </a:t>
            </a:r>
            <a:r>
              <a:rPr sz="4100" spc="5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554039" y="7626115"/>
            <a:ext cx="234759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100" b="1" spc="-40" dirty="0">
                <a:solidFill>
                  <a:srgbClr val="010101"/>
                </a:solidFill>
                <a:latin typeface="Arial"/>
                <a:cs typeface="Arial"/>
              </a:rPr>
              <a:t>Fitting</a:t>
            </a:r>
            <a:r>
              <a:rPr sz="2100" b="1" spc="-229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b="1" spc="-80" dirty="0">
                <a:solidFill>
                  <a:srgbClr val="010101"/>
                </a:solidFill>
                <a:latin typeface="Arial"/>
                <a:cs typeface="Arial"/>
              </a:rPr>
              <a:t>Sensor</a:t>
            </a:r>
            <a:r>
              <a:rPr sz="2100" b="1" spc="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b="1" spc="-20" dirty="0">
                <a:solidFill>
                  <a:srgbClr val="010101"/>
                </a:solidFill>
                <a:latin typeface="Arial"/>
                <a:cs typeface="Arial"/>
              </a:rPr>
              <a:t>Data</a:t>
            </a:r>
            <a:endParaRPr sz="21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5593242" y="8122239"/>
            <a:ext cx="184150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100" spc="-5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7693312" y="8082864"/>
            <a:ext cx="364490" cy="1129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0340">
              <a:lnSpc>
                <a:spcPts val="4350"/>
              </a:lnSpc>
              <a:spcBef>
                <a:spcPts val="90"/>
              </a:spcBef>
            </a:pPr>
            <a:r>
              <a:rPr sz="4100" spc="-5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  <a:p>
            <a:pPr>
              <a:lnSpc>
                <a:spcPts val="4350"/>
              </a:lnSpc>
            </a:pPr>
            <a:r>
              <a:rPr sz="4100" spc="-5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970783" y="9531860"/>
            <a:ext cx="196850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100" spc="-5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7292172" y="9453110"/>
            <a:ext cx="530225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10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r>
              <a:rPr sz="4100" spc="140" dirty="0">
                <a:solidFill>
                  <a:srgbClr val="1167B1"/>
                </a:solidFill>
                <a:latin typeface="Arial"/>
                <a:cs typeface="Arial"/>
              </a:rPr>
              <a:t> </a:t>
            </a:r>
            <a:r>
              <a:rPr sz="4100" spc="-50" dirty="0">
                <a:solidFill>
                  <a:srgbClr val="1167B1"/>
                </a:solidFill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1509" y="1055331"/>
            <a:ext cx="361810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6590" y="1055331"/>
            <a:ext cx="1620279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27102" y="1008087"/>
            <a:ext cx="2454015" cy="645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1349" y="1008087"/>
            <a:ext cx="3445060" cy="645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5429" y="4016326"/>
            <a:ext cx="8353088" cy="45674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93990" y="1263135"/>
            <a:ext cx="192405" cy="5924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700" spc="-50" dirty="0">
                <a:solidFill>
                  <a:srgbClr val="054D7E"/>
                </a:solidFill>
                <a:latin typeface="Times New Roman"/>
                <a:cs typeface="Times New Roman"/>
              </a:rPr>
              <a:t>•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0522892" y="4090250"/>
            <a:ext cx="634174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0" spc="120" dirty="0">
                <a:solidFill>
                  <a:srgbClr val="054D7E"/>
                </a:solidFill>
                <a:latin typeface="Times New Roman"/>
                <a:cs typeface="Times New Roman"/>
              </a:rPr>
              <a:t>Optimizing</a:t>
            </a:r>
            <a:r>
              <a:rPr b="0" spc="114" dirty="0">
                <a:solidFill>
                  <a:srgbClr val="054D7E"/>
                </a:solidFill>
                <a:latin typeface="Times New Roman"/>
                <a:cs typeface="Times New Roman"/>
              </a:rPr>
              <a:t> </a:t>
            </a:r>
            <a:r>
              <a:rPr b="0" spc="70" dirty="0">
                <a:solidFill>
                  <a:srgbClr val="054D7E"/>
                </a:solidFill>
                <a:latin typeface="Times New Roman"/>
                <a:cs typeface="Times New Roman"/>
              </a:rPr>
              <a:t>Feature</a:t>
            </a:r>
            <a:r>
              <a:rPr b="0" spc="240" dirty="0">
                <a:solidFill>
                  <a:srgbClr val="054D7E"/>
                </a:solidFill>
                <a:latin typeface="Times New Roman"/>
                <a:cs typeface="Times New Roman"/>
              </a:rPr>
              <a:t> </a:t>
            </a:r>
            <a:r>
              <a:rPr b="0" spc="-10" dirty="0">
                <a:solidFill>
                  <a:srgbClr val="054D7E"/>
                </a:solidFill>
                <a:latin typeface="Times New Roman"/>
                <a:cs typeface="Times New Roman"/>
              </a:rPr>
              <a:t>Utility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59055" marR="238760" indent="-13335">
              <a:lnSpc>
                <a:spcPct val="136400"/>
              </a:lnSpc>
              <a:spcBef>
                <a:spcPts val="209"/>
              </a:spcBef>
              <a:tabLst>
                <a:tab pos="1666239" algn="l"/>
              </a:tabLst>
            </a:pPr>
            <a:r>
              <a:rPr dirty="0"/>
              <a:t>Using</a:t>
            </a:r>
            <a:r>
              <a:rPr spc="85" dirty="0"/>
              <a:t> </a:t>
            </a:r>
            <a:r>
              <a:rPr spc="-25" dirty="0"/>
              <a:t>the</a:t>
            </a:r>
            <a:r>
              <a:rPr dirty="0"/>
              <a:t>	</a:t>
            </a:r>
            <a:r>
              <a:rPr sz="2850" spc="155" dirty="0">
                <a:latin typeface="Times New Roman"/>
                <a:cs typeface="Times New Roman"/>
              </a:rPr>
              <a:t>leaps</a:t>
            </a:r>
            <a:r>
              <a:rPr sz="2850" spc="85" dirty="0">
                <a:latin typeface="Times New Roman"/>
                <a:cs typeface="Times New Roman"/>
              </a:rPr>
              <a:t> </a:t>
            </a:r>
            <a:r>
              <a:rPr spc="60" dirty="0"/>
              <a:t>package,</a:t>
            </a:r>
            <a:r>
              <a:rPr spc="10" dirty="0"/>
              <a:t> </a:t>
            </a:r>
            <a:r>
              <a:rPr spc="114" dirty="0"/>
              <a:t>we</a:t>
            </a:r>
            <a:r>
              <a:rPr spc="70" dirty="0"/>
              <a:t> </a:t>
            </a:r>
            <a:r>
              <a:rPr spc="110" dirty="0"/>
              <a:t>evaluated</a:t>
            </a:r>
            <a:r>
              <a:rPr spc="145" dirty="0"/>
              <a:t> </a:t>
            </a:r>
            <a:r>
              <a:rPr dirty="0"/>
              <a:t>all</a:t>
            </a:r>
            <a:r>
              <a:rPr spc="-50" dirty="0"/>
              <a:t> </a:t>
            </a:r>
            <a:r>
              <a:rPr spc="80" dirty="0"/>
              <a:t>possible </a:t>
            </a:r>
            <a:r>
              <a:rPr spc="130" dirty="0"/>
              <a:t>combinations</a:t>
            </a:r>
            <a:r>
              <a:rPr spc="235" dirty="0"/>
              <a:t> </a:t>
            </a:r>
            <a:r>
              <a:rPr spc="70" dirty="0"/>
              <a:t>of</a:t>
            </a:r>
            <a:r>
              <a:rPr spc="25" dirty="0"/>
              <a:t> </a:t>
            </a:r>
            <a:r>
              <a:rPr spc="120" dirty="0"/>
              <a:t>predictors.</a:t>
            </a:r>
            <a:endParaRPr sz="2850">
              <a:latin typeface="Times New Roman"/>
              <a:cs typeface="Times New Roman"/>
            </a:endParaRPr>
          </a:p>
          <a:p>
            <a:pPr marL="50800" marR="43180" indent="5080" algn="just">
              <a:lnSpc>
                <a:spcPct val="136500"/>
              </a:lnSpc>
              <a:spcBef>
                <a:spcPts val="2790"/>
              </a:spcBef>
            </a:pPr>
            <a:r>
              <a:rPr dirty="0"/>
              <a:t>By</a:t>
            </a:r>
            <a:r>
              <a:rPr spc="120" dirty="0"/>
              <a:t> </a:t>
            </a:r>
            <a:r>
              <a:rPr dirty="0"/>
              <a:t>analyzing</a:t>
            </a:r>
            <a:r>
              <a:rPr spc="160" dirty="0"/>
              <a:t> </a:t>
            </a:r>
            <a:r>
              <a:rPr sz="2550" b="1" spc="114" dirty="0">
                <a:solidFill>
                  <a:srgbClr val="13C69A"/>
                </a:solidFill>
                <a:latin typeface="Arial"/>
                <a:cs typeface="Arial"/>
              </a:rPr>
              <a:t>Adjusted</a:t>
            </a:r>
            <a:r>
              <a:rPr sz="2550" b="1" spc="5" dirty="0">
                <a:solidFill>
                  <a:srgbClr val="13C69A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13C69A"/>
                </a:solidFill>
                <a:latin typeface="Arial"/>
                <a:cs typeface="Arial"/>
              </a:rPr>
              <a:t>R</a:t>
            </a:r>
            <a:r>
              <a:rPr sz="2100" b="1" baseline="39682" dirty="0">
                <a:solidFill>
                  <a:srgbClr val="13C69A"/>
                </a:solidFill>
                <a:latin typeface="Times New Roman"/>
                <a:cs typeface="Times New Roman"/>
              </a:rPr>
              <a:t>2</a:t>
            </a:r>
            <a:r>
              <a:rPr sz="2100" b="1" spc="232" baseline="39682" dirty="0">
                <a:solidFill>
                  <a:srgbClr val="13C69A"/>
                </a:solidFill>
                <a:latin typeface="Times New Roman"/>
                <a:cs typeface="Times New Roman"/>
              </a:rPr>
              <a:t>  </a:t>
            </a:r>
            <a:r>
              <a:rPr sz="2650" spc="140" dirty="0"/>
              <a:t>and</a:t>
            </a:r>
            <a:r>
              <a:rPr sz="2650" spc="-30" dirty="0"/>
              <a:t> </a:t>
            </a:r>
            <a:r>
              <a:rPr sz="2550" b="1" dirty="0">
                <a:solidFill>
                  <a:srgbClr val="13C69A"/>
                </a:solidFill>
                <a:latin typeface="Arial"/>
                <a:cs typeface="Arial"/>
              </a:rPr>
              <a:t>BIC</a:t>
            </a:r>
            <a:r>
              <a:rPr sz="2550" b="1" dirty="0">
                <a:latin typeface="Arial"/>
                <a:cs typeface="Arial"/>
              </a:rPr>
              <a:t>,</a:t>
            </a:r>
            <a:r>
              <a:rPr sz="2550" b="1" spc="-60" dirty="0">
                <a:latin typeface="Arial"/>
                <a:cs typeface="Arial"/>
              </a:rPr>
              <a:t> </a:t>
            </a:r>
            <a:r>
              <a:rPr sz="2650" spc="80" dirty="0"/>
              <a:t>we</a:t>
            </a:r>
            <a:r>
              <a:rPr sz="2650" spc="100" dirty="0"/>
              <a:t> </a:t>
            </a:r>
            <a:r>
              <a:rPr sz="2650" spc="140" dirty="0"/>
              <a:t>identified</a:t>
            </a:r>
            <a:r>
              <a:rPr sz="2650" spc="125" dirty="0"/>
              <a:t> </a:t>
            </a:r>
            <a:r>
              <a:rPr sz="2650" spc="140" dirty="0"/>
              <a:t>the </a:t>
            </a:r>
            <a:r>
              <a:rPr sz="2650" spc="165" dirty="0"/>
              <a:t>most</a:t>
            </a:r>
            <a:r>
              <a:rPr sz="2650" spc="130" dirty="0"/>
              <a:t> </a:t>
            </a:r>
            <a:r>
              <a:rPr sz="2650" spc="90" dirty="0"/>
              <a:t>parsimonious</a:t>
            </a:r>
            <a:r>
              <a:rPr sz="2650" spc="170" dirty="0"/>
              <a:t> </a:t>
            </a:r>
            <a:r>
              <a:rPr sz="2650" spc="150" dirty="0"/>
              <a:t>model</a:t>
            </a:r>
            <a:r>
              <a:rPr sz="2650" spc="95" dirty="0"/>
              <a:t> </a:t>
            </a:r>
            <a:r>
              <a:rPr sz="2650" spc="180" dirty="0"/>
              <a:t>that</a:t>
            </a:r>
            <a:r>
              <a:rPr sz="2650" spc="90" dirty="0"/>
              <a:t> </a:t>
            </a:r>
            <a:r>
              <a:rPr sz="2650" spc="100" dirty="0"/>
              <a:t>maintains</a:t>
            </a:r>
            <a:r>
              <a:rPr sz="2650" spc="95" dirty="0"/>
              <a:t> </a:t>
            </a:r>
            <a:r>
              <a:rPr sz="2650" spc="120" dirty="0"/>
              <a:t>maximum </a:t>
            </a:r>
            <a:r>
              <a:rPr sz="2650" spc="140" dirty="0"/>
              <a:t>predictive </a:t>
            </a:r>
            <a:r>
              <a:rPr sz="2650" spc="130" dirty="0"/>
              <a:t>power</a:t>
            </a:r>
            <a:r>
              <a:rPr sz="2650" spc="270" dirty="0"/>
              <a:t> </a:t>
            </a:r>
            <a:r>
              <a:rPr sz="2650" spc="150" dirty="0"/>
              <a:t>without</a:t>
            </a:r>
            <a:r>
              <a:rPr sz="2650" spc="265" dirty="0"/>
              <a:t> </a:t>
            </a:r>
            <a:r>
              <a:rPr sz="2650" spc="75" dirty="0"/>
              <a:t>overfitting.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6913" y="1263135"/>
            <a:ext cx="205740" cy="5924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700" spc="65" dirty="0">
                <a:solidFill>
                  <a:srgbClr val="034D7E"/>
                </a:solidFill>
                <a:latin typeface="Times New Roman"/>
                <a:cs typeface="Times New Roman"/>
              </a:rPr>
              <a:t>•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08198" y="767013"/>
            <a:ext cx="20891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65" dirty="0">
                <a:solidFill>
                  <a:srgbClr val="034D7E"/>
                </a:solidFill>
                <a:latin typeface="Times New Roman"/>
                <a:cs typeface="Times New Roman"/>
              </a:rPr>
              <a:t>•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729567" y="1058385"/>
            <a:ext cx="33464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0" spc="150" dirty="0">
                <a:solidFill>
                  <a:srgbClr val="034D7E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2657" y="4090250"/>
            <a:ext cx="8307070" cy="4117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135" dirty="0">
                <a:solidFill>
                  <a:srgbClr val="034D7E"/>
                </a:solidFill>
                <a:latin typeface="Times New Roman"/>
                <a:cs typeface="Times New Roman"/>
              </a:rPr>
              <a:t>Managing</a:t>
            </a:r>
            <a:r>
              <a:rPr sz="4450" spc="45" dirty="0">
                <a:solidFill>
                  <a:srgbClr val="034D7E"/>
                </a:solidFill>
                <a:latin typeface="Times New Roman"/>
                <a:cs typeface="Times New Roman"/>
              </a:rPr>
              <a:t> </a:t>
            </a:r>
            <a:r>
              <a:rPr sz="4450" spc="150" dirty="0">
                <a:solidFill>
                  <a:srgbClr val="034D7E"/>
                </a:solidFill>
                <a:latin typeface="Times New Roman"/>
                <a:cs typeface="Times New Roman"/>
              </a:rPr>
              <a:t>Multi-</a:t>
            </a:r>
            <a:r>
              <a:rPr sz="4450" spc="125" dirty="0">
                <a:solidFill>
                  <a:srgbClr val="034D7E"/>
                </a:solidFill>
                <a:latin typeface="Times New Roman"/>
                <a:cs typeface="Times New Roman"/>
              </a:rPr>
              <a:t>collinearity</a:t>
            </a:r>
            <a:endParaRPr sz="4450">
              <a:latin typeface="Times New Roman"/>
              <a:cs typeface="Times New Roman"/>
            </a:endParaRPr>
          </a:p>
          <a:p>
            <a:pPr marL="25400" marR="5080" indent="-1270">
              <a:lnSpc>
                <a:spcPct val="139400"/>
              </a:lnSpc>
              <a:spcBef>
                <a:spcPts val="2150"/>
              </a:spcBef>
            </a:pPr>
            <a:r>
              <a:rPr sz="2650" dirty="0">
                <a:solidFill>
                  <a:srgbClr val="343D49"/>
                </a:solidFill>
                <a:latin typeface="Arial"/>
                <a:cs typeface="Arial"/>
              </a:rPr>
              <a:t>We</a:t>
            </a:r>
            <a:r>
              <a:rPr sz="2650" spc="14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114" dirty="0">
                <a:solidFill>
                  <a:srgbClr val="343D49"/>
                </a:solidFill>
                <a:latin typeface="Arial"/>
                <a:cs typeface="Arial"/>
              </a:rPr>
              <a:t>applied</a:t>
            </a:r>
            <a:r>
              <a:rPr sz="2650" spc="7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343D49"/>
                </a:solidFill>
                <a:latin typeface="Arial"/>
                <a:cs typeface="Arial"/>
              </a:rPr>
              <a:t>L2</a:t>
            </a:r>
            <a:r>
              <a:rPr sz="2650" spc="-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343D49"/>
                </a:solidFill>
                <a:latin typeface="Arial"/>
                <a:cs typeface="Arial"/>
              </a:rPr>
              <a:t>regularization</a:t>
            </a:r>
            <a:r>
              <a:rPr sz="2650" spc="-20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343D49"/>
                </a:solidFill>
                <a:latin typeface="Arial"/>
                <a:cs typeface="Arial"/>
              </a:rPr>
              <a:t>(Ridge)</a:t>
            </a:r>
            <a:r>
              <a:rPr sz="2650" spc="13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95" dirty="0">
                <a:solidFill>
                  <a:srgbClr val="343D49"/>
                </a:solidFill>
                <a:latin typeface="Arial"/>
                <a:cs typeface="Arial"/>
              </a:rPr>
              <a:t>using</a:t>
            </a:r>
            <a:r>
              <a:rPr sz="2650" spc="-8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343D49"/>
                </a:solidFill>
                <a:latin typeface="Arial"/>
                <a:cs typeface="Arial"/>
              </a:rPr>
              <a:t>glmnet</a:t>
            </a:r>
            <a:r>
              <a:rPr sz="2650" spc="28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-25" dirty="0">
                <a:solidFill>
                  <a:srgbClr val="343D49"/>
                </a:solidFill>
                <a:latin typeface="Arial"/>
                <a:cs typeface="Arial"/>
              </a:rPr>
              <a:t>to </a:t>
            </a:r>
            <a:r>
              <a:rPr sz="2650" dirty="0">
                <a:solidFill>
                  <a:srgbClr val="343D49"/>
                </a:solidFill>
                <a:latin typeface="Arial"/>
                <a:cs typeface="Arial"/>
              </a:rPr>
              <a:t>shrink</a:t>
            </a:r>
            <a:r>
              <a:rPr sz="2650" spc="130" dirty="0">
                <a:solidFill>
                  <a:srgbClr val="343D49"/>
                </a:solidFill>
                <a:latin typeface="Arial"/>
                <a:cs typeface="Arial"/>
              </a:rPr>
              <a:t> coefficients</a:t>
            </a:r>
            <a:r>
              <a:rPr sz="2650" spc="26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110" dirty="0">
                <a:solidFill>
                  <a:srgbClr val="343D49"/>
                </a:solidFill>
                <a:latin typeface="Arial"/>
                <a:cs typeface="Arial"/>
              </a:rPr>
              <a:t>and</a:t>
            </a:r>
            <a:r>
              <a:rPr sz="265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343D49"/>
                </a:solidFill>
                <a:latin typeface="Arial"/>
                <a:cs typeface="Arial"/>
              </a:rPr>
              <a:t>manage</a:t>
            </a:r>
            <a:r>
              <a:rPr sz="2650" spc="21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343D49"/>
                </a:solidFill>
                <a:latin typeface="Arial"/>
                <a:cs typeface="Arial"/>
              </a:rPr>
              <a:t>noise </a:t>
            </a:r>
            <a:r>
              <a:rPr sz="2650" spc="55" dirty="0">
                <a:solidFill>
                  <a:srgbClr val="343D49"/>
                </a:solidFill>
                <a:latin typeface="Arial"/>
                <a:cs typeface="Arial"/>
              </a:rPr>
              <a:t>in</a:t>
            </a:r>
            <a:r>
              <a:rPr sz="2650" spc="70" dirty="0">
                <a:solidFill>
                  <a:srgbClr val="343D49"/>
                </a:solidFill>
                <a:latin typeface="Arial"/>
                <a:cs typeface="Arial"/>
              </a:rPr>
              <a:t> the</a:t>
            </a:r>
            <a:r>
              <a:rPr sz="2650" spc="409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155" dirty="0">
                <a:solidFill>
                  <a:srgbClr val="343D49"/>
                </a:solidFill>
                <a:latin typeface="Arial"/>
                <a:cs typeface="Arial"/>
              </a:rPr>
              <a:t>high-</a:t>
            </a:r>
            <a:r>
              <a:rPr sz="2650" spc="70" dirty="0">
                <a:solidFill>
                  <a:srgbClr val="343D49"/>
                </a:solidFill>
                <a:latin typeface="Arial"/>
                <a:cs typeface="Arial"/>
              </a:rPr>
              <a:t>dimensional</a:t>
            </a:r>
            <a:r>
              <a:rPr sz="2650" spc="32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90" dirty="0">
                <a:solidFill>
                  <a:srgbClr val="343D49"/>
                </a:solidFill>
                <a:latin typeface="Arial"/>
                <a:cs typeface="Arial"/>
              </a:rPr>
              <a:t>data.</a:t>
            </a:r>
            <a:endParaRPr sz="2650">
              <a:latin typeface="Arial"/>
              <a:cs typeface="Arial"/>
            </a:endParaRPr>
          </a:p>
          <a:p>
            <a:pPr marL="25400" marR="880744" indent="-12700">
              <a:lnSpc>
                <a:spcPct val="138400"/>
              </a:lnSpc>
              <a:spcBef>
                <a:spcPts val="2605"/>
              </a:spcBef>
            </a:pPr>
            <a:r>
              <a:rPr sz="2650" dirty="0">
                <a:solidFill>
                  <a:srgbClr val="343D49"/>
                </a:solidFill>
                <a:latin typeface="Arial"/>
                <a:cs typeface="Arial"/>
              </a:rPr>
              <a:t>The</a:t>
            </a:r>
            <a:r>
              <a:rPr sz="2650" spc="6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125" dirty="0">
                <a:solidFill>
                  <a:srgbClr val="343D49"/>
                </a:solidFill>
                <a:latin typeface="Arial"/>
                <a:cs typeface="Arial"/>
              </a:rPr>
              <a:t>lambda</a:t>
            </a:r>
            <a:r>
              <a:rPr sz="2650" spc="6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105" dirty="0">
                <a:solidFill>
                  <a:srgbClr val="343D49"/>
                </a:solidFill>
                <a:latin typeface="Arial"/>
                <a:cs typeface="Arial"/>
              </a:rPr>
              <a:t>grid</a:t>
            </a:r>
            <a:r>
              <a:rPr sz="2650" spc="3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343D49"/>
                </a:solidFill>
                <a:latin typeface="Arial"/>
                <a:cs typeface="Arial"/>
              </a:rPr>
              <a:t>search</a:t>
            </a:r>
            <a:r>
              <a:rPr sz="2650" spc="13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343D49"/>
                </a:solidFill>
                <a:latin typeface="Arial"/>
                <a:cs typeface="Arial"/>
              </a:rPr>
              <a:t>allowed</a:t>
            </a:r>
            <a:r>
              <a:rPr sz="2650" spc="7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110" dirty="0">
                <a:solidFill>
                  <a:srgbClr val="343D49"/>
                </a:solidFill>
                <a:latin typeface="Arial"/>
                <a:cs typeface="Arial"/>
              </a:rPr>
              <a:t>us</a:t>
            </a:r>
            <a:r>
              <a:rPr sz="2650" spc="2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343D49"/>
                </a:solidFill>
                <a:latin typeface="Arial"/>
                <a:cs typeface="Arial"/>
              </a:rPr>
              <a:t>to</a:t>
            </a:r>
            <a:r>
              <a:rPr sz="2650" spc="31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145" dirty="0">
                <a:solidFill>
                  <a:srgbClr val="343D49"/>
                </a:solidFill>
                <a:latin typeface="Arial"/>
                <a:cs typeface="Arial"/>
              </a:rPr>
              <a:t>find</a:t>
            </a:r>
            <a:r>
              <a:rPr sz="2650" spc="-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140" dirty="0">
                <a:solidFill>
                  <a:srgbClr val="343D49"/>
                </a:solidFill>
                <a:latin typeface="Arial"/>
                <a:cs typeface="Arial"/>
              </a:rPr>
              <a:t>the </a:t>
            </a:r>
            <a:r>
              <a:rPr sz="2650" spc="130" dirty="0">
                <a:solidFill>
                  <a:srgbClr val="343D49"/>
                </a:solidFill>
                <a:latin typeface="Arial"/>
                <a:cs typeface="Arial"/>
              </a:rPr>
              <a:t>optimal </a:t>
            </a:r>
            <a:r>
              <a:rPr sz="2650" spc="180" dirty="0">
                <a:solidFill>
                  <a:srgbClr val="343D49"/>
                </a:solidFill>
                <a:latin typeface="Arial"/>
                <a:cs typeface="Arial"/>
              </a:rPr>
              <a:t>trade-</a:t>
            </a:r>
            <a:r>
              <a:rPr sz="2650" spc="150" dirty="0">
                <a:solidFill>
                  <a:srgbClr val="343D49"/>
                </a:solidFill>
                <a:latin typeface="Arial"/>
                <a:cs typeface="Arial"/>
              </a:rPr>
              <a:t>off</a:t>
            </a:r>
            <a:r>
              <a:rPr sz="2650" spc="23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180" dirty="0">
                <a:solidFill>
                  <a:srgbClr val="343D49"/>
                </a:solidFill>
                <a:latin typeface="Arial"/>
                <a:cs typeface="Arial"/>
              </a:rPr>
              <a:t>between</a:t>
            </a:r>
            <a:r>
              <a:rPr sz="2650" spc="3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343D49"/>
                </a:solidFill>
                <a:latin typeface="Arial"/>
                <a:cs typeface="Arial"/>
              </a:rPr>
              <a:t>bias</a:t>
            </a:r>
            <a:r>
              <a:rPr sz="2650" spc="6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110" dirty="0">
                <a:solidFill>
                  <a:srgbClr val="343D49"/>
                </a:solidFill>
                <a:latin typeface="Arial"/>
                <a:cs typeface="Arial"/>
              </a:rPr>
              <a:t>and</a:t>
            </a:r>
            <a:r>
              <a:rPr sz="2650" spc="5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343D49"/>
                </a:solidFill>
                <a:latin typeface="Arial"/>
                <a:cs typeface="Arial"/>
              </a:rPr>
              <a:t>variance.</a:t>
            </a:r>
            <a:endParaRPr sz="2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00785" y="4710798"/>
            <a:ext cx="4737100" cy="1726564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2449195">
              <a:lnSpc>
                <a:spcPct val="100000"/>
              </a:lnSpc>
              <a:spcBef>
                <a:spcPts val="1235"/>
              </a:spcBef>
            </a:pPr>
            <a:r>
              <a:rPr sz="2100" spc="60" dirty="0">
                <a:solidFill>
                  <a:srgbClr val="0E0E0E"/>
                </a:solidFill>
                <a:latin typeface="Arial"/>
                <a:cs typeface="Arial"/>
              </a:rPr>
              <a:t>Total</a:t>
            </a:r>
            <a:r>
              <a:rPr sz="2100" spc="-17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2100" spc="85" dirty="0">
                <a:solidFill>
                  <a:srgbClr val="0E0E0E"/>
                </a:solidFill>
                <a:latin typeface="Arial"/>
                <a:cs typeface="Arial"/>
              </a:rPr>
              <a:t>error</a:t>
            </a:r>
            <a:endParaRPr sz="2100">
              <a:latin typeface="Arial"/>
              <a:cs typeface="Arial"/>
            </a:endParaRPr>
          </a:p>
          <a:p>
            <a:pPr marL="224154" marR="2874010" indent="-212090">
              <a:lnSpc>
                <a:spcPts val="2170"/>
              </a:lnSpc>
              <a:spcBef>
                <a:spcPts val="1505"/>
              </a:spcBef>
            </a:pPr>
            <a:r>
              <a:rPr sz="2100" spc="85" dirty="0">
                <a:solidFill>
                  <a:srgbClr val="0E0E0E"/>
                </a:solidFill>
                <a:latin typeface="Arial"/>
                <a:cs typeface="Arial"/>
              </a:rPr>
              <a:t>Optimal</a:t>
            </a:r>
            <a:r>
              <a:rPr sz="21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2100" spc="50" dirty="0">
                <a:solidFill>
                  <a:srgbClr val="0E0E0E"/>
                </a:solidFill>
                <a:latin typeface="Arial"/>
                <a:cs typeface="Arial"/>
              </a:rPr>
              <a:t>Model Complexity</a:t>
            </a:r>
            <a:endParaRPr sz="21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370"/>
              </a:spcBef>
            </a:pPr>
            <a:r>
              <a:rPr sz="2100" spc="-10" dirty="0">
                <a:solidFill>
                  <a:srgbClr val="447C59"/>
                </a:solidFill>
                <a:latin typeface="Arial"/>
                <a:cs typeface="Arial"/>
              </a:rPr>
              <a:t>Variance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69805" y="7208742"/>
            <a:ext cx="7337425" cy="1142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tabLst>
                <a:tab pos="6610984" algn="l"/>
              </a:tabLst>
            </a:pPr>
            <a:r>
              <a:rPr sz="2100" u="heavy" dirty="0">
                <a:solidFill>
                  <a:srgbClr val="754283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2100" u="heavy" spc="-10" dirty="0">
                <a:solidFill>
                  <a:srgbClr val="754283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Bias</a:t>
            </a:r>
            <a:r>
              <a:rPr sz="2100" u="none" spc="-15" baseline="37698" dirty="0">
                <a:solidFill>
                  <a:srgbClr val="754283"/>
                </a:solidFill>
                <a:latin typeface="Times New Roman"/>
                <a:cs typeface="Times New Roman"/>
              </a:rPr>
              <a:t>2</a:t>
            </a:r>
            <a:endParaRPr sz="2100" baseline="37698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2100">
              <a:latin typeface="Times New Roman"/>
              <a:cs typeface="Times New Roman"/>
            </a:endParaRPr>
          </a:p>
          <a:p>
            <a:pPr marR="36195" algn="ctr">
              <a:lnSpc>
                <a:spcPct val="100000"/>
              </a:lnSpc>
            </a:pPr>
            <a:r>
              <a:rPr sz="2100" spc="85" dirty="0">
                <a:solidFill>
                  <a:srgbClr val="0E0E0E"/>
                </a:solidFill>
                <a:latin typeface="Arial"/>
                <a:cs typeface="Arial"/>
              </a:rPr>
              <a:t>Model</a:t>
            </a:r>
            <a:r>
              <a:rPr sz="2100" spc="-215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2100" spc="70" dirty="0">
                <a:solidFill>
                  <a:srgbClr val="0E0E0E"/>
                </a:solidFill>
                <a:latin typeface="Arial"/>
                <a:cs typeface="Arial"/>
              </a:rPr>
              <a:t>Complexity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5778" y="1071085"/>
            <a:ext cx="519118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5128" y="1071085"/>
            <a:ext cx="1604549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8843" y="1008087"/>
            <a:ext cx="3916986" cy="8347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202321" y="3575327"/>
            <a:ext cx="5113020" cy="5276850"/>
            <a:chOff x="2202321" y="3575327"/>
            <a:chExt cx="5113020" cy="527685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02321" y="3575327"/>
              <a:ext cx="4908031" cy="52762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87846" y="4819573"/>
              <a:ext cx="346079" cy="2047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87846" y="7276567"/>
              <a:ext cx="330348" cy="2677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35039" y="7623066"/>
              <a:ext cx="361810" cy="5512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68775" y="5118822"/>
              <a:ext cx="346079" cy="2677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68775" y="7434066"/>
              <a:ext cx="330348" cy="267749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989954" y="3417825"/>
            <a:ext cx="0" cy="5591810"/>
          </a:xfrm>
          <a:custGeom>
            <a:avLst/>
            <a:gdLst/>
            <a:ahLst/>
            <a:cxnLst/>
            <a:rect l="l" t="t" r="r" b="b"/>
            <a:pathLst>
              <a:path h="5591809">
                <a:moveTo>
                  <a:pt x="0" y="5591236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966213" y="3061359"/>
            <a:ext cx="7488555" cy="5960110"/>
            <a:chOff x="1966213" y="3061359"/>
            <a:chExt cx="7488555" cy="5960110"/>
          </a:xfrm>
        </p:grpSpPr>
        <p:sp>
          <p:nvSpPr>
            <p:cNvPr id="15" name="object 15"/>
            <p:cNvSpPr/>
            <p:nvPr/>
          </p:nvSpPr>
          <p:spPr>
            <a:xfrm>
              <a:off x="9414921" y="3417825"/>
              <a:ext cx="0" cy="5591810"/>
            </a:xfrm>
            <a:custGeom>
              <a:avLst/>
              <a:gdLst/>
              <a:ahLst/>
              <a:cxnLst/>
              <a:rect l="l" t="t" r="r" b="b"/>
              <a:pathLst>
                <a:path h="5591809">
                  <a:moveTo>
                    <a:pt x="0" y="5591236"/>
                  </a:moveTo>
                  <a:lnTo>
                    <a:pt x="0" y="0"/>
                  </a:lnTo>
                </a:path>
              </a:pathLst>
            </a:custGeom>
            <a:ln w="23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82088" y="3433575"/>
              <a:ext cx="7456805" cy="0"/>
            </a:xfrm>
            <a:custGeom>
              <a:avLst/>
              <a:gdLst/>
              <a:ahLst/>
              <a:cxnLst/>
              <a:rect l="l" t="t" r="r" b="b"/>
              <a:pathLst>
                <a:path w="7456805">
                  <a:moveTo>
                    <a:pt x="0" y="0"/>
                  </a:moveTo>
                  <a:lnTo>
                    <a:pt x="7456428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82088" y="8977561"/>
              <a:ext cx="7456805" cy="0"/>
            </a:xfrm>
            <a:custGeom>
              <a:avLst/>
              <a:gdLst/>
              <a:ahLst/>
              <a:cxnLst/>
              <a:rect l="l" t="t" r="r" b="b"/>
              <a:pathLst>
                <a:path w="7456805">
                  <a:moveTo>
                    <a:pt x="0" y="0"/>
                  </a:moveTo>
                  <a:lnTo>
                    <a:pt x="7456428" y="0"/>
                  </a:lnTo>
                </a:path>
              </a:pathLst>
            </a:custGeom>
            <a:ln w="31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06948" y="3061359"/>
              <a:ext cx="15875" cy="344170"/>
            </a:xfrm>
            <a:custGeom>
              <a:avLst/>
              <a:gdLst/>
              <a:ahLst/>
              <a:cxnLst/>
              <a:rect l="l" t="t" r="r" b="b"/>
              <a:pathLst>
                <a:path w="15875" h="344170">
                  <a:moveTo>
                    <a:pt x="15730" y="343792"/>
                  </a:moveTo>
                  <a:lnTo>
                    <a:pt x="0" y="343792"/>
                  </a:lnTo>
                  <a:lnTo>
                    <a:pt x="0" y="0"/>
                  </a:lnTo>
                  <a:lnTo>
                    <a:pt x="15730" y="0"/>
                  </a:lnTo>
                  <a:lnTo>
                    <a:pt x="15730" y="343792"/>
                  </a:lnTo>
                  <a:close/>
                </a:path>
              </a:pathLst>
            </a:custGeom>
            <a:solidFill>
              <a:srgbClr val="F0F0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860" dirty="0">
                <a:solidFill>
                  <a:srgbClr val="034D7E"/>
                </a:solidFill>
              </a:rPr>
              <a:t>eans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439998" y="2702989"/>
            <a:ext cx="7019925" cy="1095375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504315">
              <a:lnSpc>
                <a:spcPct val="100000"/>
              </a:lnSpc>
              <a:spcBef>
                <a:spcPts val="1685"/>
              </a:spcBef>
            </a:pPr>
            <a:r>
              <a:rPr sz="1950" spc="105" dirty="0">
                <a:solidFill>
                  <a:srgbClr val="363F49"/>
                </a:solidFill>
                <a:latin typeface="Arial"/>
                <a:cs typeface="Arial"/>
              </a:rPr>
              <a:t>Cluster</a:t>
            </a:r>
            <a:r>
              <a:rPr sz="1950" spc="15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1950" spc="-490" dirty="0">
                <a:solidFill>
                  <a:srgbClr val="2D2D2D"/>
                </a:solidFill>
                <a:latin typeface="Arial"/>
                <a:cs typeface="Arial"/>
              </a:rPr>
              <a:t>d</a:t>
            </a:r>
            <a:r>
              <a:rPr sz="1950" spc="-490" dirty="0">
                <a:solidFill>
                  <a:srgbClr val="C6C6C6"/>
                </a:solidFill>
                <a:latin typeface="Arial"/>
                <a:cs typeface="Arial"/>
              </a:rPr>
              <a:t>�</a:t>
            </a:r>
            <a:r>
              <a:rPr sz="1950" spc="-490" dirty="0">
                <a:solidFill>
                  <a:srgbClr val="4D4D4D"/>
                </a:solidFill>
                <a:latin typeface="Arial"/>
                <a:cs typeface="Arial"/>
              </a:rPr>
              <a:t>e</a:t>
            </a:r>
            <a:r>
              <a:rPr sz="1950" spc="114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950" spc="120" dirty="0">
                <a:solidFill>
                  <a:srgbClr val="4D4D4D"/>
                </a:solidFill>
                <a:latin typeface="Arial"/>
                <a:cs typeface="Arial"/>
              </a:rPr>
              <a:t>clientes</a:t>
            </a:r>
            <a:r>
              <a:rPr sz="1950" spc="9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950" spc="100" dirty="0">
                <a:solidFill>
                  <a:srgbClr val="363F49"/>
                </a:solidFill>
                <a:latin typeface="Arial"/>
                <a:cs typeface="Arial"/>
              </a:rPr>
              <a:t>Centro</a:t>
            </a:r>
            <a:r>
              <a:rPr sz="1950" spc="4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1950" spc="100" dirty="0">
                <a:solidFill>
                  <a:srgbClr val="363F49"/>
                </a:solidFill>
                <a:latin typeface="Arial"/>
                <a:cs typeface="Arial"/>
              </a:rPr>
              <a:t>Comercial</a:t>
            </a:r>
            <a:r>
              <a:rPr sz="1950" spc="17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1950" spc="85" dirty="0">
                <a:solidFill>
                  <a:srgbClr val="363F49"/>
                </a:solidFill>
                <a:latin typeface="Arial"/>
                <a:cs typeface="Arial"/>
              </a:rPr>
              <a:t>(k</a:t>
            </a:r>
            <a:r>
              <a:rPr sz="1950" spc="32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3200" spc="-450" dirty="0">
                <a:solidFill>
                  <a:srgbClr val="4D4D4D"/>
                </a:solidFill>
                <a:latin typeface="Times New Roman"/>
                <a:cs typeface="Times New Roman"/>
              </a:rPr>
              <a:t>=</a:t>
            </a:r>
            <a:r>
              <a:rPr sz="3200" spc="-10" dirty="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sz="1950" spc="-25" dirty="0">
                <a:solidFill>
                  <a:srgbClr val="363F49"/>
                </a:solidFill>
                <a:latin typeface="Arial"/>
                <a:cs typeface="Arial"/>
              </a:rPr>
              <a:t>5)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750" spc="60" dirty="0">
                <a:solidFill>
                  <a:srgbClr val="4D4D4D"/>
                </a:solidFill>
                <a:latin typeface="Times New Roman"/>
                <a:cs typeface="Times New Roman"/>
              </a:rPr>
              <a:t>100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59061" y="4519436"/>
            <a:ext cx="29464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45" dirty="0">
                <a:solidFill>
                  <a:srgbClr val="4D4D4D"/>
                </a:solidFill>
                <a:latin typeface="Arial"/>
                <a:cs typeface="Arial"/>
              </a:rPr>
              <a:t>80</a:t>
            </a:r>
            <a:endParaRPr sz="17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1475" y="4609999"/>
            <a:ext cx="28575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725" spc="-622" baseline="-4830" dirty="0">
                <a:solidFill>
                  <a:srgbClr val="363F49"/>
                </a:solidFill>
                <a:latin typeface="Arial"/>
                <a:cs typeface="Arial"/>
              </a:rPr>
              <a:t>0</a:t>
            </a:r>
            <a:r>
              <a:rPr sz="4450" spc="190" dirty="0">
                <a:solidFill>
                  <a:srgbClr val="606060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95614" y="5176998"/>
            <a:ext cx="749935" cy="788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235"/>
              </a:lnSpc>
              <a:spcBef>
                <a:spcPts val="125"/>
              </a:spcBef>
            </a:pPr>
            <a:r>
              <a:rPr sz="1150" spc="1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1150">
              <a:latin typeface="Arial"/>
              <a:cs typeface="Arial"/>
            </a:endParaRPr>
          </a:p>
          <a:p>
            <a:pPr marL="51435">
              <a:lnSpc>
                <a:spcPts val="815"/>
              </a:lnSpc>
            </a:pPr>
            <a:r>
              <a:rPr sz="800" dirty="0">
                <a:solidFill>
                  <a:srgbClr val="363F49"/>
                </a:solidFill>
                <a:latin typeface="Arial"/>
                <a:cs typeface="Arial"/>
              </a:rPr>
              <a:t>,-</a:t>
            </a:r>
            <a:r>
              <a:rPr sz="800" spc="-50" dirty="0">
                <a:solidFill>
                  <a:srgbClr val="363F49"/>
                </a:solidFill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  <a:p>
            <a:pPr marL="121285">
              <a:lnSpc>
                <a:spcPts val="665"/>
              </a:lnSpc>
              <a:spcBef>
                <a:spcPts val="60"/>
              </a:spcBef>
            </a:pPr>
            <a:r>
              <a:rPr sz="650" spc="-50" dirty="0">
                <a:solidFill>
                  <a:srgbClr val="4D4D4D"/>
                </a:solidFill>
                <a:latin typeface="Times New Roman"/>
                <a:cs typeface="Times New Roman"/>
              </a:rPr>
              <a:t>I</a:t>
            </a:r>
            <a:endParaRPr sz="650">
              <a:latin typeface="Times New Roman"/>
              <a:cs typeface="Times New Roman"/>
            </a:endParaRPr>
          </a:p>
          <a:p>
            <a:pPr marL="22860">
              <a:lnSpc>
                <a:spcPts val="2145"/>
              </a:lnSpc>
              <a:tabLst>
                <a:tab pos="476884" algn="l"/>
              </a:tabLst>
            </a:pPr>
            <a:r>
              <a:rPr sz="1900" spc="-25" dirty="0">
                <a:solidFill>
                  <a:srgbClr val="4D4D4D"/>
                </a:solidFill>
                <a:latin typeface="Arial"/>
                <a:cs typeface="Arial"/>
              </a:rPr>
              <a:t>::!</a:t>
            </a:r>
            <a:r>
              <a:rPr sz="1900" dirty="0">
                <a:solidFill>
                  <a:srgbClr val="4D4D4D"/>
                </a:solidFill>
                <a:latin typeface="Arial"/>
                <a:cs typeface="Arial"/>
              </a:rPr>
              <a:t>	</a:t>
            </a:r>
            <a:r>
              <a:rPr sz="1700" spc="35" dirty="0">
                <a:solidFill>
                  <a:srgbClr val="4D4D4D"/>
                </a:solidFill>
                <a:latin typeface="Arial"/>
                <a:cs typeface="Arial"/>
              </a:rPr>
              <a:t>60</a:t>
            </a:r>
            <a:endParaRPr sz="1700">
              <a:latin typeface="Arial"/>
              <a:cs typeface="Arial"/>
            </a:endParaRPr>
          </a:p>
          <a:p>
            <a:pPr marL="69215">
              <a:lnSpc>
                <a:spcPts val="1060"/>
              </a:lnSpc>
            </a:pPr>
            <a:r>
              <a:rPr sz="900" spc="-25" dirty="0">
                <a:solidFill>
                  <a:srgbClr val="4D4D4D"/>
                </a:solidFill>
                <a:latin typeface="Arial"/>
                <a:cs typeface="Arial"/>
              </a:rPr>
              <a:t>(IJ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52701" y="5905433"/>
            <a:ext cx="10795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25" dirty="0">
                <a:solidFill>
                  <a:srgbClr val="4D4D4D"/>
                </a:solidFill>
                <a:latin typeface="Arial"/>
                <a:cs typeface="Arial"/>
              </a:rPr>
              <a:t>'-</a:t>
            </a:r>
            <a:endParaRPr sz="11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2606" y="5999933"/>
            <a:ext cx="11303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5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11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7942" y="6125933"/>
            <a:ext cx="133350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25" dirty="0">
                <a:solidFill>
                  <a:srgbClr val="606060"/>
                </a:solidFill>
                <a:latin typeface="Times New Roman"/>
                <a:cs typeface="Times New Roman"/>
              </a:rPr>
              <a:t>V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42808" y="6216313"/>
            <a:ext cx="242570" cy="4425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250" spc="-25" dirty="0">
                <a:solidFill>
                  <a:srgbClr val="4D4D4D"/>
                </a:solidFill>
                <a:latin typeface="Arial"/>
                <a:cs typeface="Arial"/>
              </a:rPr>
              <a:t>Vl</a:t>
            </a:r>
            <a:endParaRPr sz="125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165"/>
              </a:spcBef>
            </a:pPr>
            <a:r>
              <a:rPr sz="1200" spc="-25" dirty="0">
                <a:solidFill>
                  <a:srgbClr val="4D4D4D"/>
                </a:solidFill>
                <a:latin typeface="Arial"/>
                <a:cs typeface="Arial"/>
              </a:rPr>
              <a:t>O'I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60607" y="6582681"/>
            <a:ext cx="38227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295" dirty="0">
                <a:solidFill>
                  <a:srgbClr val="828282"/>
                </a:solidFill>
                <a:latin typeface="Arial"/>
                <a:cs typeface="Arial"/>
              </a:rPr>
              <a:t>-</a:t>
            </a:r>
            <a:r>
              <a:rPr sz="1700" spc="235" dirty="0">
                <a:solidFill>
                  <a:srgbClr val="4D4D4D"/>
                </a:solidFill>
                <a:latin typeface="Arial"/>
                <a:cs typeface="Arial"/>
              </a:rPr>
              <a:t>�</a:t>
            </a:r>
            <a:endParaRPr sz="17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81387" y="6582681"/>
            <a:ext cx="271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4D4D4D"/>
                </a:solidFill>
                <a:latin typeface="Arial"/>
                <a:cs typeface="Arial"/>
              </a:rPr>
              <a:t>40</a:t>
            </a:r>
            <a:endParaRPr sz="1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21240" y="6771681"/>
            <a:ext cx="201930" cy="721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85"/>
              </a:lnSpc>
              <a:spcBef>
                <a:spcPts val="95"/>
              </a:spcBef>
            </a:pPr>
            <a:r>
              <a:rPr sz="1150" spc="-25" dirty="0">
                <a:solidFill>
                  <a:srgbClr val="4D4D4D"/>
                </a:solidFill>
                <a:latin typeface="Arial"/>
                <a:cs typeface="Arial"/>
              </a:rPr>
              <a:t>'O</a:t>
            </a:r>
            <a:endParaRPr sz="1150">
              <a:latin typeface="Arial"/>
              <a:cs typeface="Arial"/>
            </a:endParaRPr>
          </a:p>
          <a:p>
            <a:pPr marL="45085">
              <a:lnSpc>
                <a:spcPts val="1055"/>
              </a:lnSpc>
            </a:pPr>
            <a:r>
              <a:rPr sz="1150" spc="-50" dirty="0">
                <a:solidFill>
                  <a:srgbClr val="4D4D4D"/>
                </a:solidFill>
                <a:latin typeface="Times New Roman"/>
                <a:cs typeface="Times New Roman"/>
              </a:rPr>
              <a:t>C</a:t>
            </a:r>
            <a:endParaRPr sz="1150">
              <a:latin typeface="Times New Roman"/>
              <a:cs typeface="Times New Roman"/>
            </a:endParaRPr>
          </a:p>
          <a:p>
            <a:pPr marL="43180">
              <a:lnSpc>
                <a:spcPts val="890"/>
              </a:lnSpc>
            </a:pPr>
            <a:r>
              <a:rPr sz="900" spc="-25" dirty="0">
                <a:solidFill>
                  <a:srgbClr val="4D4D4D"/>
                </a:solidFill>
                <a:latin typeface="Arial"/>
                <a:cs typeface="Arial"/>
              </a:rPr>
              <a:t>(IJ</a:t>
            </a:r>
            <a:endParaRPr sz="900">
              <a:latin typeface="Arial"/>
              <a:cs typeface="Arial"/>
            </a:endParaRPr>
          </a:p>
          <a:p>
            <a:pPr marL="44450">
              <a:lnSpc>
                <a:spcPts val="1080"/>
              </a:lnSpc>
            </a:pPr>
            <a:r>
              <a:rPr sz="1050" spc="-25" dirty="0">
                <a:solidFill>
                  <a:srgbClr val="363F49"/>
                </a:solidFill>
                <a:latin typeface="Arial"/>
                <a:cs typeface="Arial"/>
              </a:rPr>
              <a:t>Q.</a:t>
            </a:r>
            <a:endParaRPr sz="1050">
              <a:latin typeface="Arial"/>
              <a:cs typeface="Arial"/>
            </a:endParaRPr>
          </a:p>
          <a:p>
            <a:pPr marL="34290">
              <a:lnSpc>
                <a:spcPts val="1260"/>
              </a:lnSpc>
            </a:pPr>
            <a:r>
              <a:rPr sz="1150" spc="-25" dirty="0">
                <a:solidFill>
                  <a:srgbClr val="4D4D4D"/>
                </a:solidFill>
                <a:latin typeface="Arial"/>
                <a:cs typeface="Arial"/>
              </a:rPr>
              <a:t>Vl</a:t>
            </a:r>
            <a:endParaRPr sz="11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62121" y="7614304"/>
            <a:ext cx="29019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55" dirty="0">
                <a:solidFill>
                  <a:srgbClr val="4D4D4D"/>
                </a:solidFill>
                <a:latin typeface="Arial"/>
                <a:cs typeface="Arial"/>
              </a:rPr>
              <a:t>20</a:t>
            </a:r>
            <a:endParaRPr sz="1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08611" y="8645926"/>
            <a:ext cx="15811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5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92986" y="5043122"/>
            <a:ext cx="66738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5"/>
              </a:spcBef>
            </a:pPr>
            <a:r>
              <a:rPr sz="4450" spc="140" dirty="0">
                <a:solidFill>
                  <a:srgbClr val="057E1A"/>
                </a:solidFill>
                <a:latin typeface="Arial"/>
                <a:cs typeface="Arial"/>
              </a:rPr>
              <a:t>•</a:t>
            </a:r>
            <a:r>
              <a:rPr sz="4450" spc="80" dirty="0">
                <a:solidFill>
                  <a:srgbClr val="057E1A"/>
                </a:solidFill>
                <a:latin typeface="Arial"/>
                <a:cs typeface="Arial"/>
              </a:rPr>
              <a:t> </a:t>
            </a:r>
            <a:r>
              <a:rPr sz="6675" spc="135" baseline="-24968" dirty="0">
                <a:solidFill>
                  <a:srgbClr val="057E1A"/>
                </a:solidFill>
                <a:latin typeface="Arial"/>
                <a:cs typeface="Arial"/>
              </a:rPr>
              <a:t>•</a:t>
            </a:r>
            <a:endParaRPr sz="6675" baseline="-24968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42547" y="4901374"/>
            <a:ext cx="33718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5"/>
              </a:spcBef>
            </a:pPr>
            <a:r>
              <a:rPr sz="6675" spc="-1679" baseline="-29338" dirty="0">
                <a:solidFill>
                  <a:srgbClr val="0508F0"/>
                </a:solidFill>
                <a:latin typeface="Arial"/>
                <a:cs typeface="Arial"/>
              </a:rPr>
              <a:t>•</a:t>
            </a:r>
            <a:r>
              <a:rPr sz="4450" spc="60" dirty="0">
                <a:solidFill>
                  <a:srgbClr val="0508F0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20779" y="6444869"/>
            <a:ext cx="23114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4450" spc="90" dirty="0">
                <a:solidFill>
                  <a:srgbClr val="13F9F7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18528" y="6807118"/>
            <a:ext cx="23114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4450" spc="90" dirty="0">
                <a:solidFill>
                  <a:srgbClr val="13F9F7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06161" y="7657616"/>
            <a:ext cx="66738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4450" spc="110" dirty="0">
                <a:solidFill>
                  <a:srgbClr val="13F9F7"/>
                </a:solidFill>
                <a:latin typeface="Arial"/>
                <a:cs typeface="Arial"/>
              </a:rPr>
              <a:t>•••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21868" y="8193114"/>
            <a:ext cx="23114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4450" spc="90" dirty="0">
                <a:solidFill>
                  <a:srgbClr val="13F9F7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07323" y="3767376"/>
            <a:ext cx="23114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4450" spc="90" dirty="0">
                <a:solidFill>
                  <a:srgbClr val="0508F0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749970" y="4913186"/>
            <a:ext cx="1333500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488950" algn="l"/>
              </a:tabLst>
            </a:pPr>
            <a:r>
              <a:rPr sz="3250" b="1" spc="110" dirty="0">
                <a:solidFill>
                  <a:srgbClr val="F40808"/>
                </a:solidFill>
                <a:latin typeface="Arial"/>
                <a:cs typeface="Arial"/>
              </a:rPr>
              <a:t>e</a:t>
            </a:r>
            <a:r>
              <a:rPr sz="3250" b="1" dirty="0">
                <a:solidFill>
                  <a:srgbClr val="F40808"/>
                </a:solidFill>
                <a:latin typeface="Arial"/>
                <a:cs typeface="Arial"/>
              </a:rPr>
              <a:t>	</a:t>
            </a:r>
            <a:r>
              <a:rPr sz="1700" dirty="0">
                <a:solidFill>
                  <a:srgbClr val="4D4D4D"/>
                </a:solidFill>
                <a:latin typeface="Arial"/>
                <a:cs typeface="Arial"/>
              </a:rPr>
              <a:t>Grupo</a:t>
            </a:r>
            <a:r>
              <a:rPr sz="1700" spc="265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700" spc="-50" dirty="0">
                <a:solidFill>
                  <a:srgbClr val="363F49"/>
                </a:solidFill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749966" y="565431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097" y="0"/>
                </a:lnTo>
              </a:path>
            </a:pathLst>
          </a:custGeom>
          <a:ln w="7874">
            <a:solidFill>
              <a:srgbClr val="0508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749970" y="5543184"/>
            <a:ext cx="263525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250" b="1" spc="95" dirty="0">
                <a:solidFill>
                  <a:srgbClr val="057E1A"/>
                </a:solidFill>
                <a:latin typeface="Arial"/>
                <a:cs typeface="Arial"/>
              </a:rPr>
              <a:t>e</a:t>
            </a:r>
            <a:endParaRPr sz="32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728894" y="5795183"/>
            <a:ext cx="224154" cy="59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750" b="1" spc="45" dirty="0">
                <a:solidFill>
                  <a:srgbClr val="13F9F7"/>
                </a:solidFill>
                <a:latin typeface="Times New Roman"/>
                <a:cs typeface="Times New Roman"/>
              </a:rPr>
              <a:t>e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760480" y="6854367"/>
            <a:ext cx="250190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700" b="1" spc="-50" dirty="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749970" y="5198118"/>
            <a:ext cx="1473200" cy="207581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0"/>
              </a:spcBef>
              <a:tabLst>
                <a:tab pos="488315" algn="l"/>
              </a:tabLst>
            </a:pPr>
            <a:r>
              <a:rPr sz="3250" b="1" spc="40" dirty="0">
                <a:solidFill>
                  <a:srgbClr val="0508F0"/>
                </a:solidFill>
                <a:latin typeface="Arial"/>
                <a:cs typeface="Arial"/>
              </a:rPr>
              <a:t>e</a:t>
            </a:r>
            <a:r>
              <a:rPr sz="3250" b="1" dirty="0">
                <a:solidFill>
                  <a:srgbClr val="0508F0"/>
                </a:solidFill>
                <a:latin typeface="Arial"/>
                <a:cs typeface="Arial"/>
              </a:rPr>
              <a:t>	</a:t>
            </a:r>
            <a:r>
              <a:rPr sz="1750" dirty="0">
                <a:solidFill>
                  <a:srgbClr val="4D4D4D"/>
                </a:solidFill>
                <a:latin typeface="Arial"/>
                <a:cs typeface="Arial"/>
              </a:rPr>
              <a:t>Grupo</a:t>
            </a:r>
            <a:r>
              <a:rPr sz="1750" spc="1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750" spc="35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1750">
              <a:latin typeface="Arial"/>
              <a:cs typeface="Arial"/>
            </a:endParaRPr>
          </a:p>
          <a:p>
            <a:pPr marR="145415" algn="r">
              <a:lnSpc>
                <a:spcPct val="100000"/>
              </a:lnSpc>
              <a:spcBef>
                <a:spcPts val="130"/>
              </a:spcBef>
            </a:pPr>
            <a:r>
              <a:rPr sz="1700" dirty="0">
                <a:solidFill>
                  <a:srgbClr val="4D4D4D"/>
                </a:solidFill>
                <a:latin typeface="Arial"/>
                <a:cs typeface="Arial"/>
              </a:rPr>
              <a:t>Grupo</a:t>
            </a:r>
            <a:r>
              <a:rPr sz="1700" spc="254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700" spc="-50" dirty="0">
                <a:solidFill>
                  <a:srgbClr val="4D4D4D"/>
                </a:solidFill>
                <a:latin typeface="Arial"/>
                <a:cs typeface="Arial"/>
              </a:rPr>
              <a:t>3</a:t>
            </a:r>
            <a:endParaRPr sz="1700">
              <a:latin typeface="Arial"/>
              <a:cs typeface="Arial"/>
            </a:endParaRPr>
          </a:p>
          <a:p>
            <a:pPr marR="137160" algn="r">
              <a:lnSpc>
                <a:spcPct val="100000"/>
              </a:lnSpc>
              <a:spcBef>
                <a:spcPts val="390"/>
              </a:spcBef>
            </a:pPr>
            <a:r>
              <a:rPr sz="1750" dirty="0">
                <a:solidFill>
                  <a:srgbClr val="363F49"/>
                </a:solidFill>
                <a:latin typeface="Arial"/>
                <a:cs typeface="Arial"/>
              </a:rPr>
              <a:t>Grupo</a:t>
            </a:r>
            <a:r>
              <a:rPr sz="1750" spc="17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1750" spc="-50" dirty="0">
                <a:solidFill>
                  <a:srgbClr val="363F49"/>
                </a:solidFill>
                <a:latin typeface="Arial"/>
                <a:cs typeface="Arial"/>
              </a:rPr>
              <a:t>4</a:t>
            </a:r>
            <a:endParaRPr sz="1750">
              <a:latin typeface="Arial"/>
              <a:cs typeface="Arial"/>
            </a:endParaRPr>
          </a:p>
          <a:p>
            <a:pPr marL="487045" marR="145415" indent="-487045" algn="r">
              <a:lnSpc>
                <a:spcPct val="100000"/>
              </a:lnSpc>
              <a:spcBef>
                <a:spcPts val="620"/>
              </a:spcBef>
              <a:buClr>
                <a:srgbClr val="F60AF0"/>
              </a:buClr>
              <a:buChar char="•"/>
              <a:tabLst>
                <a:tab pos="487045" algn="l"/>
              </a:tabLst>
            </a:pPr>
            <a:r>
              <a:rPr sz="1700" dirty="0">
                <a:solidFill>
                  <a:srgbClr val="4D4D4D"/>
                </a:solidFill>
                <a:latin typeface="Arial"/>
                <a:cs typeface="Arial"/>
              </a:rPr>
              <a:t>Grupo</a:t>
            </a:r>
            <a:r>
              <a:rPr sz="1700" spc="254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700" spc="-50" dirty="0">
                <a:solidFill>
                  <a:srgbClr val="4D4D4D"/>
                </a:solidFill>
                <a:latin typeface="Arial"/>
                <a:cs typeface="Arial"/>
              </a:rPr>
              <a:t>5</a:t>
            </a:r>
            <a:endParaRPr sz="1700">
              <a:latin typeface="Arial"/>
              <a:cs typeface="Arial"/>
            </a:endParaRPr>
          </a:p>
          <a:p>
            <a:pPr marL="487045" marR="137160" indent="-487045" algn="r">
              <a:lnSpc>
                <a:spcPts val="2085"/>
              </a:lnSpc>
              <a:spcBef>
                <a:spcPts val="390"/>
              </a:spcBef>
              <a:buClr>
                <a:srgbClr val="F60AF0"/>
              </a:buClr>
              <a:buChar char="•"/>
              <a:tabLst>
                <a:tab pos="487045" algn="l"/>
              </a:tabLst>
            </a:pPr>
            <a:r>
              <a:rPr sz="1750" dirty="0">
                <a:solidFill>
                  <a:srgbClr val="4D4D4D"/>
                </a:solidFill>
                <a:latin typeface="Arial"/>
                <a:cs typeface="Arial"/>
              </a:rPr>
              <a:t>Grupo</a:t>
            </a:r>
            <a:r>
              <a:rPr sz="1750" spc="114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750" spc="25" dirty="0">
                <a:solidFill>
                  <a:srgbClr val="363F49"/>
                </a:solidFill>
                <a:latin typeface="Arial"/>
                <a:cs typeface="Arial"/>
              </a:rPr>
              <a:t>5</a:t>
            </a:r>
            <a:endParaRPr sz="1750">
              <a:latin typeface="Arial"/>
              <a:cs typeface="Arial"/>
            </a:endParaRPr>
          </a:p>
          <a:p>
            <a:pPr marL="499109">
              <a:lnSpc>
                <a:spcPts val="2205"/>
              </a:lnSpc>
            </a:pPr>
            <a:r>
              <a:rPr sz="1850" spc="-10" dirty="0">
                <a:solidFill>
                  <a:srgbClr val="4D4D4D"/>
                </a:solidFill>
                <a:latin typeface="Arial"/>
                <a:cs typeface="Arial"/>
              </a:rPr>
              <a:t>centroide</a:t>
            </a:r>
            <a:endParaRPr sz="18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975191" y="4176875"/>
            <a:ext cx="118046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5"/>
              </a:spcBef>
              <a:tabLst>
                <a:tab pos="945515" algn="l"/>
              </a:tabLst>
            </a:pPr>
            <a:r>
              <a:rPr sz="6675" spc="209" baseline="-19350" dirty="0">
                <a:solidFill>
                  <a:srgbClr val="0508F0"/>
                </a:solidFill>
                <a:latin typeface="Arial"/>
                <a:cs typeface="Arial"/>
              </a:rPr>
              <a:t>•</a:t>
            </a:r>
            <a:r>
              <a:rPr sz="6675" spc="-622" baseline="-19350" dirty="0">
                <a:solidFill>
                  <a:srgbClr val="0508F0"/>
                </a:solidFill>
                <a:latin typeface="Arial"/>
                <a:cs typeface="Arial"/>
              </a:rPr>
              <a:t> </a:t>
            </a:r>
            <a:r>
              <a:rPr sz="6675" spc="135" baseline="-44943" dirty="0">
                <a:solidFill>
                  <a:srgbClr val="0508F0"/>
                </a:solidFill>
                <a:latin typeface="Arial"/>
                <a:cs typeface="Arial"/>
              </a:rPr>
              <a:t>•</a:t>
            </a:r>
            <a:r>
              <a:rPr sz="6675" baseline="-44943" dirty="0">
                <a:solidFill>
                  <a:srgbClr val="0508F0"/>
                </a:solidFill>
                <a:latin typeface="Arial"/>
                <a:cs typeface="Arial"/>
              </a:rPr>
              <a:t>	</a:t>
            </a:r>
            <a:r>
              <a:rPr sz="4450" spc="-50" dirty="0">
                <a:solidFill>
                  <a:srgbClr val="0508F0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07323" y="7570991"/>
            <a:ext cx="1515110" cy="11709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77190">
              <a:lnSpc>
                <a:spcPts val="4500"/>
              </a:lnSpc>
              <a:spcBef>
                <a:spcPts val="115"/>
              </a:spcBef>
              <a:tabLst>
                <a:tab pos="1305560" algn="l"/>
              </a:tabLst>
            </a:pPr>
            <a:r>
              <a:rPr sz="4450" spc="-50" dirty="0">
                <a:solidFill>
                  <a:srgbClr val="13F9F7"/>
                </a:solidFill>
                <a:latin typeface="Arial"/>
                <a:cs typeface="Arial"/>
              </a:rPr>
              <a:t>•</a:t>
            </a:r>
            <a:r>
              <a:rPr sz="4450" dirty="0">
                <a:solidFill>
                  <a:srgbClr val="13F9F7"/>
                </a:solidFill>
                <a:latin typeface="Arial"/>
                <a:cs typeface="Arial"/>
              </a:rPr>
              <a:t>	</a:t>
            </a:r>
            <a:r>
              <a:rPr sz="4450" spc="-50" dirty="0">
                <a:solidFill>
                  <a:srgbClr val="13F9F7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  <a:p>
            <a:pPr>
              <a:lnSpc>
                <a:spcPts val="4500"/>
              </a:lnSpc>
            </a:pPr>
            <a:r>
              <a:rPr sz="4450" spc="-50" dirty="0">
                <a:solidFill>
                  <a:srgbClr val="13F9F7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516303" y="4145375"/>
            <a:ext cx="7910195" cy="2092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15"/>
              </a:spcBef>
            </a:pPr>
            <a:r>
              <a:rPr sz="4450" spc="140" dirty="0">
                <a:solidFill>
                  <a:srgbClr val="034D7E"/>
                </a:solidFill>
                <a:latin typeface="Times New Roman"/>
                <a:cs typeface="Times New Roman"/>
              </a:rPr>
              <a:t>Human-</a:t>
            </a:r>
            <a:r>
              <a:rPr sz="4450" spc="105" dirty="0">
                <a:solidFill>
                  <a:srgbClr val="034D7E"/>
                </a:solidFill>
                <a:latin typeface="Times New Roman"/>
                <a:cs typeface="Times New Roman"/>
              </a:rPr>
              <a:t>Centric</a:t>
            </a:r>
            <a:r>
              <a:rPr sz="4450" spc="260" dirty="0">
                <a:solidFill>
                  <a:srgbClr val="034D7E"/>
                </a:solidFill>
                <a:latin typeface="Times New Roman"/>
                <a:cs typeface="Times New Roman"/>
              </a:rPr>
              <a:t> </a:t>
            </a:r>
            <a:r>
              <a:rPr sz="4450" spc="150" dirty="0">
                <a:solidFill>
                  <a:srgbClr val="034D7E"/>
                </a:solidFill>
                <a:latin typeface="Times New Roman"/>
                <a:cs typeface="Times New Roman"/>
              </a:rPr>
              <a:t>Segmentation</a:t>
            </a:r>
            <a:endParaRPr sz="4450">
              <a:latin typeface="Times New Roman"/>
              <a:cs typeface="Times New Roman"/>
            </a:endParaRPr>
          </a:p>
          <a:p>
            <a:pPr marL="17780" marR="5080" indent="-5715">
              <a:lnSpc>
                <a:spcPct val="141100"/>
              </a:lnSpc>
              <a:spcBef>
                <a:spcPts val="2110"/>
              </a:spcBef>
              <a:tabLst>
                <a:tab pos="1618615" algn="l"/>
              </a:tabLst>
            </a:pPr>
            <a:r>
              <a:rPr sz="2600" dirty="0">
                <a:solidFill>
                  <a:srgbClr val="363F49"/>
                </a:solidFill>
                <a:latin typeface="Arial"/>
                <a:cs typeface="Arial"/>
              </a:rPr>
              <a:t>Using</a:t>
            </a:r>
            <a:r>
              <a:rPr sz="2600" spc="25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363F49"/>
                </a:solidFill>
                <a:latin typeface="Arial"/>
                <a:cs typeface="Arial"/>
              </a:rPr>
              <a:t>the</a:t>
            </a:r>
            <a:r>
              <a:rPr sz="2600" dirty="0">
                <a:solidFill>
                  <a:srgbClr val="363F49"/>
                </a:solidFill>
                <a:latin typeface="Arial"/>
                <a:cs typeface="Arial"/>
              </a:rPr>
              <a:t>	</a:t>
            </a:r>
            <a:r>
              <a:rPr sz="2600" b="1" dirty="0">
                <a:solidFill>
                  <a:srgbClr val="11C69A"/>
                </a:solidFill>
                <a:latin typeface="Arial"/>
                <a:cs typeface="Arial"/>
              </a:rPr>
              <a:t>Elbow</a:t>
            </a:r>
            <a:r>
              <a:rPr sz="2600" b="1" spc="45" dirty="0">
                <a:solidFill>
                  <a:srgbClr val="11C69A"/>
                </a:solidFill>
                <a:latin typeface="Arial"/>
                <a:cs typeface="Arial"/>
              </a:rPr>
              <a:t> </a:t>
            </a:r>
            <a:r>
              <a:rPr sz="2600" b="1" spc="145" dirty="0">
                <a:solidFill>
                  <a:srgbClr val="11C69A"/>
                </a:solidFill>
                <a:latin typeface="Arial"/>
                <a:cs typeface="Arial"/>
              </a:rPr>
              <a:t>Method</a:t>
            </a:r>
            <a:r>
              <a:rPr sz="2600" b="1" spc="145" dirty="0">
                <a:solidFill>
                  <a:srgbClr val="363F49"/>
                </a:solidFill>
                <a:latin typeface="Arial"/>
                <a:cs typeface="Arial"/>
              </a:rPr>
              <a:t>,</a:t>
            </a:r>
            <a:r>
              <a:rPr sz="2600" b="1" spc="-114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30" dirty="0">
                <a:solidFill>
                  <a:srgbClr val="363F49"/>
                </a:solidFill>
                <a:latin typeface="Arial"/>
                <a:cs typeface="Arial"/>
              </a:rPr>
              <a:t>we</a:t>
            </a:r>
            <a:r>
              <a:rPr sz="2600" spc="6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60" dirty="0">
                <a:solidFill>
                  <a:srgbClr val="363F49"/>
                </a:solidFill>
                <a:latin typeface="Arial"/>
                <a:cs typeface="Arial"/>
              </a:rPr>
              <a:t>identified</a:t>
            </a:r>
            <a:r>
              <a:rPr sz="2600" spc="15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30" dirty="0">
                <a:solidFill>
                  <a:srgbClr val="363F49"/>
                </a:solidFill>
                <a:latin typeface="Arial"/>
                <a:cs typeface="Arial"/>
              </a:rPr>
              <a:t>3</a:t>
            </a:r>
            <a:r>
              <a:rPr sz="2600" spc="11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65" dirty="0">
                <a:solidFill>
                  <a:srgbClr val="363F49"/>
                </a:solidFill>
                <a:latin typeface="Arial"/>
                <a:cs typeface="Arial"/>
              </a:rPr>
              <a:t>distinct </a:t>
            </a:r>
            <a:r>
              <a:rPr sz="2600" spc="185" dirty="0">
                <a:solidFill>
                  <a:srgbClr val="363F49"/>
                </a:solidFill>
                <a:latin typeface="Arial"/>
                <a:cs typeface="Arial"/>
              </a:rPr>
              <a:t>customer</a:t>
            </a:r>
            <a:r>
              <a:rPr sz="2600" spc="21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80" dirty="0">
                <a:solidFill>
                  <a:srgbClr val="363F49"/>
                </a:solidFill>
                <a:latin typeface="Arial"/>
                <a:cs typeface="Arial"/>
              </a:rPr>
              <a:t>groups:</a:t>
            </a:r>
            <a:endParaRPr sz="2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800290" y="6543306"/>
            <a:ext cx="8292465" cy="1710689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1435"/>
              </a:spcBef>
              <a:buFont typeface="Arial"/>
              <a:buChar char="•"/>
              <a:tabLst>
                <a:tab pos="358140" algn="l"/>
              </a:tabLst>
            </a:pPr>
            <a:r>
              <a:rPr sz="2600" b="1" spc="114" dirty="0">
                <a:solidFill>
                  <a:srgbClr val="363F49"/>
                </a:solidFill>
                <a:latin typeface="Arial"/>
                <a:cs typeface="Arial"/>
              </a:rPr>
              <a:t>Low-</a:t>
            </a:r>
            <a:r>
              <a:rPr sz="2600" b="1" spc="120" dirty="0">
                <a:solidFill>
                  <a:srgbClr val="363F49"/>
                </a:solidFill>
                <a:latin typeface="Arial"/>
                <a:cs typeface="Arial"/>
              </a:rPr>
              <a:t>Spend</a:t>
            </a:r>
            <a:r>
              <a:rPr sz="2600" b="1" spc="3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b="1" spc="114" dirty="0">
                <a:solidFill>
                  <a:srgbClr val="363F49"/>
                </a:solidFill>
                <a:latin typeface="Arial"/>
                <a:cs typeface="Arial"/>
              </a:rPr>
              <a:t>Starters:</a:t>
            </a:r>
            <a:r>
              <a:rPr sz="2600" b="1" spc="-4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00" dirty="0">
                <a:solidFill>
                  <a:srgbClr val="363F49"/>
                </a:solidFill>
                <a:latin typeface="Arial"/>
                <a:cs typeface="Arial"/>
              </a:rPr>
              <a:t>New</a:t>
            </a:r>
            <a:r>
              <a:rPr sz="2600" spc="18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35" dirty="0">
                <a:solidFill>
                  <a:srgbClr val="363F49"/>
                </a:solidFill>
                <a:latin typeface="Arial"/>
                <a:cs typeface="Arial"/>
              </a:rPr>
              <a:t>customers.</a:t>
            </a:r>
            <a:endParaRPr sz="2600">
              <a:latin typeface="Arial"/>
              <a:cs typeface="Arial"/>
            </a:endParaRPr>
          </a:p>
          <a:p>
            <a:pPr marL="360045" indent="-347345">
              <a:lnSpc>
                <a:spcPct val="100000"/>
              </a:lnSpc>
              <a:spcBef>
                <a:spcPts val="1345"/>
              </a:spcBef>
              <a:buFont typeface="Arial"/>
              <a:buChar char="•"/>
              <a:tabLst>
                <a:tab pos="360045" algn="l"/>
              </a:tabLst>
            </a:pPr>
            <a:r>
              <a:rPr sz="2600" b="1" spc="145" dirty="0">
                <a:solidFill>
                  <a:srgbClr val="363F49"/>
                </a:solidFill>
                <a:latin typeface="Arial"/>
                <a:cs typeface="Arial"/>
              </a:rPr>
              <a:t>Growth</a:t>
            </a:r>
            <a:r>
              <a:rPr sz="2600" b="1" spc="-5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b="1" spc="100" dirty="0">
                <a:solidFill>
                  <a:srgbClr val="363F49"/>
                </a:solidFill>
                <a:latin typeface="Arial"/>
                <a:cs typeface="Arial"/>
              </a:rPr>
              <a:t>Segment:</a:t>
            </a:r>
            <a:r>
              <a:rPr sz="2600" b="1" spc="11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204" dirty="0">
                <a:solidFill>
                  <a:srgbClr val="363F49"/>
                </a:solidFill>
                <a:latin typeface="Arial"/>
                <a:cs typeface="Arial"/>
              </a:rPr>
              <a:t>Mid-tenure</a:t>
            </a:r>
            <a:r>
              <a:rPr sz="2600" spc="15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srgbClr val="363F49"/>
                </a:solidFill>
                <a:latin typeface="Arial"/>
                <a:cs typeface="Arial"/>
              </a:rPr>
              <a:t>users.</a:t>
            </a:r>
            <a:endParaRPr sz="2600">
              <a:latin typeface="Arial"/>
              <a:cs typeface="Arial"/>
            </a:endParaRPr>
          </a:p>
          <a:p>
            <a:pPr marL="359410" indent="-346710">
              <a:lnSpc>
                <a:spcPct val="100000"/>
              </a:lnSpc>
              <a:spcBef>
                <a:spcPts val="1220"/>
              </a:spcBef>
              <a:buFont typeface="Arial"/>
              <a:buChar char="•"/>
              <a:tabLst>
                <a:tab pos="359410" algn="l"/>
              </a:tabLst>
            </a:pPr>
            <a:r>
              <a:rPr sz="2600" b="1" spc="140" dirty="0">
                <a:solidFill>
                  <a:srgbClr val="363F49"/>
                </a:solidFill>
                <a:latin typeface="Arial"/>
                <a:cs typeface="Arial"/>
              </a:rPr>
              <a:t>High-</a:t>
            </a:r>
            <a:r>
              <a:rPr sz="2600" b="1" spc="145" dirty="0">
                <a:solidFill>
                  <a:srgbClr val="363F49"/>
                </a:solidFill>
                <a:latin typeface="Arial"/>
                <a:cs typeface="Arial"/>
              </a:rPr>
              <a:t>Value</a:t>
            </a:r>
            <a:r>
              <a:rPr sz="2600" b="1" spc="-6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363F49"/>
                </a:solidFill>
                <a:latin typeface="Arial"/>
                <a:cs typeface="Arial"/>
              </a:rPr>
              <a:t>Loyalists:</a:t>
            </a:r>
            <a:r>
              <a:rPr sz="2600" b="1" spc="70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30" dirty="0">
                <a:solidFill>
                  <a:srgbClr val="363F49"/>
                </a:solidFill>
                <a:latin typeface="Arial"/>
                <a:cs typeface="Arial"/>
              </a:rPr>
              <a:t>Premium</a:t>
            </a:r>
            <a:r>
              <a:rPr sz="2600" spc="155" dirty="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sz="2600" spc="195" dirty="0">
                <a:solidFill>
                  <a:srgbClr val="363F49"/>
                </a:solidFill>
                <a:latin typeface="Arial"/>
                <a:cs typeface="Arial"/>
              </a:rPr>
              <a:t>long-</a:t>
            </a:r>
            <a:r>
              <a:rPr sz="2600" spc="220" dirty="0">
                <a:solidFill>
                  <a:srgbClr val="363F49"/>
                </a:solidFill>
                <a:latin typeface="Arial"/>
                <a:cs typeface="Arial"/>
              </a:rPr>
              <a:t>term </a:t>
            </a:r>
            <a:r>
              <a:rPr sz="2600" spc="65" dirty="0">
                <a:solidFill>
                  <a:srgbClr val="363F49"/>
                </a:solidFill>
                <a:latin typeface="Arial"/>
                <a:cs typeface="Arial"/>
              </a:rPr>
              <a:t>users.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460121" y="9051487"/>
            <a:ext cx="26987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25" dirty="0">
                <a:solidFill>
                  <a:srgbClr val="4D4D4D"/>
                </a:solidFill>
                <a:latin typeface="Times New Roman"/>
                <a:cs typeface="Times New Roman"/>
              </a:rPr>
              <a:t>20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586019" y="9051487"/>
            <a:ext cx="26987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25" dirty="0">
                <a:solidFill>
                  <a:srgbClr val="4D4D4D"/>
                </a:solidFill>
                <a:latin typeface="Times New Roman"/>
                <a:cs typeface="Times New Roman"/>
              </a:rPr>
              <a:t>40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636132" y="9045253"/>
            <a:ext cx="2042795" cy="60706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245"/>
              </a:spcBef>
              <a:tabLst>
                <a:tab pos="1143635" algn="l"/>
              </a:tabLst>
            </a:pPr>
            <a:r>
              <a:rPr sz="1700" spc="25" dirty="0">
                <a:solidFill>
                  <a:srgbClr val="4D4D4D"/>
                </a:solidFill>
                <a:latin typeface="Arial"/>
                <a:cs typeface="Arial"/>
              </a:rPr>
              <a:t>60</a:t>
            </a:r>
            <a:r>
              <a:rPr sz="1700" dirty="0">
                <a:solidFill>
                  <a:srgbClr val="4D4D4D"/>
                </a:solidFill>
                <a:latin typeface="Arial"/>
                <a:cs typeface="Arial"/>
              </a:rPr>
              <a:t>	</a:t>
            </a:r>
            <a:r>
              <a:rPr sz="1650" spc="50" dirty="0">
                <a:solidFill>
                  <a:srgbClr val="4D4D4D"/>
                </a:solidFill>
                <a:latin typeface="Arial"/>
                <a:cs typeface="Arial"/>
              </a:rPr>
              <a:t>80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850" spc="-20" dirty="0">
                <a:solidFill>
                  <a:srgbClr val="4D4D4D"/>
                </a:solidFill>
                <a:latin typeface="Arial"/>
                <a:cs typeface="Arial"/>
              </a:rPr>
              <a:t>Annual</a:t>
            </a:r>
            <a:r>
              <a:rPr sz="1850" spc="-95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4D4D4D"/>
                </a:solidFill>
                <a:latin typeface="Arial"/>
                <a:cs typeface="Arial"/>
              </a:rPr>
              <a:t>Income</a:t>
            </a:r>
            <a:r>
              <a:rPr sz="1850" spc="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850" spc="-160" dirty="0">
                <a:solidFill>
                  <a:srgbClr val="606060"/>
                </a:solidFill>
                <a:latin typeface="Arial"/>
                <a:cs typeface="Arial"/>
              </a:rPr>
              <a:t>Ck$)</a:t>
            </a:r>
            <a:endParaRPr sz="18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19499" y="9051487"/>
            <a:ext cx="39179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25" dirty="0">
                <a:solidFill>
                  <a:srgbClr val="2D2D2D"/>
                </a:solidFill>
                <a:latin typeface="Times New Roman"/>
                <a:cs typeface="Times New Roman"/>
              </a:rPr>
              <a:t>100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920660" y="9051487"/>
            <a:ext cx="39179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25" dirty="0">
                <a:solidFill>
                  <a:srgbClr val="363F49"/>
                </a:solidFill>
                <a:latin typeface="Times New Roman"/>
                <a:cs typeface="Times New Roman"/>
              </a:rPr>
              <a:t>120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029684" y="9051487"/>
            <a:ext cx="39179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25" dirty="0">
                <a:solidFill>
                  <a:srgbClr val="2D2D2D"/>
                </a:solidFill>
                <a:latin typeface="Times New Roman"/>
                <a:cs typeface="Times New Roman"/>
              </a:rPr>
              <a:t>140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316" y="1008087"/>
            <a:ext cx="4719260" cy="818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8078" y="992333"/>
            <a:ext cx="3067519" cy="661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91187" y="4677824"/>
            <a:ext cx="11090261" cy="645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91187" y="5544072"/>
            <a:ext cx="10759910" cy="645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618480">
              <a:lnSpc>
                <a:spcPct val="100000"/>
              </a:lnSpc>
              <a:spcBef>
                <a:spcPts val="115"/>
              </a:spcBef>
            </a:pPr>
            <a:r>
              <a:rPr spc="885" dirty="0">
                <a:solidFill>
                  <a:srgbClr val="034D80"/>
                </a:solidFill>
              </a:rPr>
              <a:t>ance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2106" y="4842311"/>
            <a:ext cx="18005425" cy="2860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4065250" algn="r">
              <a:lnSpc>
                <a:spcPct val="100000"/>
              </a:lnSpc>
              <a:spcBef>
                <a:spcPts val="100"/>
              </a:spcBef>
            </a:pPr>
            <a:r>
              <a:rPr sz="1950" b="1" dirty="0">
                <a:solidFill>
                  <a:srgbClr val="070305"/>
                </a:solidFill>
                <a:latin typeface="Arial"/>
                <a:cs typeface="Arial"/>
              </a:rPr>
              <a:t>Logistic</a:t>
            </a:r>
            <a:r>
              <a:rPr sz="1950" b="1" spc="60" dirty="0">
                <a:solidFill>
                  <a:srgbClr val="070305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070305"/>
                </a:solidFill>
                <a:latin typeface="Arial"/>
                <a:cs typeface="Arial"/>
              </a:rPr>
              <a:t>Regression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40"/>
              </a:spcBef>
            </a:pPr>
            <a:endParaRPr sz="1950">
              <a:latin typeface="Arial"/>
              <a:cs typeface="Arial"/>
            </a:endParaRPr>
          </a:p>
          <a:p>
            <a:pPr marR="14041119" algn="r">
              <a:lnSpc>
                <a:spcPct val="100000"/>
              </a:lnSpc>
            </a:pPr>
            <a:r>
              <a:rPr sz="1950" b="1" dirty="0">
                <a:solidFill>
                  <a:srgbClr val="070305"/>
                </a:solidFill>
                <a:latin typeface="Arial"/>
                <a:cs typeface="Arial"/>
              </a:rPr>
              <a:t>KNN</a:t>
            </a:r>
            <a:r>
              <a:rPr sz="1950" b="1" spc="-60" dirty="0">
                <a:solidFill>
                  <a:srgbClr val="070305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070305"/>
                </a:solidFill>
                <a:latin typeface="Arial"/>
                <a:cs typeface="Arial"/>
              </a:rPr>
              <a:t>Classification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80"/>
              </a:spcBef>
            </a:pPr>
            <a:endParaRPr sz="1950">
              <a:latin typeface="Arial"/>
              <a:cs typeface="Arial"/>
            </a:endParaRPr>
          </a:p>
          <a:p>
            <a:pPr marL="25400" marR="5080" indent="-13335">
              <a:lnSpc>
                <a:spcPct val="143100"/>
              </a:lnSpc>
            </a:pPr>
            <a:r>
              <a:rPr sz="2600" b="1" spc="-20" dirty="0">
                <a:solidFill>
                  <a:srgbClr val="343D4B"/>
                </a:solidFill>
                <a:latin typeface="Arial"/>
                <a:cs typeface="Arial"/>
              </a:rPr>
              <a:t>Key</a:t>
            </a:r>
            <a:r>
              <a:rPr sz="2600" b="1" spc="-8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343D4B"/>
                </a:solidFill>
                <a:latin typeface="Arial"/>
                <a:cs typeface="Arial"/>
              </a:rPr>
              <a:t>Takeaway:</a:t>
            </a:r>
            <a:r>
              <a:rPr sz="2600" b="1" spc="28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343D4B"/>
                </a:solidFill>
                <a:latin typeface="Arial"/>
                <a:cs typeface="Arial"/>
              </a:rPr>
              <a:t>While</a:t>
            </a:r>
            <a:r>
              <a:rPr sz="2600" spc="20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260" dirty="0">
                <a:solidFill>
                  <a:srgbClr val="343D4B"/>
                </a:solidFill>
                <a:latin typeface="Arial"/>
                <a:cs typeface="Arial"/>
              </a:rPr>
              <a:t>both</a:t>
            </a:r>
            <a:r>
              <a:rPr sz="2600" spc="10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130" dirty="0">
                <a:solidFill>
                  <a:srgbClr val="343D4B"/>
                </a:solidFill>
                <a:latin typeface="Arial"/>
                <a:cs typeface="Arial"/>
              </a:rPr>
              <a:t>classification</a:t>
            </a:r>
            <a:r>
              <a:rPr sz="2600" spc="-8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150" dirty="0">
                <a:solidFill>
                  <a:srgbClr val="343D4B"/>
                </a:solidFill>
                <a:latin typeface="Arial"/>
                <a:cs typeface="Arial"/>
              </a:rPr>
              <a:t>models</a:t>
            </a:r>
            <a:r>
              <a:rPr sz="2600" spc="21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175" dirty="0">
                <a:solidFill>
                  <a:srgbClr val="343D4B"/>
                </a:solidFill>
                <a:latin typeface="Arial"/>
                <a:cs typeface="Arial"/>
              </a:rPr>
              <a:t>perform</a:t>
            </a:r>
            <a:r>
              <a:rPr sz="2600" spc="27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43D4B"/>
                </a:solidFill>
                <a:latin typeface="Arial"/>
                <a:cs typeface="Arial"/>
              </a:rPr>
              <a:t>well,</a:t>
            </a:r>
            <a:r>
              <a:rPr sz="2600" spc="-5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11C699"/>
                </a:solidFill>
                <a:latin typeface="Arial"/>
                <a:cs typeface="Arial"/>
              </a:rPr>
              <a:t>Logistic</a:t>
            </a:r>
            <a:r>
              <a:rPr sz="2600" b="1" spc="5" dirty="0">
                <a:solidFill>
                  <a:srgbClr val="11C699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11C699"/>
                </a:solidFill>
                <a:latin typeface="Arial"/>
                <a:cs typeface="Arial"/>
              </a:rPr>
              <a:t>Regression</a:t>
            </a:r>
            <a:r>
              <a:rPr sz="2600" b="1" spc="285" dirty="0">
                <a:solidFill>
                  <a:srgbClr val="11C699"/>
                </a:solidFill>
                <a:latin typeface="Arial"/>
                <a:cs typeface="Arial"/>
              </a:rPr>
              <a:t> </a:t>
            </a:r>
            <a:r>
              <a:rPr sz="2600" spc="105" dirty="0">
                <a:solidFill>
                  <a:srgbClr val="343D4B"/>
                </a:solidFill>
                <a:latin typeface="Arial"/>
                <a:cs typeface="Arial"/>
              </a:rPr>
              <a:t>offers</a:t>
            </a:r>
            <a:r>
              <a:rPr sz="2600" spc="17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srgbClr val="343D4B"/>
                </a:solidFill>
                <a:latin typeface="Arial"/>
                <a:cs typeface="Arial"/>
              </a:rPr>
              <a:t>better</a:t>
            </a:r>
            <a:r>
              <a:rPr sz="2600" spc="22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170" dirty="0">
                <a:solidFill>
                  <a:srgbClr val="343D4B"/>
                </a:solidFill>
                <a:latin typeface="Arial"/>
                <a:cs typeface="Arial"/>
              </a:rPr>
              <a:t>interpretability </a:t>
            </a:r>
            <a:r>
              <a:rPr sz="2600" spc="155" dirty="0">
                <a:solidFill>
                  <a:srgbClr val="343D4B"/>
                </a:solidFill>
                <a:latin typeface="Arial"/>
                <a:cs typeface="Arial"/>
              </a:rPr>
              <a:t>and</a:t>
            </a:r>
            <a:r>
              <a:rPr sz="2600" spc="-2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105" dirty="0">
                <a:solidFill>
                  <a:srgbClr val="343D4B"/>
                </a:solidFill>
                <a:latin typeface="Arial"/>
                <a:cs typeface="Arial"/>
              </a:rPr>
              <a:t>slightly</a:t>
            </a:r>
            <a:r>
              <a:rPr sz="2600" spc="6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95" dirty="0">
                <a:solidFill>
                  <a:srgbClr val="343D4B"/>
                </a:solidFill>
                <a:latin typeface="Arial"/>
                <a:cs typeface="Arial"/>
              </a:rPr>
              <a:t>higher</a:t>
            </a:r>
            <a:r>
              <a:rPr sz="2600" spc="21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155" dirty="0">
                <a:solidFill>
                  <a:srgbClr val="343D4B"/>
                </a:solidFill>
                <a:latin typeface="Arial"/>
                <a:cs typeface="Arial"/>
              </a:rPr>
              <a:t>accuracy</a:t>
            </a:r>
            <a:r>
              <a:rPr sz="2600" spc="18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120" dirty="0">
                <a:solidFill>
                  <a:srgbClr val="343D4B"/>
                </a:solidFill>
                <a:latin typeface="Arial"/>
                <a:cs typeface="Arial"/>
              </a:rPr>
              <a:t>for</a:t>
            </a:r>
            <a:r>
              <a:rPr sz="2600" spc="13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150" dirty="0">
                <a:solidFill>
                  <a:srgbClr val="343D4B"/>
                </a:solidFill>
                <a:latin typeface="Arial"/>
                <a:cs typeface="Arial"/>
              </a:rPr>
              <a:t>this</a:t>
            </a:r>
            <a:r>
              <a:rPr sz="2600" spc="3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140" dirty="0">
                <a:solidFill>
                  <a:srgbClr val="343D4B"/>
                </a:solidFill>
                <a:latin typeface="Arial"/>
                <a:cs typeface="Arial"/>
              </a:rPr>
              <a:t>specific</a:t>
            </a:r>
            <a:r>
              <a:rPr sz="2600" spc="27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170" dirty="0">
                <a:solidFill>
                  <a:srgbClr val="343D4B"/>
                </a:solidFill>
                <a:latin typeface="Arial"/>
                <a:cs typeface="Arial"/>
              </a:rPr>
              <a:t>customer</a:t>
            </a:r>
            <a:r>
              <a:rPr sz="2600" spc="31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600" spc="135" dirty="0">
                <a:solidFill>
                  <a:srgbClr val="343D4B"/>
                </a:solidFill>
                <a:latin typeface="Arial"/>
                <a:cs typeface="Arial"/>
              </a:rPr>
              <a:t>dataset.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71085"/>
            <a:ext cx="2312437" cy="7717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2717" y="1055331"/>
            <a:ext cx="409002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4316" y="3354824"/>
            <a:ext cx="283155" cy="157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2855" y="4173825"/>
            <a:ext cx="393271" cy="629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7007" y="4441575"/>
            <a:ext cx="503387" cy="4252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39398" y="4158076"/>
            <a:ext cx="235963" cy="5512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8121" y="5670071"/>
            <a:ext cx="1227007" cy="59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8237" y="6331569"/>
            <a:ext cx="849466" cy="629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14664" y="7339567"/>
            <a:ext cx="456195" cy="3937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3852" y="9560311"/>
            <a:ext cx="1337123" cy="6772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951717" y="4189573"/>
            <a:ext cx="0" cy="740410"/>
          </a:xfrm>
          <a:custGeom>
            <a:avLst/>
            <a:gdLst/>
            <a:ahLst/>
            <a:cxnLst/>
            <a:rect l="l" t="t" r="r" b="b"/>
            <a:pathLst>
              <a:path h="740410">
                <a:moveTo>
                  <a:pt x="0" y="74024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20278" y="7339565"/>
            <a:ext cx="0" cy="394335"/>
          </a:xfrm>
          <a:custGeom>
            <a:avLst/>
            <a:gdLst/>
            <a:ahLst/>
            <a:cxnLst/>
            <a:rect l="l" t="t" r="r" b="b"/>
            <a:pathLst>
              <a:path h="394334">
                <a:moveTo>
                  <a:pt x="0" y="39374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22505" y="2748452"/>
            <a:ext cx="1038860" cy="0"/>
          </a:xfrm>
          <a:custGeom>
            <a:avLst/>
            <a:gdLst/>
            <a:ahLst/>
            <a:cxnLst/>
            <a:rect l="l" t="t" r="r" b="b"/>
            <a:pathLst>
              <a:path w="1038860">
                <a:moveTo>
                  <a:pt x="0" y="0"/>
                </a:moveTo>
                <a:lnTo>
                  <a:pt x="1038236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67471" y="344145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>
                <a:moveTo>
                  <a:pt x="0" y="0"/>
                </a:moveTo>
                <a:lnTo>
                  <a:pt x="393271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06775" y="3441450"/>
            <a:ext cx="377825" cy="0"/>
          </a:xfrm>
          <a:custGeom>
            <a:avLst/>
            <a:gdLst/>
            <a:ahLst/>
            <a:cxnLst/>
            <a:rect l="l" t="t" r="r" b="b"/>
            <a:pathLst>
              <a:path w="377825">
                <a:moveTo>
                  <a:pt x="0" y="0"/>
                </a:moveTo>
                <a:lnTo>
                  <a:pt x="37754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43851" y="3748574"/>
            <a:ext cx="18247995" cy="0"/>
          </a:xfrm>
          <a:custGeom>
            <a:avLst/>
            <a:gdLst/>
            <a:ahLst/>
            <a:cxnLst/>
            <a:rect l="l" t="t" r="r" b="b"/>
            <a:pathLst>
              <a:path w="18247995">
                <a:moveTo>
                  <a:pt x="0" y="0"/>
                </a:moveTo>
                <a:lnTo>
                  <a:pt x="1824780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59582" y="4181698"/>
            <a:ext cx="1179830" cy="0"/>
          </a:xfrm>
          <a:custGeom>
            <a:avLst/>
            <a:gdLst/>
            <a:ahLst/>
            <a:cxnLst/>
            <a:rect l="l" t="t" r="r" b="b"/>
            <a:pathLst>
              <a:path w="1179830">
                <a:moveTo>
                  <a:pt x="0" y="0"/>
                </a:moveTo>
                <a:lnTo>
                  <a:pt x="117981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59582" y="4906196"/>
            <a:ext cx="1400175" cy="0"/>
          </a:xfrm>
          <a:custGeom>
            <a:avLst/>
            <a:gdLst/>
            <a:ahLst/>
            <a:cxnLst/>
            <a:rect l="l" t="t" r="r" b="b"/>
            <a:pathLst>
              <a:path w="1400175">
                <a:moveTo>
                  <a:pt x="0" y="0"/>
                </a:moveTo>
                <a:lnTo>
                  <a:pt x="1400046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3851" y="5386570"/>
            <a:ext cx="18247995" cy="0"/>
          </a:xfrm>
          <a:custGeom>
            <a:avLst/>
            <a:gdLst/>
            <a:ahLst/>
            <a:cxnLst/>
            <a:rect l="l" t="t" r="r" b="b"/>
            <a:pathLst>
              <a:path w="18247995">
                <a:moveTo>
                  <a:pt x="0" y="0"/>
                </a:moveTo>
                <a:lnTo>
                  <a:pt x="1824780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28120" y="6678066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43851" y="7969563"/>
            <a:ext cx="18247995" cy="0"/>
          </a:xfrm>
          <a:custGeom>
            <a:avLst/>
            <a:gdLst/>
            <a:ahLst/>
            <a:cxnLst/>
            <a:rect l="l" t="t" r="r" b="b"/>
            <a:pathLst>
              <a:path w="18247995">
                <a:moveTo>
                  <a:pt x="0" y="0"/>
                </a:moveTo>
                <a:lnTo>
                  <a:pt x="1824780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8120" y="9276810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115"/>
              </a:spcBef>
            </a:pPr>
            <a:r>
              <a:rPr spc="785" dirty="0"/>
              <a:t>ources</a:t>
            </a:r>
          </a:p>
        </p:txBody>
      </p:sp>
      <p:sp>
        <p:nvSpPr>
          <p:cNvPr id="26" name="object 26"/>
          <p:cNvSpPr/>
          <p:nvPr/>
        </p:nvSpPr>
        <p:spPr>
          <a:xfrm>
            <a:off x="1098639" y="2720822"/>
            <a:ext cx="39370" cy="274320"/>
          </a:xfrm>
          <a:custGeom>
            <a:avLst/>
            <a:gdLst/>
            <a:ahLst/>
            <a:cxnLst/>
            <a:rect l="l" t="t" r="r" b="b"/>
            <a:pathLst>
              <a:path w="39369" h="274319">
                <a:moveTo>
                  <a:pt x="39327" y="273959"/>
                </a:moveTo>
                <a:lnTo>
                  <a:pt x="0" y="273959"/>
                </a:lnTo>
                <a:lnTo>
                  <a:pt x="0" y="0"/>
                </a:lnTo>
                <a:lnTo>
                  <a:pt x="39327" y="0"/>
                </a:lnTo>
                <a:lnTo>
                  <a:pt x="39327" y="273959"/>
                </a:lnTo>
                <a:close/>
              </a:path>
            </a:pathLst>
          </a:custGeom>
          <a:solidFill>
            <a:srgbClr val="F0E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97422" y="2745381"/>
            <a:ext cx="39370" cy="241935"/>
          </a:xfrm>
          <a:custGeom>
            <a:avLst/>
            <a:gdLst/>
            <a:ahLst/>
            <a:cxnLst/>
            <a:rect l="l" t="t" r="r" b="b"/>
            <a:pathLst>
              <a:path w="39369" h="241935">
                <a:moveTo>
                  <a:pt x="39327" y="241728"/>
                </a:moveTo>
                <a:lnTo>
                  <a:pt x="0" y="241728"/>
                </a:lnTo>
                <a:lnTo>
                  <a:pt x="0" y="0"/>
                </a:lnTo>
                <a:lnTo>
                  <a:pt x="39327" y="0"/>
                </a:lnTo>
                <a:lnTo>
                  <a:pt x="39327" y="241728"/>
                </a:lnTo>
                <a:close/>
              </a:path>
            </a:pathLst>
          </a:custGeom>
          <a:solidFill>
            <a:srgbClr val="F0E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95831" y="2647155"/>
            <a:ext cx="217804" cy="370840"/>
          </a:xfrm>
          <a:custGeom>
            <a:avLst/>
            <a:gdLst/>
            <a:ahLst/>
            <a:cxnLst/>
            <a:rect l="l" t="t" r="r" b="b"/>
            <a:pathLst>
              <a:path w="217805" h="370839">
                <a:moveTo>
                  <a:pt x="31457" y="28651"/>
                </a:moveTo>
                <a:lnTo>
                  <a:pt x="0" y="28651"/>
                </a:lnTo>
                <a:lnTo>
                  <a:pt x="0" y="361696"/>
                </a:lnTo>
                <a:lnTo>
                  <a:pt x="31457" y="361696"/>
                </a:lnTo>
                <a:lnTo>
                  <a:pt x="31457" y="28651"/>
                </a:lnTo>
                <a:close/>
              </a:path>
              <a:path w="217805" h="370839">
                <a:moveTo>
                  <a:pt x="217728" y="0"/>
                </a:moveTo>
                <a:lnTo>
                  <a:pt x="194132" y="0"/>
                </a:lnTo>
                <a:lnTo>
                  <a:pt x="194132" y="370649"/>
                </a:lnTo>
                <a:lnTo>
                  <a:pt x="217728" y="370649"/>
                </a:lnTo>
                <a:lnTo>
                  <a:pt x="217728" y="0"/>
                </a:lnTo>
                <a:close/>
              </a:path>
            </a:pathLst>
          </a:custGeom>
          <a:solidFill>
            <a:srgbClr val="F0E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85940" y="2645188"/>
            <a:ext cx="669290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10820" algn="l"/>
                <a:tab pos="409575" algn="l"/>
                <a:tab pos="603885" algn="l"/>
              </a:tabLst>
            </a:pPr>
            <a:r>
              <a:rPr sz="1550" spc="-25" dirty="0">
                <a:solidFill>
                  <a:srgbClr val="B6B5B1"/>
                </a:solidFill>
                <a:latin typeface="Arial"/>
                <a:cs typeface="Arial"/>
              </a:rPr>
              <a:t>..</a:t>
            </a:r>
            <a:r>
              <a:rPr sz="1550" dirty="0">
                <a:solidFill>
                  <a:srgbClr val="B6B5B1"/>
                </a:solidFill>
                <a:latin typeface="Arial"/>
                <a:cs typeface="Arial"/>
              </a:rPr>
              <a:t>	</a:t>
            </a:r>
            <a:r>
              <a:rPr sz="1400" spc="-25" dirty="0">
                <a:solidFill>
                  <a:srgbClr val="B6B5B1"/>
                </a:solidFill>
                <a:latin typeface="Arial"/>
                <a:cs typeface="Arial"/>
              </a:rPr>
              <a:t>..</a:t>
            </a:r>
            <a:r>
              <a:rPr sz="1400" dirty="0">
                <a:solidFill>
                  <a:srgbClr val="B6B5B1"/>
                </a:solidFill>
                <a:latin typeface="Arial"/>
                <a:cs typeface="Arial"/>
              </a:rPr>
              <a:t>	</a:t>
            </a:r>
            <a:r>
              <a:rPr sz="1900" spc="-50" dirty="0">
                <a:solidFill>
                  <a:srgbClr val="CACAC6"/>
                </a:solidFill>
                <a:latin typeface="Arial"/>
                <a:cs typeface="Arial"/>
              </a:rPr>
              <a:t>.</a:t>
            </a:r>
            <a:r>
              <a:rPr sz="1900" dirty="0">
                <a:solidFill>
                  <a:srgbClr val="CACAC6"/>
                </a:solidFill>
                <a:latin typeface="Arial"/>
                <a:cs typeface="Arial"/>
              </a:rPr>
              <a:t>	</a:t>
            </a:r>
            <a:r>
              <a:rPr sz="2100" spc="-130" dirty="0">
                <a:solidFill>
                  <a:srgbClr val="B6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85658" y="2970597"/>
            <a:ext cx="1047750" cy="215265"/>
            <a:chOff x="985658" y="2970597"/>
            <a:chExt cx="1047750" cy="215265"/>
          </a:xfrm>
        </p:grpSpPr>
        <p:sp>
          <p:nvSpPr>
            <p:cNvPr id="31" name="object 31"/>
            <p:cNvSpPr/>
            <p:nvPr/>
          </p:nvSpPr>
          <p:spPr>
            <a:xfrm>
              <a:off x="1895228" y="2970597"/>
              <a:ext cx="133985" cy="215265"/>
            </a:xfrm>
            <a:custGeom>
              <a:avLst/>
              <a:gdLst/>
              <a:ahLst/>
              <a:cxnLst/>
              <a:rect l="l" t="t" r="r" b="b"/>
              <a:pathLst>
                <a:path w="133985" h="215264">
                  <a:moveTo>
                    <a:pt x="133712" y="214870"/>
                  </a:moveTo>
                  <a:lnTo>
                    <a:pt x="0" y="214870"/>
                  </a:lnTo>
                  <a:lnTo>
                    <a:pt x="0" y="0"/>
                  </a:lnTo>
                  <a:lnTo>
                    <a:pt x="133712" y="0"/>
                  </a:lnTo>
                  <a:lnTo>
                    <a:pt x="133712" y="214870"/>
                  </a:lnTo>
                  <a:close/>
                </a:path>
              </a:pathLst>
            </a:custGeom>
            <a:solidFill>
              <a:srgbClr val="F0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89785" y="3134325"/>
              <a:ext cx="1039494" cy="0"/>
            </a:xfrm>
            <a:custGeom>
              <a:avLst/>
              <a:gdLst/>
              <a:ahLst/>
              <a:cxnLst/>
              <a:rect l="l" t="t" r="r" b="b"/>
              <a:pathLst>
                <a:path w="1039494">
                  <a:moveTo>
                    <a:pt x="727359" y="0"/>
                  </a:moveTo>
                  <a:lnTo>
                    <a:pt x="1039154" y="0"/>
                  </a:lnTo>
                </a:path>
                <a:path w="1039494">
                  <a:moveTo>
                    <a:pt x="0" y="0"/>
                  </a:moveTo>
                  <a:lnTo>
                    <a:pt x="506053" y="0"/>
                  </a:lnTo>
                </a:path>
              </a:pathLst>
            </a:custGeom>
            <a:ln w="7874">
              <a:solidFill>
                <a:srgbClr val="B6B5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402084" y="2991751"/>
            <a:ext cx="332105" cy="176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5"/>
              </a:lnSpc>
            </a:pPr>
            <a:r>
              <a:rPr sz="1250" spc="75" dirty="0">
                <a:solidFill>
                  <a:srgbClr val="B18552"/>
                </a:solidFill>
                <a:latin typeface="Arial"/>
                <a:cs typeface="Arial"/>
              </a:rPr>
              <a:t>w</a:t>
            </a:r>
            <a:r>
              <a:rPr sz="1250" spc="75" dirty="0">
                <a:solidFill>
                  <a:srgbClr val="905211"/>
                </a:solidFill>
                <a:latin typeface="Arial"/>
                <a:cs typeface="Arial"/>
              </a:rPr>
              <a:t>1</a:t>
            </a:r>
            <a:r>
              <a:rPr sz="1250" spc="75" dirty="0">
                <a:solidFill>
                  <a:srgbClr val="C8833D"/>
                </a:solidFill>
                <a:latin typeface="Arial"/>
                <a:cs typeface="Arial"/>
              </a:rPr>
              <a:t>1</a:t>
            </a:r>
            <a:endParaRPr sz="12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21540" y="2964131"/>
            <a:ext cx="347345" cy="2146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70" dirty="0">
                <a:solidFill>
                  <a:srgbClr val="AC9787"/>
                </a:solidFill>
                <a:latin typeface="Arial"/>
                <a:cs typeface="Arial"/>
              </a:rPr>
              <a:t>1-</a:t>
            </a:r>
            <a:r>
              <a:rPr sz="1250" dirty="0">
                <a:solidFill>
                  <a:srgbClr val="B6B5B1"/>
                </a:solidFill>
                <a:latin typeface="Arial"/>
                <a:cs typeface="Arial"/>
              </a:rPr>
              <a:t>-</a:t>
            </a:r>
            <a:r>
              <a:rPr sz="1250" spc="35" dirty="0">
                <a:solidFill>
                  <a:srgbClr val="B6B5B1"/>
                </a:solidFill>
                <a:latin typeface="Arial"/>
                <a:cs typeface="Arial"/>
              </a:rPr>
              <a:t>1</a:t>
            </a:r>
            <a:endParaRPr sz="12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13670" y="3247111"/>
            <a:ext cx="39370" cy="48895"/>
          </a:xfrm>
          <a:custGeom>
            <a:avLst/>
            <a:gdLst/>
            <a:ahLst/>
            <a:cxnLst/>
            <a:rect l="l" t="t" r="r" b="b"/>
            <a:pathLst>
              <a:path w="39369" h="48895">
                <a:moveTo>
                  <a:pt x="39327" y="48345"/>
                </a:moveTo>
                <a:lnTo>
                  <a:pt x="0" y="48345"/>
                </a:lnTo>
                <a:lnTo>
                  <a:pt x="0" y="0"/>
                </a:lnTo>
                <a:lnTo>
                  <a:pt x="39327" y="0"/>
                </a:lnTo>
                <a:lnTo>
                  <a:pt x="39327" y="48345"/>
                </a:lnTo>
                <a:close/>
              </a:path>
            </a:pathLst>
          </a:custGeom>
          <a:solidFill>
            <a:srgbClr val="F0E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97419" y="3030175"/>
            <a:ext cx="419734" cy="333375"/>
          </a:xfrm>
          <a:custGeom>
            <a:avLst/>
            <a:gdLst/>
            <a:ahLst/>
            <a:cxnLst/>
            <a:rect l="l" t="t" r="r" b="b"/>
            <a:pathLst>
              <a:path w="419735" h="333375">
                <a:moveTo>
                  <a:pt x="39319" y="69583"/>
                </a:moveTo>
                <a:lnTo>
                  <a:pt x="0" y="69583"/>
                </a:lnTo>
                <a:lnTo>
                  <a:pt x="0" y="311315"/>
                </a:lnTo>
                <a:lnTo>
                  <a:pt x="39319" y="311315"/>
                </a:lnTo>
                <a:lnTo>
                  <a:pt x="39319" y="69583"/>
                </a:lnTo>
                <a:close/>
              </a:path>
              <a:path w="419735" h="333375">
                <a:moveTo>
                  <a:pt x="419722" y="0"/>
                </a:moveTo>
                <a:lnTo>
                  <a:pt x="198412" y="0"/>
                </a:lnTo>
                <a:lnTo>
                  <a:pt x="198412" y="333044"/>
                </a:lnTo>
                <a:lnTo>
                  <a:pt x="419722" y="333044"/>
                </a:lnTo>
                <a:lnTo>
                  <a:pt x="419722" y="0"/>
                </a:lnTo>
                <a:close/>
              </a:path>
            </a:pathLst>
          </a:custGeom>
          <a:solidFill>
            <a:srgbClr val="F0E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77086" y="2964131"/>
            <a:ext cx="802005" cy="381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015"/>
              </a:lnSpc>
              <a:spcBef>
                <a:spcPts val="90"/>
              </a:spcBef>
            </a:pPr>
            <a:r>
              <a:rPr sz="1250" spc="70" dirty="0">
                <a:solidFill>
                  <a:srgbClr val="9A9A99"/>
                </a:solidFill>
                <a:latin typeface="Arial"/>
                <a:cs typeface="Arial"/>
              </a:rPr>
              <a:t>1-</a:t>
            </a:r>
            <a:r>
              <a:rPr sz="1250" spc="55" dirty="0">
                <a:solidFill>
                  <a:srgbClr val="B18552"/>
                </a:solidFill>
                <a:latin typeface="Arial"/>
                <a:cs typeface="Arial"/>
              </a:rPr>
              <a:t>-</a:t>
            </a:r>
            <a:r>
              <a:rPr sz="1250" spc="30" dirty="0">
                <a:solidFill>
                  <a:srgbClr val="B18552"/>
                </a:solidFill>
                <a:latin typeface="Arial"/>
                <a:cs typeface="Arial"/>
              </a:rPr>
              <a:t>rci</a:t>
            </a:r>
            <a:endParaRPr sz="1250">
              <a:latin typeface="Arial"/>
              <a:cs typeface="Arial"/>
            </a:endParaRPr>
          </a:p>
          <a:p>
            <a:pPr marL="136525">
              <a:lnSpc>
                <a:spcPts val="1795"/>
              </a:lnSpc>
              <a:tabLst>
                <a:tab pos="320040" algn="l"/>
                <a:tab pos="518159" algn="l"/>
                <a:tab pos="723900" algn="l"/>
              </a:tabLst>
            </a:pPr>
            <a:r>
              <a:rPr sz="250" spc="-25" dirty="0">
                <a:solidFill>
                  <a:srgbClr val="B6B5B1"/>
                </a:solidFill>
                <a:latin typeface="Arial"/>
                <a:cs typeface="Arial"/>
              </a:rPr>
              <a:t>.)</a:t>
            </a:r>
            <a:r>
              <a:rPr sz="250" dirty="0">
                <a:solidFill>
                  <a:srgbClr val="B6B5B1"/>
                </a:solidFill>
                <a:latin typeface="Arial"/>
                <a:cs typeface="Arial"/>
              </a:rPr>
              <a:t>	</a:t>
            </a:r>
            <a:r>
              <a:rPr sz="1400" spc="-25" dirty="0">
                <a:solidFill>
                  <a:srgbClr val="B6B5B1"/>
                </a:solidFill>
                <a:latin typeface="Arial"/>
                <a:cs typeface="Arial"/>
              </a:rPr>
              <a:t>..</a:t>
            </a:r>
            <a:r>
              <a:rPr sz="1400" dirty="0">
                <a:solidFill>
                  <a:srgbClr val="B6B5B1"/>
                </a:solidFill>
                <a:latin typeface="Arial"/>
                <a:cs typeface="Arial"/>
              </a:rPr>
              <a:t>	</a:t>
            </a:r>
            <a:r>
              <a:rPr sz="1900" spc="-50" dirty="0">
                <a:solidFill>
                  <a:srgbClr val="CACAC6"/>
                </a:solidFill>
                <a:latin typeface="Arial"/>
                <a:cs typeface="Arial"/>
              </a:rPr>
              <a:t>.</a:t>
            </a:r>
            <a:r>
              <a:rPr sz="1900" dirty="0">
                <a:solidFill>
                  <a:srgbClr val="CACAC6"/>
                </a:solidFill>
                <a:latin typeface="Arial"/>
                <a:cs typeface="Arial"/>
              </a:rPr>
              <a:t>	</a:t>
            </a:r>
            <a:r>
              <a:rPr sz="1800" spc="-50" dirty="0">
                <a:solidFill>
                  <a:srgbClr val="B6B5B1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35868" y="2731813"/>
            <a:ext cx="927100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100" dirty="0">
                <a:solidFill>
                  <a:srgbClr val="494D54"/>
                </a:solidFill>
                <a:latin typeface="Arial"/>
                <a:cs typeface="Arial"/>
                <a:hlinkClick r:id="rId13"/>
              </a:rPr>
              <a:t>https://towardsdatascience.com/wp-</a:t>
            </a:r>
            <a:r>
              <a:rPr sz="1450" spc="105" dirty="0">
                <a:solidFill>
                  <a:srgbClr val="494D54"/>
                </a:solidFill>
                <a:latin typeface="Arial"/>
                <a:cs typeface="Arial"/>
                <a:hlinkClick r:id="rId13"/>
              </a:rPr>
              <a:t>content/uploads/2023/0l/1D_mNRM5RfQUqBXZTMrgjEA.png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36851" y="3145252"/>
            <a:ext cx="385254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494D54"/>
                </a:solidFill>
                <a:latin typeface="Arial"/>
                <a:cs typeface="Arial"/>
              </a:rPr>
              <a:t>Source:</a:t>
            </a:r>
            <a:r>
              <a:rPr sz="1900" spc="10" dirty="0">
                <a:solidFill>
                  <a:srgbClr val="494D54"/>
                </a:solidFill>
                <a:latin typeface="Arial"/>
                <a:cs typeface="Arial"/>
              </a:rPr>
              <a:t> </a:t>
            </a:r>
            <a:r>
              <a:rPr sz="1900" spc="70" dirty="0">
                <a:solidFill>
                  <a:srgbClr val="5B4BC6"/>
                </a:solidFill>
                <a:latin typeface="Arial"/>
                <a:cs typeface="Arial"/>
              </a:rPr>
              <a:t>towardsdatascience</a:t>
            </a:r>
            <a:r>
              <a:rPr sz="1900" spc="70" dirty="0">
                <a:solidFill>
                  <a:srgbClr val="4F2DE4"/>
                </a:solidFill>
                <a:latin typeface="Arial"/>
                <a:cs typeface="Arial"/>
              </a:rPr>
              <a:t>.</a:t>
            </a:r>
            <a:r>
              <a:rPr sz="1900" spc="70" dirty="0">
                <a:solidFill>
                  <a:srgbClr val="5B4BC6"/>
                </a:solidFill>
                <a:latin typeface="Arial"/>
                <a:cs typeface="Arial"/>
              </a:rPr>
              <a:t>com</a:t>
            </a:r>
            <a:endParaRPr sz="1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80834" y="4161125"/>
            <a:ext cx="30607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dirty="0">
                <a:solidFill>
                  <a:srgbClr val="7C7979"/>
                </a:solidFill>
                <a:latin typeface="Arial"/>
                <a:cs typeface="Arial"/>
              </a:rPr>
              <a:t>·-</a:t>
            </a:r>
            <a:r>
              <a:rPr sz="2050" spc="-50" dirty="0">
                <a:solidFill>
                  <a:srgbClr val="7C7979"/>
                </a:solidFill>
                <a:latin typeface="Arial"/>
                <a:cs typeface="Arial"/>
              </a:rPr>
              <a:t>-</a:t>
            </a:r>
            <a:endParaRPr sz="2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735868" y="3914639"/>
            <a:ext cx="16428085" cy="687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 marR="5080" indent="-2540">
              <a:lnSpc>
                <a:spcPct val="149700"/>
              </a:lnSpc>
              <a:spcBef>
                <a:spcPts val="95"/>
              </a:spcBef>
            </a:pPr>
            <a:r>
              <a:rPr sz="1450" spc="80" dirty="0">
                <a:solidFill>
                  <a:srgbClr val="494D54"/>
                </a:solidFill>
                <a:latin typeface="Arial"/>
                <a:cs typeface="Arial"/>
                <a:hlinkClick r:id="rId14"/>
              </a:rPr>
              <a:t>https://funnel.io</a:t>
            </a:r>
            <a:r>
              <a:rPr sz="1450" spc="-220" dirty="0">
                <a:solidFill>
                  <a:srgbClr val="494D54"/>
                </a:solidFill>
                <a:latin typeface="Arial"/>
                <a:cs typeface="Arial"/>
                <a:hlinkClick r:id="rId14"/>
              </a:rPr>
              <a:t> </a:t>
            </a:r>
            <a:r>
              <a:rPr sz="1450" spc="125" dirty="0">
                <a:solidFill>
                  <a:srgbClr val="5B5D60"/>
                </a:solidFill>
                <a:latin typeface="Arial"/>
                <a:cs typeface="Arial"/>
              </a:rPr>
              <a:t>/hs-</a:t>
            </a:r>
            <a:r>
              <a:rPr sz="1450" spc="85" dirty="0">
                <a:solidFill>
                  <a:srgbClr val="5B5D60"/>
                </a:solidFill>
                <a:latin typeface="Arial"/>
                <a:cs typeface="Arial"/>
              </a:rPr>
              <a:t>fs/hubfs/Sim</a:t>
            </a:r>
            <a:r>
              <a:rPr sz="1450" spc="85" dirty="0">
                <a:solidFill>
                  <a:srgbClr val="494D54"/>
                </a:solidFill>
                <a:latin typeface="Arial"/>
                <a:cs typeface="Arial"/>
              </a:rPr>
              <a:t>ple%201inear%20regression%20model%20vs</a:t>
            </a:r>
            <a:r>
              <a:rPr sz="1450" spc="85" dirty="0">
                <a:solidFill>
                  <a:srgbClr val="5B5D60"/>
                </a:solidFill>
                <a:latin typeface="Arial"/>
                <a:cs typeface="Arial"/>
              </a:rPr>
              <a:t>%20m</a:t>
            </a:r>
            <a:r>
              <a:rPr sz="1450" spc="85" dirty="0">
                <a:solidFill>
                  <a:srgbClr val="494D54"/>
                </a:solidFill>
                <a:latin typeface="Arial"/>
                <a:cs typeface="Arial"/>
              </a:rPr>
              <a:t>ultipie.png?width=1999&amp;height=1143&amp;name=Sim</a:t>
            </a:r>
            <a:r>
              <a:rPr sz="1450" spc="-175" dirty="0">
                <a:solidFill>
                  <a:srgbClr val="494D54"/>
                </a:solidFill>
                <a:latin typeface="Arial"/>
                <a:cs typeface="Arial"/>
              </a:rPr>
              <a:t> </a:t>
            </a:r>
            <a:r>
              <a:rPr sz="1450" spc="65" dirty="0">
                <a:solidFill>
                  <a:srgbClr val="494D54"/>
                </a:solidFill>
                <a:latin typeface="Arial"/>
                <a:cs typeface="Arial"/>
              </a:rPr>
              <a:t>ple%201inear%20regression%20model%20 </a:t>
            </a:r>
            <a:r>
              <a:rPr sz="1450" spc="90" dirty="0">
                <a:solidFill>
                  <a:srgbClr val="494D54"/>
                </a:solidFill>
                <a:latin typeface="Arial"/>
                <a:cs typeface="Arial"/>
              </a:rPr>
              <a:t>vs</a:t>
            </a:r>
            <a:r>
              <a:rPr sz="1450" spc="90" dirty="0">
                <a:solidFill>
                  <a:srgbClr val="5B5D60"/>
                </a:solidFill>
                <a:latin typeface="Arial"/>
                <a:cs typeface="Arial"/>
              </a:rPr>
              <a:t>%20m</a:t>
            </a:r>
            <a:r>
              <a:rPr sz="1450" spc="90" dirty="0">
                <a:solidFill>
                  <a:srgbClr val="494D54"/>
                </a:solidFill>
                <a:latin typeface="Arial"/>
                <a:cs typeface="Arial"/>
              </a:rPr>
              <a:t>u</a:t>
            </a:r>
            <a:r>
              <a:rPr sz="1450" spc="90" dirty="0">
                <a:solidFill>
                  <a:srgbClr val="543A70"/>
                </a:solidFill>
                <a:latin typeface="Arial"/>
                <a:cs typeface="Arial"/>
              </a:rPr>
              <a:t>l</a:t>
            </a:r>
            <a:r>
              <a:rPr sz="1450" spc="90" dirty="0">
                <a:solidFill>
                  <a:srgbClr val="494D54"/>
                </a:solidFill>
                <a:latin typeface="Arial"/>
                <a:cs typeface="Arial"/>
              </a:rPr>
              <a:t>tipie.png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36851" y="4767498"/>
            <a:ext cx="189738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494D54"/>
                </a:solidFill>
                <a:latin typeface="Arial"/>
                <a:cs typeface="Arial"/>
              </a:rPr>
              <a:t>Source:</a:t>
            </a:r>
            <a:r>
              <a:rPr sz="1900" spc="25" dirty="0">
                <a:solidFill>
                  <a:srgbClr val="494D54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5B4BC6"/>
                </a:solidFill>
                <a:latin typeface="Arial"/>
                <a:cs typeface="Arial"/>
              </a:rPr>
              <a:t>funnel.io</a:t>
            </a:r>
            <a:endParaRPr sz="1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735868" y="5661309"/>
            <a:ext cx="8714105" cy="716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114" dirty="0">
                <a:solidFill>
                  <a:srgbClr val="494D54"/>
                </a:solidFill>
                <a:latin typeface="Arial"/>
                <a:cs typeface="Arial"/>
              </a:rPr>
              <a:t>https://miro.medium.com/v2/resize:fit:1358/format:webp/l*fGbmwppPjrNfJ-</a:t>
            </a:r>
            <a:r>
              <a:rPr sz="1450" spc="135" dirty="0">
                <a:solidFill>
                  <a:srgbClr val="494D54"/>
                </a:solidFill>
                <a:latin typeface="Arial"/>
                <a:cs typeface="Arial"/>
              </a:rPr>
              <a:t>C90HOHIQ.png</a:t>
            </a:r>
            <a:endParaRPr sz="14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1405"/>
              </a:spcBef>
            </a:pPr>
            <a:r>
              <a:rPr sz="1900" dirty="0">
                <a:solidFill>
                  <a:srgbClr val="494D54"/>
                </a:solidFill>
                <a:latin typeface="Arial"/>
                <a:cs typeface="Arial"/>
              </a:rPr>
              <a:t>Source:</a:t>
            </a:r>
            <a:r>
              <a:rPr sz="1900" spc="-25" dirty="0">
                <a:solidFill>
                  <a:srgbClr val="494D54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5B4BC6"/>
                </a:solidFill>
                <a:latin typeface="Arial"/>
                <a:cs typeface="Arial"/>
              </a:rPr>
              <a:t>medium</a:t>
            </a:r>
            <a:r>
              <a:rPr sz="1900" spc="60" dirty="0">
                <a:solidFill>
                  <a:srgbClr val="3F2BAF"/>
                </a:solidFill>
                <a:latin typeface="Arial"/>
                <a:cs typeface="Arial"/>
              </a:rPr>
              <a:t>.</a:t>
            </a:r>
            <a:r>
              <a:rPr sz="1900" spc="60" dirty="0">
                <a:solidFill>
                  <a:srgbClr val="5B4BC6"/>
                </a:solidFill>
                <a:latin typeface="Arial"/>
                <a:cs typeface="Arial"/>
              </a:rPr>
              <a:t>com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80303" y="6966060"/>
            <a:ext cx="15875" cy="252729"/>
            <a:chOff x="880303" y="6966060"/>
            <a:chExt cx="15875" cy="252729"/>
          </a:xfrm>
        </p:grpSpPr>
        <p:sp>
          <p:nvSpPr>
            <p:cNvPr id="45" name="object 45"/>
            <p:cNvSpPr/>
            <p:nvPr/>
          </p:nvSpPr>
          <p:spPr>
            <a:xfrm>
              <a:off x="880303" y="6966060"/>
              <a:ext cx="15875" cy="252729"/>
            </a:xfrm>
            <a:custGeom>
              <a:avLst/>
              <a:gdLst/>
              <a:ahLst/>
              <a:cxnLst/>
              <a:rect l="l" t="t" r="r" b="b"/>
              <a:pathLst>
                <a:path w="15875" h="252729">
                  <a:moveTo>
                    <a:pt x="15730" y="252472"/>
                  </a:moveTo>
                  <a:lnTo>
                    <a:pt x="0" y="252472"/>
                  </a:lnTo>
                  <a:lnTo>
                    <a:pt x="0" y="0"/>
                  </a:lnTo>
                  <a:lnTo>
                    <a:pt x="15730" y="0"/>
                  </a:lnTo>
                  <a:lnTo>
                    <a:pt x="15730" y="252472"/>
                  </a:lnTo>
                  <a:close/>
                </a:path>
              </a:pathLst>
            </a:custGeom>
            <a:solidFill>
              <a:srgbClr val="F0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80303" y="7158441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0" y="0"/>
                  </a:moveTo>
                  <a:lnTo>
                    <a:pt x="15730" y="0"/>
                  </a:lnTo>
                </a:path>
              </a:pathLst>
            </a:custGeom>
            <a:ln w="7874">
              <a:solidFill>
                <a:srgbClr val="CACA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67603" y="6960680"/>
            <a:ext cx="664210" cy="860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6060" algn="l"/>
                <a:tab pos="650240" algn="l"/>
              </a:tabLst>
            </a:pPr>
            <a:r>
              <a:rPr sz="1450" spc="-50" dirty="0">
                <a:solidFill>
                  <a:srgbClr val="CACAC6"/>
                </a:solidFill>
                <a:latin typeface="Arial"/>
                <a:cs typeface="Arial"/>
              </a:rPr>
              <a:t>.</a:t>
            </a:r>
            <a:r>
              <a:rPr sz="1450" dirty="0">
                <a:solidFill>
                  <a:srgbClr val="CACAC6"/>
                </a:solidFill>
                <a:latin typeface="Arial"/>
                <a:cs typeface="Arial"/>
              </a:rPr>
              <a:t>	</a:t>
            </a:r>
            <a:r>
              <a:rPr sz="1450" u="sng" spc="35" dirty="0">
                <a:solidFill>
                  <a:srgbClr val="7C7979"/>
                </a:solidFill>
                <a:uFill>
                  <a:solidFill>
                    <a:srgbClr val="7C7979"/>
                  </a:solidFill>
                </a:uFill>
                <a:latin typeface="Arial"/>
                <a:cs typeface="Arial"/>
              </a:rPr>
              <a:t>�</a:t>
            </a:r>
            <a:r>
              <a:rPr sz="1450" u="sng" dirty="0">
                <a:solidFill>
                  <a:srgbClr val="7C7979"/>
                </a:solidFill>
                <a:uFill>
                  <a:solidFill>
                    <a:srgbClr val="7C7979"/>
                  </a:solidFill>
                </a:uFill>
                <a:latin typeface="Arial"/>
                <a:cs typeface="Arial"/>
              </a:rPr>
              <a:t>	</a:t>
            </a:r>
            <a:endParaRPr sz="1450">
              <a:latin typeface="Arial"/>
              <a:cs typeface="Arial"/>
            </a:endParaRPr>
          </a:p>
          <a:p>
            <a:pPr marL="235585">
              <a:lnSpc>
                <a:spcPts val="650"/>
              </a:lnSpc>
              <a:spcBef>
                <a:spcPts val="585"/>
              </a:spcBef>
            </a:pPr>
            <a:r>
              <a:rPr sz="800" spc="15" dirty="0">
                <a:solidFill>
                  <a:srgbClr val="9A9A99"/>
                </a:solidFill>
                <a:latin typeface="Times New Roman"/>
                <a:cs typeface="Times New Roman"/>
              </a:rPr>
              <a:t>,</a:t>
            </a:r>
            <a:r>
              <a:rPr sz="800" spc="15" dirty="0">
                <a:solidFill>
                  <a:srgbClr val="7C7979"/>
                </a:solidFill>
                <a:latin typeface="Times New Roman"/>
                <a:cs typeface="Times New Roman"/>
              </a:rPr>
              <a:t>..,</a:t>
            </a:r>
            <a:r>
              <a:rPr sz="800" spc="15" dirty="0">
                <a:solidFill>
                  <a:srgbClr val="413D3D"/>
                </a:solidFill>
                <a:latin typeface="Times New Roman"/>
                <a:cs typeface="Times New Roman"/>
              </a:rPr>
              <a:t>,</a:t>
            </a:r>
            <a:r>
              <a:rPr sz="800" spc="15" dirty="0">
                <a:solidFill>
                  <a:srgbClr val="7C7979"/>
                </a:solidFill>
                <a:latin typeface="Times New Roman"/>
                <a:cs typeface="Times New Roman"/>
              </a:rPr>
              <a:t>.,</a:t>
            </a:r>
            <a:r>
              <a:rPr sz="800" spc="15" dirty="0">
                <a:solidFill>
                  <a:srgbClr val="9A9A99"/>
                </a:solidFill>
                <a:latin typeface="Times New Roman"/>
                <a:cs typeface="Times New Roman"/>
              </a:rPr>
              <a:t>o</a:t>
            </a:r>
            <a:r>
              <a:rPr sz="800" spc="40" dirty="0">
                <a:solidFill>
                  <a:srgbClr val="9A9A99"/>
                </a:solidFill>
                <a:latin typeface="Times New Roman"/>
                <a:cs typeface="Times New Roman"/>
              </a:rPr>
              <a:t>,</a:t>
            </a:r>
            <a:r>
              <a:rPr sz="800" spc="15" dirty="0">
                <a:solidFill>
                  <a:srgbClr val="9A9A99"/>
                </a:solidFill>
                <a:latin typeface="Times New Roman"/>
                <a:cs typeface="Times New Roman"/>
              </a:rPr>
              <a:t>..</a:t>
            </a:r>
            <a:r>
              <a:rPr sz="800" spc="-140" dirty="0">
                <a:solidFill>
                  <a:srgbClr val="7C7979"/>
                </a:solidFill>
                <a:latin typeface="Times New Roman"/>
                <a:cs typeface="Times New Roman"/>
              </a:rPr>
              <a:t>.</a:t>
            </a:r>
            <a:r>
              <a:rPr sz="800" spc="-470" dirty="0">
                <a:solidFill>
                  <a:srgbClr val="7C7979"/>
                </a:solidFill>
                <a:latin typeface="Times New Roman"/>
                <a:cs typeface="Times New Roman"/>
              </a:rPr>
              <a:t>�</a:t>
            </a:r>
            <a:r>
              <a:rPr sz="800" spc="15" dirty="0">
                <a:solidFill>
                  <a:srgbClr val="7C7979"/>
                </a:solidFill>
                <a:latin typeface="Times New Roman"/>
                <a:cs typeface="Times New Roman"/>
              </a:rPr>
              <a:t>.</a:t>
            </a:r>
            <a:endParaRPr sz="800">
              <a:latin typeface="Times New Roman"/>
              <a:cs typeface="Times New Roman"/>
            </a:endParaRPr>
          </a:p>
          <a:p>
            <a:pPr marL="114300">
              <a:lnSpc>
                <a:spcPts val="3590"/>
              </a:lnSpc>
            </a:pPr>
            <a:r>
              <a:rPr sz="3250" spc="-50" dirty="0">
                <a:solidFill>
                  <a:srgbClr val="7C7979"/>
                </a:solidFill>
                <a:latin typeface="Times New Roman"/>
                <a:cs typeface="Times New Roman"/>
              </a:rPr>
              <a:t>/</a:t>
            </a:r>
            <a:endParaRPr sz="325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570986" y="6966060"/>
            <a:ext cx="165735" cy="252729"/>
            <a:chOff x="1570986" y="6966060"/>
            <a:chExt cx="165735" cy="252729"/>
          </a:xfrm>
        </p:grpSpPr>
        <p:sp>
          <p:nvSpPr>
            <p:cNvPr id="49" name="object 49"/>
            <p:cNvSpPr/>
            <p:nvPr/>
          </p:nvSpPr>
          <p:spPr>
            <a:xfrm>
              <a:off x="1570986" y="6966060"/>
              <a:ext cx="165735" cy="252729"/>
            </a:xfrm>
            <a:custGeom>
              <a:avLst/>
              <a:gdLst/>
              <a:ahLst/>
              <a:cxnLst/>
              <a:rect l="l" t="t" r="r" b="b"/>
              <a:pathLst>
                <a:path w="165735" h="252729">
                  <a:moveTo>
                    <a:pt x="165479" y="252472"/>
                  </a:moveTo>
                  <a:lnTo>
                    <a:pt x="0" y="252472"/>
                  </a:lnTo>
                  <a:lnTo>
                    <a:pt x="0" y="0"/>
                  </a:lnTo>
                  <a:lnTo>
                    <a:pt x="165479" y="0"/>
                  </a:lnTo>
                  <a:lnTo>
                    <a:pt x="165479" y="252472"/>
                  </a:lnTo>
                  <a:close/>
                </a:path>
              </a:pathLst>
            </a:custGeom>
            <a:solidFill>
              <a:srgbClr val="F0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603088" y="7158441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0" y="0"/>
                  </a:moveTo>
                  <a:lnTo>
                    <a:pt x="15730" y="0"/>
                  </a:lnTo>
                </a:path>
              </a:pathLst>
            </a:custGeom>
            <a:ln w="7874">
              <a:solidFill>
                <a:srgbClr val="9A9A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/>
          <p:nvPr/>
        </p:nvSpPr>
        <p:spPr>
          <a:xfrm>
            <a:off x="1791169" y="6963987"/>
            <a:ext cx="242570" cy="254635"/>
          </a:xfrm>
          <a:custGeom>
            <a:avLst/>
            <a:gdLst/>
            <a:ahLst/>
            <a:cxnLst/>
            <a:rect l="l" t="t" r="r" b="b"/>
            <a:pathLst>
              <a:path w="242569" h="254634">
                <a:moveTo>
                  <a:pt x="242557" y="0"/>
                </a:moveTo>
                <a:lnTo>
                  <a:pt x="93116" y="0"/>
                </a:lnTo>
                <a:lnTo>
                  <a:pt x="93116" y="2082"/>
                </a:lnTo>
                <a:lnTo>
                  <a:pt x="0" y="2082"/>
                </a:lnTo>
                <a:lnTo>
                  <a:pt x="0" y="254546"/>
                </a:lnTo>
                <a:lnTo>
                  <a:pt x="149440" y="254546"/>
                </a:lnTo>
                <a:lnTo>
                  <a:pt x="149440" y="250571"/>
                </a:lnTo>
                <a:lnTo>
                  <a:pt x="242557" y="250571"/>
                </a:lnTo>
                <a:lnTo>
                  <a:pt x="242557" y="0"/>
                </a:lnTo>
                <a:close/>
              </a:path>
            </a:pathLst>
          </a:custGeom>
          <a:solidFill>
            <a:srgbClr val="F0E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114275" y="6963981"/>
            <a:ext cx="141605" cy="250825"/>
          </a:xfrm>
          <a:custGeom>
            <a:avLst/>
            <a:gdLst/>
            <a:ahLst/>
            <a:cxnLst/>
            <a:rect l="l" t="t" r="r" b="b"/>
            <a:pathLst>
              <a:path w="141605" h="250825">
                <a:moveTo>
                  <a:pt x="141577" y="250574"/>
                </a:moveTo>
                <a:lnTo>
                  <a:pt x="0" y="250574"/>
                </a:lnTo>
                <a:lnTo>
                  <a:pt x="0" y="0"/>
                </a:lnTo>
                <a:lnTo>
                  <a:pt x="141577" y="0"/>
                </a:lnTo>
                <a:lnTo>
                  <a:pt x="141577" y="250574"/>
                </a:lnTo>
                <a:close/>
              </a:path>
            </a:pathLst>
          </a:custGeom>
          <a:solidFill>
            <a:srgbClr val="F0E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570986" y="6960680"/>
            <a:ext cx="19558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" indent="-31115">
              <a:lnSpc>
                <a:spcPct val="100000"/>
              </a:lnSpc>
              <a:spcBef>
                <a:spcPts val="105"/>
              </a:spcBef>
              <a:buSzPct val="27586"/>
              <a:buChar char="•"/>
              <a:tabLst>
                <a:tab pos="31115" algn="l"/>
              </a:tabLst>
            </a:pPr>
            <a:r>
              <a:rPr sz="1450" spc="-490" dirty="0">
                <a:solidFill>
                  <a:srgbClr val="CACAC6"/>
                </a:solidFill>
                <a:latin typeface="Arial"/>
                <a:cs typeface="Arial"/>
              </a:rPr>
              <a:t>-</a:t>
            </a:r>
            <a:r>
              <a:rPr sz="1450" spc="-220" dirty="0">
                <a:solidFill>
                  <a:srgbClr val="9A9A99"/>
                </a:solidFill>
                <a:latin typeface="Arial"/>
                <a:cs typeface="Arial"/>
              </a:rPr>
              <a:t>I</a:t>
            </a:r>
            <a:r>
              <a:rPr sz="1450" spc="-220" dirty="0">
                <a:solidFill>
                  <a:srgbClr val="CACAC6"/>
                </a:solidFill>
                <a:latin typeface="Arial"/>
                <a:cs typeface="Arial"/>
              </a:rPr>
              <a:t>-</a:t>
            </a:r>
            <a:r>
              <a:rPr sz="1450" spc="-204" dirty="0">
                <a:solidFill>
                  <a:srgbClr val="CACAC6"/>
                </a:solidFill>
                <a:latin typeface="Arial"/>
                <a:cs typeface="Arial"/>
              </a:rPr>
              <a:t>'-</a:t>
            </a:r>
            <a:r>
              <a:rPr sz="1450" spc="-240" dirty="0">
                <a:solidFill>
                  <a:srgbClr val="CACAC6"/>
                </a:solidFill>
                <a:latin typeface="Arial"/>
                <a:cs typeface="Arial"/>
              </a:rPr>
              <a:t>.</a:t>
            </a:r>
            <a:r>
              <a:rPr sz="1450" spc="-240" dirty="0">
                <a:solidFill>
                  <a:srgbClr val="5B5D60"/>
                </a:solidFill>
                <a:latin typeface="Arial"/>
                <a:cs typeface="Arial"/>
              </a:rPr>
              <a:t>·</a:t>
            </a:r>
            <a:endParaRPr sz="14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753336" y="6960680"/>
            <a:ext cx="47307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185" dirty="0">
                <a:solidFill>
                  <a:srgbClr val="7C7979"/>
                </a:solidFill>
                <a:latin typeface="Arial"/>
                <a:cs typeface="Arial"/>
              </a:rPr>
              <a:t>.</a:t>
            </a:r>
            <a:r>
              <a:rPr sz="1450" spc="-434" dirty="0">
                <a:solidFill>
                  <a:srgbClr val="B6B5B1"/>
                </a:solidFill>
                <a:latin typeface="Arial"/>
                <a:cs typeface="Arial"/>
              </a:rPr>
              <a:t>_</a:t>
            </a:r>
            <a:r>
              <a:rPr sz="1450" i="1" spc="-665" dirty="0">
                <a:solidFill>
                  <a:srgbClr val="7C7979"/>
                </a:solidFill>
                <a:latin typeface="Verdana"/>
                <a:cs typeface="Verdana"/>
              </a:rPr>
              <a:t>:</a:t>
            </a:r>
            <a:r>
              <a:rPr sz="1450" spc="-170" dirty="0">
                <a:solidFill>
                  <a:srgbClr val="52859E"/>
                </a:solidFill>
                <a:latin typeface="Arial"/>
                <a:cs typeface="Arial"/>
              </a:rPr>
              <a:t>·</a:t>
            </a:r>
            <a:r>
              <a:rPr sz="1450" spc="-385" dirty="0">
                <a:solidFill>
                  <a:srgbClr val="7C7979"/>
                </a:solidFill>
                <a:latin typeface="Arial"/>
                <a:cs typeface="Arial"/>
              </a:rPr>
              <a:t>.</a:t>
            </a:r>
            <a:r>
              <a:rPr sz="1450" i="1" spc="-955" dirty="0">
                <a:solidFill>
                  <a:srgbClr val="B6B5B1"/>
                </a:solidFill>
                <a:latin typeface="Verdana"/>
                <a:cs typeface="Verdana"/>
              </a:rPr>
              <a:t>_</a:t>
            </a:r>
            <a:r>
              <a:rPr sz="1450" spc="-170" dirty="0">
                <a:solidFill>
                  <a:srgbClr val="7C7979"/>
                </a:solidFill>
                <a:latin typeface="Arial"/>
                <a:cs typeface="Arial"/>
              </a:rPr>
              <a:t>:</a:t>
            </a:r>
            <a:r>
              <a:rPr sz="1450" spc="-25" dirty="0">
                <a:solidFill>
                  <a:srgbClr val="7C7979"/>
                </a:solidFill>
                <a:latin typeface="Arial"/>
                <a:cs typeface="Arial"/>
              </a:rPr>
              <a:t> </a:t>
            </a:r>
            <a:r>
              <a:rPr sz="1450" i="1" spc="-240" dirty="0">
                <a:solidFill>
                  <a:srgbClr val="567285"/>
                </a:solidFill>
                <a:latin typeface="Verdana"/>
                <a:cs typeface="Verdana"/>
              </a:rPr>
              <a:t>.</a:t>
            </a:r>
            <a:r>
              <a:rPr sz="1450" i="1" spc="-235" dirty="0">
                <a:solidFill>
                  <a:srgbClr val="7C7979"/>
                </a:solidFill>
                <a:latin typeface="Verdana"/>
                <a:cs typeface="Verdana"/>
              </a:rPr>
              <a:t>:</a:t>
            </a:r>
            <a:r>
              <a:rPr sz="1450" i="1" spc="-765" dirty="0">
                <a:solidFill>
                  <a:srgbClr val="3D7B7C"/>
                </a:solidFill>
                <a:latin typeface="Verdana"/>
                <a:cs typeface="Verdana"/>
              </a:rPr>
              <a:t>.</a:t>
            </a:r>
            <a:r>
              <a:rPr sz="1450" i="1" spc="-240" dirty="0">
                <a:solidFill>
                  <a:srgbClr val="7C7979"/>
                </a:solidFill>
                <a:latin typeface="Verdana"/>
                <a:cs typeface="Verdana"/>
              </a:rPr>
              <a:t>:</a:t>
            </a:r>
            <a:r>
              <a:rPr sz="1450" i="1" spc="-475" dirty="0">
                <a:solidFill>
                  <a:srgbClr val="B6B5B1"/>
                </a:solidFill>
                <a:latin typeface="Verdana"/>
                <a:cs typeface="Verdana"/>
              </a:rPr>
              <a:t>_</a:t>
            </a:r>
            <a:r>
              <a:rPr sz="1450" spc="-490" dirty="0">
                <a:solidFill>
                  <a:srgbClr val="567285"/>
                </a:solidFill>
                <a:latin typeface="Arial"/>
                <a:cs typeface="Arial"/>
              </a:rPr>
              <a:t>·</a:t>
            </a:r>
            <a:r>
              <a:rPr sz="1450" i="1" spc="-240" dirty="0">
                <a:solidFill>
                  <a:srgbClr val="7C7979"/>
                </a:solidFill>
                <a:latin typeface="Verdana"/>
                <a:cs typeface="Verdana"/>
              </a:rPr>
              <a:t>: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735868" y="6952805"/>
            <a:ext cx="712724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100" dirty="0">
                <a:solidFill>
                  <a:srgbClr val="494D54"/>
                </a:solidFill>
                <a:latin typeface="Arial"/>
                <a:cs typeface="Arial"/>
              </a:rPr>
              <a:t>https://miro.medium.com/v2/resize:fit:1400/1*6j-</a:t>
            </a:r>
            <a:r>
              <a:rPr sz="1450" spc="110" dirty="0">
                <a:solidFill>
                  <a:srgbClr val="494D54"/>
                </a:solidFill>
                <a:latin typeface="Arial"/>
                <a:cs typeface="Arial"/>
              </a:rPr>
              <a:t>Akq86j2djxXyj9UjQnA.png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736851" y="7366241"/>
            <a:ext cx="242633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494D54"/>
                </a:solidFill>
                <a:latin typeface="Arial"/>
                <a:cs typeface="Arial"/>
              </a:rPr>
              <a:t>Source:</a:t>
            </a:r>
            <a:r>
              <a:rPr sz="1900" spc="-25" dirty="0">
                <a:solidFill>
                  <a:srgbClr val="494D54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5B4BC6"/>
                </a:solidFill>
                <a:latin typeface="Arial"/>
                <a:cs typeface="Arial"/>
              </a:rPr>
              <a:t>medium.com</a:t>
            </a:r>
            <a:endParaRPr sz="19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61005" y="8291552"/>
            <a:ext cx="55562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9EDAEB"/>
                </a:solidFill>
                <a:latin typeface="Arial"/>
                <a:cs typeface="Arial"/>
              </a:rPr>
              <a:t>Learning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792405" y="8256114"/>
            <a:ext cx="5568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095" algn="l"/>
              </a:tabLst>
            </a:pPr>
            <a:r>
              <a:rPr sz="1000" spc="-50" dirty="0">
                <a:solidFill>
                  <a:srgbClr val="7E8E99"/>
                </a:solidFill>
                <a:latin typeface="Arial"/>
                <a:cs typeface="Arial"/>
              </a:rPr>
              <a:t>.</a:t>
            </a:r>
            <a:r>
              <a:rPr sz="1000" dirty="0">
                <a:solidFill>
                  <a:srgbClr val="7E8E99"/>
                </a:solidFill>
                <a:latin typeface="Arial"/>
                <a:cs typeface="Arial"/>
              </a:rPr>
              <a:t>	</a:t>
            </a:r>
            <a:r>
              <a:rPr sz="1000" b="1" dirty="0">
                <a:solidFill>
                  <a:srgbClr val="AED646"/>
                </a:solidFill>
                <a:latin typeface="Times New Roman"/>
                <a:cs typeface="Times New Roman"/>
              </a:rPr>
              <a:t>1</a:t>
            </a:r>
            <a:r>
              <a:rPr sz="1000" b="1" spc="385" dirty="0">
                <a:solidFill>
                  <a:srgbClr val="AED646"/>
                </a:solidFill>
                <a:latin typeface="Times New Roman"/>
                <a:cs typeface="Times New Roman"/>
              </a:rPr>
              <a:t> </a:t>
            </a:r>
            <a:r>
              <a:rPr sz="1300" b="1" spc="-125" dirty="0">
                <a:solidFill>
                  <a:srgbClr val="3FA8E8"/>
                </a:solidFill>
                <a:latin typeface="Arial"/>
                <a:cs typeface="Arial"/>
              </a:rPr>
              <a:t>11</a:t>
            </a:r>
            <a:endParaRPr sz="13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937503" y="8364825"/>
            <a:ext cx="86995" cy="265430"/>
          </a:xfrm>
          <a:custGeom>
            <a:avLst/>
            <a:gdLst/>
            <a:ahLst/>
            <a:cxnLst/>
            <a:rect l="l" t="t" r="r" b="b"/>
            <a:pathLst>
              <a:path w="86994" h="265429">
                <a:moveTo>
                  <a:pt x="86519" y="265032"/>
                </a:moveTo>
                <a:lnTo>
                  <a:pt x="0" y="265032"/>
                </a:lnTo>
                <a:lnTo>
                  <a:pt x="0" y="0"/>
                </a:lnTo>
                <a:lnTo>
                  <a:pt x="86519" y="0"/>
                </a:lnTo>
                <a:lnTo>
                  <a:pt x="86519" y="265032"/>
                </a:lnTo>
                <a:close/>
              </a:path>
            </a:pathLst>
          </a:custGeom>
          <a:solidFill>
            <a:srgbClr val="285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938565" y="8362426"/>
            <a:ext cx="130746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5770" algn="l"/>
              </a:tabLst>
            </a:pPr>
            <a:r>
              <a:rPr sz="1450" spc="-10" dirty="0">
                <a:solidFill>
                  <a:srgbClr val="59A79E"/>
                </a:solidFill>
                <a:latin typeface="Arial"/>
                <a:cs typeface="Arial"/>
              </a:rPr>
              <a:t>'""'"</a:t>
            </a:r>
            <a:r>
              <a:rPr sz="1450" dirty="0">
                <a:solidFill>
                  <a:srgbClr val="59A79E"/>
                </a:solidFill>
                <a:latin typeface="Arial"/>
                <a:cs typeface="Arial"/>
              </a:rPr>
              <a:t>	</a:t>
            </a:r>
            <a:r>
              <a:rPr sz="1450" spc="-25" dirty="0">
                <a:solidFill>
                  <a:srgbClr val="5BA882"/>
                </a:solidFill>
                <a:latin typeface="Arial"/>
                <a:cs typeface="Arial"/>
              </a:rPr>
              <a:t>,.</a:t>
            </a:r>
            <a:r>
              <a:rPr sz="1450" spc="-25" dirty="0">
                <a:solidFill>
                  <a:srgbClr val="59A79E"/>
                </a:solidFill>
                <a:latin typeface="Arial"/>
                <a:cs typeface="Arial"/>
              </a:rPr>
              <a:t>-</a:t>
            </a:r>
            <a:r>
              <a:rPr sz="1450" spc="60" dirty="0">
                <a:solidFill>
                  <a:srgbClr val="59A79E"/>
                </a:solidFill>
                <a:latin typeface="Arial"/>
                <a:cs typeface="Arial"/>
              </a:rPr>
              <a:t>--</a:t>
            </a:r>
            <a:r>
              <a:rPr sz="1450" dirty="0">
                <a:solidFill>
                  <a:srgbClr val="59A79E"/>
                </a:solidFill>
                <a:latin typeface="Arial"/>
                <a:cs typeface="Arial"/>
              </a:rPr>
              <a:t>-</a:t>
            </a:r>
            <a:r>
              <a:rPr sz="1450" spc="10" dirty="0">
                <a:solidFill>
                  <a:srgbClr val="59A79E"/>
                </a:solidFill>
                <a:latin typeface="Arial"/>
                <a:cs typeface="Arial"/>
              </a:rPr>
              <a:t> </a:t>
            </a:r>
            <a:r>
              <a:rPr sz="1450" spc="-165" dirty="0">
                <a:solidFill>
                  <a:srgbClr val="8EA8AF"/>
                </a:solidFill>
                <a:latin typeface="Arial"/>
                <a:cs typeface="Arial"/>
              </a:rPr>
              <a:t>l</a:t>
            </a:r>
            <a:r>
              <a:rPr sz="1450" spc="-165" dirty="0">
                <a:solidFill>
                  <a:srgbClr val="7E8E99"/>
                </a:solidFill>
                <a:latin typeface="Arial"/>
                <a:cs typeface="Arial"/>
              </a:rPr>
              <a:t>lr,,</a:t>
            </a:r>
            <a:r>
              <a:rPr sz="1450" b="1" spc="-165" dirty="0">
                <a:solidFill>
                  <a:srgbClr val="E6F6F4"/>
                </a:solidFill>
                <a:latin typeface="Arial"/>
                <a:cs typeface="Arial"/>
              </a:rPr>
              <a:t>..</a:t>
            </a:r>
            <a:r>
              <a:rPr sz="1450" b="1" spc="-90" dirty="0">
                <a:solidFill>
                  <a:srgbClr val="E6F6F4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CFCD4D"/>
                </a:solidFill>
                <a:latin typeface="Arial"/>
                <a:cs typeface="Arial"/>
              </a:rPr>
              <a:t>m.</a:t>
            </a:r>
            <a:endParaRPr sz="13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384516" y="8539613"/>
            <a:ext cx="37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5BA882"/>
                </a:solidFill>
                <a:latin typeface="Arial"/>
                <a:cs typeface="Arial"/>
              </a:rPr>
              <a:t>'</a:t>
            </a:r>
            <a:endParaRPr sz="5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749313" y="8549823"/>
            <a:ext cx="165735" cy="86360"/>
          </a:xfrm>
          <a:custGeom>
            <a:avLst/>
            <a:gdLst/>
            <a:ahLst/>
            <a:cxnLst/>
            <a:rect l="l" t="t" r="r" b="b"/>
            <a:pathLst>
              <a:path w="165735" h="86359">
                <a:moveTo>
                  <a:pt x="165174" y="85948"/>
                </a:moveTo>
                <a:lnTo>
                  <a:pt x="0" y="85948"/>
                </a:lnTo>
                <a:lnTo>
                  <a:pt x="0" y="0"/>
                </a:lnTo>
                <a:lnTo>
                  <a:pt x="165174" y="0"/>
                </a:lnTo>
                <a:lnTo>
                  <a:pt x="165174" y="85948"/>
                </a:lnTo>
                <a:close/>
              </a:path>
            </a:pathLst>
          </a:custGeom>
          <a:solidFill>
            <a:srgbClr val="526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1689470" y="8539613"/>
            <a:ext cx="12953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229" dirty="0">
                <a:solidFill>
                  <a:srgbClr val="89D489"/>
                </a:solidFill>
                <a:latin typeface="Arial"/>
                <a:cs typeface="Arial"/>
              </a:rPr>
              <a:t>!</a:t>
            </a:r>
            <a:r>
              <a:rPr sz="500" spc="229" dirty="0">
                <a:solidFill>
                  <a:srgbClr val="CACAC6"/>
                </a:solidFill>
                <a:latin typeface="Arial"/>
                <a:cs typeface="Arial"/>
              </a:rPr>
              <a:t>-</a:t>
            </a:r>
            <a:endParaRPr sz="5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017428" y="8539613"/>
            <a:ext cx="825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229" dirty="0">
                <a:solidFill>
                  <a:srgbClr val="5BA882"/>
                </a:solidFill>
                <a:latin typeface="Arial"/>
                <a:cs typeface="Arial"/>
              </a:rPr>
              <a:t>-</a:t>
            </a:r>
            <a:endParaRPr sz="5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499111" y="8541059"/>
            <a:ext cx="86995" cy="252729"/>
          </a:xfrm>
          <a:custGeom>
            <a:avLst/>
            <a:gdLst/>
            <a:ahLst/>
            <a:cxnLst/>
            <a:rect l="l" t="t" r="r" b="b"/>
            <a:pathLst>
              <a:path w="86994" h="252729">
                <a:moveTo>
                  <a:pt x="86519" y="252472"/>
                </a:moveTo>
                <a:lnTo>
                  <a:pt x="0" y="252472"/>
                </a:lnTo>
                <a:lnTo>
                  <a:pt x="0" y="0"/>
                </a:lnTo>
                <a:lnTo>
                  <a:pt x="86519" y="0"/>
                </a:lnTo>
                <a:lnTo>
                  <a:pt x="86519" y="252472"/>
                </a:lnTo>
                <a:close/>
              </a:path>
            </a:pathLst>
          </a:custGeom>
          <a:solidFill>
            <a:srgbClr val="285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1370711" y="8535676"/>
            <a:ext cx="62230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10" dirty="0">
                <a:solidFill>
                  <a:srgbClr val="77C895"/>
                </a:solidFill>
                <a:latin typeface="Arial"/>
                <a:cs typeface="Arial"/>
              </a:rPr>
              <a:t>:</a:t>
            </a:r>
            <a:r>
              <a:rPr sz="1450" spc="-10" dirty="0">
                <a:solidFill>
                  <a:srgbClr val="AED646"/>
                </a:solidFill>
                <a:latin typeface="Arial"/>
                <a:cs typeface="Arial"/>
              </a:rPr>
              <a:t>•</a:t>
            </a:r>
            <a:r>
              <a:rPr sz="1450" spc="-10" dirty="0">
                <a:solidFill>
                  <a:srgbClr val="CCEDE6"/>
                </a:solidFill>
                <a:latin typeface="Arial"/>
                <a:cs typeface="Arial"/>
              </a:rPr>
              <a:t>r</a:t>
            </a:r>
            <a:r>
              <a:rPr sz="1450" spc="-10" dirty="0">
                <a:solidFill>
                  <a:srgbClr val="9A9A99"/>
                </a:solidFill>
                <a:latin typeface="Arial"/>
                <a:cs typeface="Arial"/>
              </a:rPr>
              <a:t>1.:;-</a:t>
            </a:r>
            <a:r>
              <a:rPr sz="1450" spc="-50" dirty="0">
                <a:solidFill>
                  <a:srgbClr val="7E8E99"/>
                </a:solidFill>
                <a:latin typeface="Arial"/>
                <a:cs typeface="Arial"/>
              </a:rPr>
              <a:t>u</a:t>
            </a:r>
            <a:endParaRPr sz="145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331397" y="8738823"/>
            <a:ext cx="86995" cy="86360"/>
          </a:xfrm>
          <a:custGeom>
            <a:avLst/>
            <a:gdLst/>
            <a:ahLst/>
            <a:cxnLst/>
            <a:rect l="l" t="t" r="r" b="b"/>
            <a:pathLst>
              <a:path w="86994" h="86359">
                <a:moveTo>
                  <a:pt x="86519" y="85948"/>
                </a:moveTo>
                <a:lnTo>
                  <a:pt x="0" y="85948"/>
                </a:lnTo>
                <a:lnTo>
                  <a:pt x="0" y="0"/>
                </a:lnTo>
                <a:lnTo>
                  <a:pt x="86519" y="0"/>
                </a:lnTo>
                <a:lnTo>
                  <a:pt x="86519" y="85948"/>
                </a:lnTo>
                <a:close/>
              </a:path>
            </a:pathLst>
          </a:custGeom>
          <a:solidFill>
            <a:srgbClr val="318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1318697" y="8728613"/>
            <a:ext cx="603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solidFill>
                  <a:srgbClr val="E6F6F4"/>
                </a:solidFill>
                <a:latin typeface="Arial"/>
                <a:cs typeface="Arial"/>
              </a:rPr>
              <a:t>..</a:t>
            </a:r>
            <a:endParaRPr sz="5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703978" y="8728613"/>
            <a:ext cx="310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0035" algn="l"/>
              </a:tabLst>
            </a:pPr>
            <a:r>
              <a:rPr sz="500" spc="-50" dirty="0">
                <a:solidFill>
                  <a:srgbClr val="77C895"/>
                </a:solidFill>
                <a:latin typeface="Arial"/>
                <a:cs typeface="Arial"/>
              </a:rPr>
              <a:t>I</a:t>
            </a:r>
            <a:r>
              <a:rPr sz="500" dirty="0">
                <a:solidFill>
                  <a:srgbClr val="77C895"/>
                </a:solidFill>
                <a:latin typeface="Arial"/>
                <a:cs typeface="Arial"/>
              </a:rPr>
              <a:t>	</a:t>
            </a:r>
            <a:r>
              <a:rPr sz="500" spc="-50" dirty="0">
                <a:solidFill>
                  <a:srgbClr val="6799B8"/>
                </a:solidFill>
                <a:latin typeface="Arial"/>
                <a:cs typeface="Arial"/>
              </a:rPr>
              <a:t>.</a:t>
            </a:r>
            <a:endParaRPr sz="5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365906" y="8677426"/>
            <a:ext cx="419734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105" dirty="0">
                <a:solidFill>
                  <a:srgbClr val="5BA882"/>
                </a:solidFill>
                <a:latin typeface="Arial"/>
                <a:cs typeface="Arial"/>
              </a:rPr>
              <a:t>·</a:t>
            </a:r>
            <a:r>
              <a:rPr sz="1450" spc="-105" dirty="0">
                <a:solidFill>
                  <a:srgbClr val="44A8B3"/>
                </a:solidFill>
                <a:latin typeface="Arial"/>
                <a:cs typeface="Arial"/>
              </a:rPr>
              <a:t>·</a:t>
            </a:r>
            <a:r>
              <a:rPr sz="1450" spc="-105" dirty="0">
                <a:solidFill>
                  <a:srgbClr val="5BA882"/>
                </a:solidFill>
                <a:latin typeface="Arial"/>
                <a:cs typeface="Arial"/>
              </a:rPr>
              <a:t>-----</a:t>
            </a:r>
            <a:r>
              <a:rPr sz="1450" spc="-50" dirty="0">
                <a:solidFill>
                  <a:srgbClr val="77C895"/>
                </a:solidFill>
                <a:latin typeface="Arial"/>
                <a:cs typeface="Arial"/>
              </a:rPr>
              <a:t>,</a:t>
            </a:r>
            <a:endParaRPr sz="145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031437" y="8836788"/>
            <a:ext cx="63500" cy="102235"/>
          </a:xfrm>
          <a:custGeom>
            <a:avLst/>
            <a:gdLst/>
            <a:ahLst/>
            <a:cxnLst/>
            <a:rect l="l" t="t" r="r" b="b"/>
            <a:pathLst>
              <a:path w="63500" h="102234">
                <a:moveTo>
                  <a:pt x="62923" y="102063"/>
                </a:moveTo>
                <a:lnTo>
                  <a:pt x="0" y="102063"/>
                </a:lnTo>
                <a:lnTo>
                  <a:pt x="0" y="0"/>
                </a:lnTo>
                <a:lnTo>
                  <a:pt x="62923" y="0"/>
                </a:lnTo>
                <a:lnTo>
                  <a:pt x="62923" y="102063"/>
                </a:lnTo>
                <a:close/>
              </a:path>
            </a:pathLst>
          </a:custGeom>
          <a:solidFill>
            <a:srgbClr val="318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031437" y="8846836"/>
            <a:ext cx="51435" cy="83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5"/>
              </a:lnSpc>
            </a:pPr>
            <a:r>
              <a:rPr sz="550" spc="-40" dirty="0">
                <a:solidFill>
                  <a:srgbClr val="E6F6F4"/>
                </a:solidFill>
                <a:latin typeface="Arial"/>
                <a:cs typeface="Arial"/>
              </a:rPr>
              <a:t>..,</a:t>
            </a:r>
            <a:endParaRPr sz="55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432629" y="8927078"/>
            <a:ext cx="36195" cy="0"/>
          </a:xfrm>
          <a:custGeom>
            <a:avLst/>
            <a:gdLst/>
            <a:ahLst/>
            <a:cxnLst/>
            <a:rect l="l" t="t" r="r" b="b"/>
            <a:pathLst>
              <a:path w="36194">
                <a:moveTo>
                  <a:pt x="0" y="0"/>
                </a:moveTo>
                <a:lnTo>
                  <a:pt x="35728" y="0"/>
                </a:lnTo>
              </a:path>
            </a:pathLst>
          </a:custGeom>
          <a:ln w="4707">
            <a:solidFill>
              <a:srgbClr val="58A6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005131" y="8666168"/>
            <a:ext cx="86995" cy="419100"/>
          </a:xfrm>
          <a:custGeom>
            <a:avLst/>
            <a:gdLst/>
            <a:ahLst/>
            <a:cxnLst/>
            <a:rect l="l" t="t" r="r" b="b"/>
            <a:pathLst>
              <a:path w="86994" h="419100">
                <a:moveTo>
                  <a:pt x="86519" y="418996"/>
                </a:moveTo>
                <a:lnTo>
                  <a:pt x="0" y="418996"/>
                </a:lnTo>
                <a:lnTo>
                  <a:pt x="0" y="0"/>
                </a:lnTo>
                <a:lnTo>
                  <a:pt x="86519" y="0"/>
                </a:lnTo>
                <a:lnTo>
                  <a:pt x="86519" y="418996"/>
                </a:lnTo>
                <a:close/>
              </a:path>
            </a:pathLst>
          </a:custGeom>
          <a:solidFill>
            <a:srgbClr val="318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899443" y="8594738"/>
            <a:ext cx="846455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406400" algn="l"/>
                <a:tab pos="639445" algn="l"/>
              </a:tabLst>
            </a:pPr>
            <a:r>
              <a:rPr sz="550" spc="-80" dirty="0">
                <a:solidFill>
                  <a:srgbClr val="8EA8AF"/>
                </a:solidFill>
                <a:latin typeface="Arial"/>
                <a:cs typeface="Arial"/>
              </a:rPr>
              <a:t>� </a:t>
            </a:r>
            <a:r>
              <a:rPr sz="3600" spc="-750" baseline="-12731" dirty="0">
                <a:solidFill>
                  <a:srgbClr val="E6F6F4"/>
                </a:solidFill>
                <a:latin typeface="Arial"/>
                <a:cs typeface="Arial"/>
              </a:rPr>
              <a:t>-</a:t>
            </a:r>
            <a:r>
              <a:rPr sz="3600" baseline="-12731" dirty="0">
                <a:solidFill>
                  <a:srgbClr val="E6F6F4"/>
                </a:solidFill>
                <a:latin typeface="Arial"/>
                <a:cs typeface="Arial"/>
              </a:rPr>
              <a:t>	</a:t>
            </a:r>
            <a:r>
              <a:rPr sz="550" dirty="0">
                <a:solidFill>
                  <a:srgbClr val="75A0A8"/>
                </a:solidFill>
                <a:latin typeface="Arial"/>
                <a:cs typeface="Arial"/>
              </a:rPr>
              <a:t>f</a:t>
            </a:r>
            <a:r>
              <a:rPr sz="550" spc="360" dirty="0">
                <a:solidFill>
                  <a:srgbClr val="75A0A8"/>
                </a:solidFill>
                <a:latin typeface="Arial"/>
                <a:cs typeface="Arial"/>
              </a:rPr>
              <a:t> </a:t>
            </a:r>
            <a:r>
              <a:rPr sz="550" spc="-50" dirty="0">
                <a:solidFill>
                  <a:srgbClr val="5BA882"/>
                </a:solidFill>
                <a:latin typeface="Arial"/>
                <a:cs typeface="Arial"/>
              </a:rPr>
              <a:t>1</a:t>
            </a:r>
            <a:r>
              <a:rPr sz="550" dirty="0">
                <a:solidFill>
                  <a:srgbClr val="5BA882"/>
                </a:solidFill>
                <a:latin typeface="Arial"/>
                <a:cs typeface="Arial"/>
              </a:rPr>
              <a:t>	</a:t>
            </a:r>
            <a:r>
              <a:rPr sz="550" spc="-110" dirty="0">
                <a:solidFill>
                  <a:srgbClr val="59A79E"/>
                </a:solidFill>
                <a:latin typeface="Arial"/>
                <a:cs typeface="Arial"/>
              </a:rPr>
              <a:t>-</a:t>
            </a:r>
            <a:r>
              <a:rPr sz="550" spc="-100" dirty="0">
                <a:solidFill>
                  <a:srgbClr val="59A79E"/>
                </a:solidFill>
                <a:latin typeface="Arial"/>
                <a:cs typeface="Arial"/>
              </a:rPr>
              <a:t>:·</a:t>
            </a:r>
            <a:r>
              <a:rPr sz="550" spc="5" dirty="0">
                <a:solidFill>
                  <a:srgbClr val="59A79E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BA882"/>
                </a:solidFill>
                <a:latin typeface="Arial"/>
                <a:cs typeface="Arial"/>
              </a:rPr>
              <a:t>..</a:t>
            </a:r>
            <a:r>
              <a:rPr sz="550" spc="395" dirty="0">
                <a:solidFill>
                  <a:srgbClr val="5BA882"/>
                </a:solidFill>
                <a:latin typeface="Arial"/>
                <a:cs typeface="Arial"/>
              </a:rPr>
              <a:t> </a:t>
            </a:r>
            <a:r>
              <a:rPr sz="550" spc="-50" dirty="0">
                <a:solidFill>
                  <a:srgbClr val="89D489"/>
                </a:solidFill>
                <a:latin typeface="Arial"/>
                <a:cs typeface="Arial"/>
              </a:rPr>
              <a:t>I</a:t>
            </a:r>
            <a:endParaRPr sz="5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383985" y="8897925"/>
            <a:ext cx="358775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215" dirty="0">
                <a:solidFill>
                  <a:srgbClr val="77C895"/>
                </a:solidFill>
                <a:latin typeface="Arial"/>
                <a:cs typeface="Arial"/>
              </a:rPr>
              <a:t>'-</a:t>
            </a:r>
            <a:r>
              <a:rPr sz="550" spc="285" dirty="0">
                <a:solidFill>
                  <a:srgbClr val="77C895"/>
                </a:solidFill>
                <a:latin typeface="Arial"/>
                <a:cs typeface="Arial"/>
              </a:rPr>
              <a:t>---</a:t>
            </a:r>
            <a:r>
              <a:rPr sz="550" spc="235" dirty="0">
                <a:solidFill>
                  <a:srgbClr val="77C895"/>
                </a:solidFill>
                <a:latin typeface="Arial"/>
                <a:cs typeface="Arial"/>
              </a:rPr>
              <a:t>-</a:t>
            </a:r>
            <a:endParaRPr sz="5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735868" y="8244302"/>
            <a:ext cx="588645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114" dirty="0">
                <a:solidFill>
                  <a:srgbClr val="494D54"/>
                </a:solidFill>
                <a:latin typeface="Arial"/>
                <a:cs typeface="Arial"/>
                <a:hlinkClick r:id="rId15"/>
              </a:rPr>
              <a:t>https://miro.medium.com/1*9e54W9WbwJEfrOUXKuJ-</a:t>
            </a:r>
            <a:r>
              <a:rPr sz="1450" spc="110" dirty="0">
                <a:solidFill>
                  <a:srgbClr val="494D54"/>
                </a:solidFill>
                <a:latin typeface="Arial"/>
                <a:cs typeface="Arial"/>
                <a:hlinkClick r:id="rId15"/>
              </a:rPr>
              <a:t>ow.png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736851" y="8657738"/>
            <a:ext cx="242633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494D54"/>
                </a:solidFill>
                <a:latin typeface="Arial"/>
                <a:cs typeface="Arial"/>
              </a:rPr>
              <a:t>Source:</a:t>
            </a:r>
            <a:r>
              <a:rPr sz="1900" spc="-25" dirty="0">
                <a:solidFill>
                  <a:srgbClr val="494D54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5B4BC6"/>
                </a:solidFill>
                <a:latin typeface="Arial"/>
                <a:cs typeface="Arial"/>
              </a:rPr>
              <a:t>medium.com</a:t>
            </a:r>
            <a:endParaRPr sz="19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006031" y="9484611"/>
            <a:ext cx="518159" cy="3333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9A9A99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ts val="615"/>
              </a:lnSpc>
              <a:spcBef>
                <a:spcPts val="25"/>
              </a:spcBef>
            </a:pPr>
            <a:r>
              <a:rPr sz="600" dirty="0">
                <a:solidFill>
                  <a:srgbClr val="7C7979"/>
                </a:solidFill>
                <a:latin typeface="Arial"/>
                <a:cs typeface="Arial"/>
              </a:rPr>
              <a:t>Op</a:t>
            </a:r>
            <a:r>
              <a:rPr sz="600" dirty="0">
                <a:solidFill>
                  <a:srgbClr val="5B5D60"/>
                </a:solidFill>
                <a:latin typeface="Arial"/>
                <a:cs typeface="Arial"/>
              </a:rPr>
              <a:t>t</a:t>
            </a:r>
            <a:r>
              <a:rPr sz="600" dirty="0">
                <a:solidFill>
                  <a:srgbClr val="7C7979"/>
                </a:solidFill>
                <a:latin typeface="Arial"/>
                <a:cs typeface="Arial"/>
              </a:rPr>
              <a:t>lma</a:t>
            </a:r>
            <a:r>
              <a:rPr sz="600" dirty="0">
                <a:solidFill>
                  <a:srgbClr val="1C1C1C"/>
                </a:solidFill>
                <a:latin typeface="Arial"/>
                <a:cs typeface="Arial"/>
              </a:rPr>
              <a:t>l</a:t>
            </a:r>
            <a:r>
              <a:rPr sz="600" spc="-4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7C7979"/>
                </a:solidFill>
                <a:latin typeface="Arial"/>
                <a:cs typeface="Arial"/>
              </a:rPr>
              <a:t>Mode</a:t>
            </a:r>
            <a:r>
              <a:rPr sz="600" spc="-10" dirty="0">
                <a:solidFill>
                  <a:srgbClr val="494D54"/>
                </a:solidFill>
                <a:latin typeface="Arial"/>
                <a:cs typeface="Arial"/>
              </a:rPr>
              <a:t>l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ts val="675"/>
              </a:lnSpc>
            </a:pPr>
            <a:r>
              <a:rPr sz="650" spc="-10" dirty="0">
                <a:solidFill>
                  <a:srgbClr val="7C7979"/>
                </a:solidFill>
                <a:latin typeface="Arial"/>
                <a:cs typeface="Arial"/>
              </a:rPr>
              <a:t>co</a:t>
            </a:r>
            <a:r>
              <a:rPr sz="650" spc="-10" dirty="0">
                <a:solidFill>
                  <a:srgbClr val="5B5D60"/>
                </a:solidFill>
                <a:latin typeface="Arial"/>
                <a:cs typeface="Arial"/>
              </a:rPr>
              <a:t>mpl</a:t>
            </a:r>
            <a:r>
              <a:rPr sz="650" spc="-10" dirty="0">
                <a:solidFill>
                  <a:srgbClr val="7C7979"/>
                </a:solidFill>
                <a:latin typeface="Arial"/>
                <a:cs typeface="Arial"/>
              </a:rPr>
              <a:t>ei</a:t>
            </a:r>
            <a:r>
              <a:rPr sz="650" spc="-10" dirty="0">
                <a:solidFill>
                  <a:srgbClr val="5B5D60"/>
                </a:solidFill>
                <a:latin typeface="Arial"/>
                <a:cs typeface="Arial"/>
              </a:rPr>
              <a:t>i</a:t>
            </a:r>
            <a:r>
              <a:rPr sz="650" spc="-10" dirty="0">
                <a:solidFill>
                  <a:srgbClr val="7C7979"/>
                </a:solidFill>
                <a:latin typeface="Arial"/>
                <a:cs typeface="Arial"/>
              </a:rPr>
              <a:t>ty</a:t>
            </a:r>
            <a:endParaRPr sz="6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652963" y="9500361"/>
            <a:ext cx="49974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7C7979"/>
                </a:solidFill>
                <a:latin typeface="Arial"/>
                <a:cs typeface="Arial"/>
              </a:rPr>
              <a:t>To</a:t>
            </a:r>
            <a:r>
              <a:rPr sz="600" dirty="0">
                <a:solidFill>
                  <a:srgbClr val="5B5D60"/>
                </a:solidFill>
                <a:latin typeface="Arial"/>
                <a:cs typeface="Arial"/>
              </a:rPr>
              <a:t>ta</a:t>
            </a:r>
            <a:r>
              <a:rPr sz="600" dirty="0">
                <a:solidFill>
                  <a:srgbClr val="7C7979"/>
                </a:solidFill>
                <a:latin typeface="Arial"/>
                <a:cs typeface="Arial"/>
              </a:rPr>
              <a:t>l</a:t>
            </a:r>
            <a:r>
              <a:rPr sz="600" spc="-5" dirty="0">
                <a:solidFill>
                  <a:srgbClr val="7C7979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5B5D60"/>
                </a:solidFill>
                <a:latin typeface="Arial"/>
                <a:cs typeface="Arial"/>
              </a:rPr>
              <a:t>efr</a:t>
            </a:r>
            <a:r>
              <a:rPr sz="600" dirty="0">
                <a:solidFill>
                  <a:srgbClr val="7C7979"/>
                </a:solidFill>
                <a:latin typeface="Arial"/>
                <a:cs typeface="Arial"/>
              </a:rPr>
              <a:t>o</a:t>
            </a:r>
            <a:r>
              <a:rPr sz="600" dirty="0">
                <a:solidFill>
                  <a:srgbClr val="5B5D60"/>
                </a:solidFill>
                <a:latin typeface="Arial"/>
                <a:cs typeface="Arial"/>
              </a:rPr>
              <a:t>r</a:t>
            </a:r>
            <a:r>
              <a:rPr sz="600" spc="195" dirty="0">
                <a:solidFill>
                  <a:srgbClr val="5B5D60"/>
                </a:solidFill>
                <a:latin typeface="Arial"/>
                <a:cs typeface="Arial"/>
              </a:rPr>
              <a:t>  </a:t>
            </a:r>
            <a:r>
              <a:rPr sz="600" spc="-50" dirty="0">
                <a:solidFill>
                  <a:srgbClr val="5B5D60"/>
                </a:solidFill>
                <a:latin typeface="Arial"/>
                <a:cs typeface="Arial"/>
              </a:rPr>
              <a:t>•</a:t>
            </a:r>
            <a:endParaRPr sz="6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513193" y="10130359"/>
            <a:ext cx="7423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49275" algn="l"/>
              </a:tabLst>
            </a:pPr>
            <a:r>
              <a:rPr sz="600" u="sng" dirty="0">
                <a:solidFill>
                  <a:srgbClr val="9E87A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600" u="sng" spc="-10" dirty="0">
                <a:solidFill>
                  <a:srgbClr val="9E87A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Bias'</a:t>
            </a:r>
            <a:endParaRPr sz="6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735868" y="9551548"/>
            <a:ext cx="986917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100" dirty="0">
                <a:solidFill>
                  <a:srgbClr val="494D54"/>
                </a:solidFill>
                <a:latin typeface="Arial"/>
                <a:cs typeface="Arial"/>
                <a:hlinkClick r:id="rId16"/>
              </a:rPr>
              <a:t>https://media.geeksforgeeks.org/wp-content/uploads/20251209150317698595/model_complexity.webp</a:t>
            </a:r>
            <a:endParaRPr sz="145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736851" y="9964984"/>
            <a:ext cx="36302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494D54"/>
                </a:solidFill>
                <a:latin typeface="Arial"/>
                <a:cs typeface="Arial"/>
              </a:rPr>
              <a:t>Source:</a:t>
            </a:r>
            <a:r>
              <a:rPr sz="1900" spc="80" dirty="0">
                <a:solidFill>
                  <a:srgbClr val="494D54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5B4BC6"/>
                </a:solidFill>
                <a:latin typeface="Arial"/>
                <a:cs typeface="Arial"/>
                <a:hlinkClick r:id="rId17"/>
              </a:rPr>
              <a:t>www.geeksforgeeks</a:t>
            </a:r>
            <a:r>
              <a:rPr sz="1900" spc="-10" dirty="0">
                <a:solidFill>
                  <a:srgbClr val="4F2DE4"/>
                </a:solidFill>
                <a:latin typeface="Arial"/>
                <a:cs typeface="Arial"/>
                <a:hlinkClick r:id="rId17"/>
              </a:rPr>
              <a:t>.</a:t>
            </a:r>
            <a:r>
              <a:rPr sz="1900" spc="-10" dirty="0">
                <a:solidFill>
                  <a:srgbClr val="5B4BC6"/>
                </a:solidFill>
                <a:latin typeface="Arial"/>
                <a:cs typeface="Arial"/>
                <a:hlinkClick r:id="rId17"/>
              </a:rPr>
              <a:t>org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71085"/>
            <a:ext cx="2312437" cy="7717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2717" y="1055331"/>
            <a:ext cx="409002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3852" y="6000820"/>
            <a:ext cx="1400047" cy="8032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115"/>
              </a:spcBef>
            </a:pPr>
            <a:r>
              <a:rPr spc="785" dirty="0"/>
              <a:t>ources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34829" y="6007808"/>
            <a:ext cx="6630034" cy="746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70" dirty="0">
                <a:solidFill>
                  <a:srgbClr val="484B52"/>
                </a:solidFill>
                <a:latin typeface="Arial"/>
                <a:cs typeface="Arial"/>
              </a:rPr>
              <a:t>https://miro.medium.com/v2/resize:fit:1004/0*dYj6e_</a:t>
            </a:r>
            <a:r>
              <a:rPr sz="1550" spc="-80" dirty="0">
                <a:solidFill>
                  <a:srgbClr val="484B52"/>
                </a:solidFill>
                <a:latin typeface="Arial"/>
                <a:cs typeface="Arial"/>
              </a:rPr>
              <a:t> </a:t>
            </a:r>
            <a:r>
              <a:rPr sz="1550" spc="40" dirty="0">
                <a:solidFill>
                  <a:srgbClr val="484B52"/>
                </a:solidFill>
                <a:latin typeface="Arial"/>
                <a:cs typeface="Arial"/>
              </a:rPr>
              <a:t>yYQbralGrq.png</a:t>
            </a:r>
            <a:endParaRPr sz="15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510"/>
              </a:spcBef>
            </a:pPr>
            <a:r>
              <a:rPr sz="1900" dirty="0">
                <a:solidFill>
                  <a:srgbClr val="484B52"/>
                </a:solidFill>
                <a:latin typeface="Arial"/>
                <a:cs typeface="Arial"/>
              </a:rPr>
              <a:t>Source:</a:t>
            </a:r>
            <a:r>
              <a:rPr sz="1900" spc="20" dirty="0">
                <a:solidFill>
                  <a:srgbClr val="484B52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5949C8"/>
                </a:solidFill>
                <a:latin typeface="Arial"/>
                <a:cs typeface="Arial"/>
              </a:rPr>
              <a:t>medium</a:t>
            </a:r>
            <a:r>
              <a:rPr sz="1900" spc="60" dirty="0">
                <a:solidFill>
                  <a:srgbClr val="3F2BAF"/>
                </a:solidFill>
                <a:latin typeface="Arial"/>
                <a:cs typeface="Arial"/>
              </a:rPr>
              <a:t>.</a:t>
            </a:r>
            <a:r>
              <a:rPr sz="1900" spc="60" dirty="0">
                <a:solidFill>
                  <a:srgbClr val="5949C8"/>
                </a:solidFill>
                <a:latin typeface="Arial"/>
                <a:cs typeface="Arial"/>
              </a:rPr>
              <a:t>com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1076</Words>
  <Application>Microsoft Office PowerPoint</Application>
  <PresentationFormat>Custom</PresentationFormat>
  <Paragraphs>286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Courier New</vt:lpstr>
      <vt:lpstr>Times New Roman</vt:lpstr>
      <vt:lpstr>Verdana</vt:lpstr>
      <vt:lpstr>Office Theme</vt:lpstr>
      <vt:lpstr>PowerPoint Presentation</vt:lpstr>
      <vt:lpstr>Refining the Dataset</vt:lpstr>
      <vt:lpstr>PowerPoint Presentation</vt:lpstr>
      <vt:lpstr>ress1on</vt:lpstr>
      <vt:lpstr>eares e1</vt:lpstr>
      <vt:lpstr>Ia</vt:lpstr>
      <vt:lpstr>Optimizing Feature Utility</vt:lpstr>
      <vt:lpstr>1</vt:lpstr>
      <vt:lpstr>eans</vt:lpstr>
      <vt:lpstr>ance</vt:lpstr>
      <vt:lpstr>PowerPoint Presentation</vt:lpstr>
      <vt:lpstr>ources</vt:lpstr>
      <vt:lpstr>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User</dc:creator>
  <cp:lastModifiedBy>Sreshtha Chatterjee</cp:lastModifiedBy>
  <cp:revision>1</cp:revision>
  <dcterms:created xsi:type="dcterms:W3CDTF">2026-05-08T18:26:47Z</dcterms:created>
  <dcterms:modified xsi:type="dcterms:W3CDTF">2026-05-08T18:46:33Z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2026-05-08T00:00:00Z</vt:filetime>
  </property>
  <property fmtid="{D5CDD505-2E9C-101B-9397-08002B2CF9AE}" pid="3" name="LastSaved">
    <vt:filetime>2026-05-08T00:00:00Z</vt:filetime>
  </property>
</Properties>
</file>